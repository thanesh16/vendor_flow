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7.png"/><Relationship Id="rId9" Type="http://schemas.openxmlformats.org/officeDocument/2006/relationships/image" Target="../media/image-3-7.png"/><Relationship Id="rId10" Type="http://schemas.openxmlformats.org/officeDocument/2006/relationships/image" Target="../media/image-3-7.png"/><Relationship Id="rId11" Type="http://schemas.openxmlformats.org/officeDocument/2006/relationships/image" Target="../media/image-3-7.png"/><Relationship Id="rId12" Type="http://schemas.openxmlformats.org/officeDocument/2006/relationships/image" Target="../media/image-3-7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4.png"/><Relationship Id="rId6" Type="http://schemas.openxmlformats.org/officeDocument/2006/relationships/image" Target="../media/image-17-4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8.png"/><Relationship Id="rId10" Type="http://schemas.openxmlformats.org/officeDocument/2006/relationships/image" Target="../media/image-17-8.png"/><Relationship Id="rId11" Type="http://schemas.openxmlformats.org/officeDocument/2006/relationships/image" Target="../media/image-17-8.png"/><Relationship Id="rId12" Type="http://schemas.openxmlformats.org/officeDocument/2006/relationships/image" Target="../media/image-17-8.png"/><Relationship Id="rId13" Type="http://schemas.openxmlformats.org/officeDocument/2006/relationships/image" Target="../media/image-17-8.png"/><Relationship Id="rId14" Type="http://schemas.openxmlformats.org/officeDocument/2006/relationships/image" Target="../media/image-17-8.png"/><Relationship Id="rId15" Type="http://schemas.openxmlformats.org/officeDocument/2006/relationships/image" Target="../media/image-17-8.png"/><Relationship Id="rId16" Type="http://schemas.openxmlformats.org/officeDocument/2006/relationships/image" Target="../media/image-17-8.png"/><Relationship Id="rId17" Type="http://schemas.openxmlformats.org/officeDocument/2006/relationships/image" Target="../media/image-17-8.png"/><Relationship Id="rId18" Type="http://schemas.openxmlformats.org/officeDocument/2006/relationships/image" Target="../media/image-17-8.png"/><Relationship Id="rId19" Type="http://schemas.openxmlformats.org/officeDocument/2006/relationships/image" Target="../media/image-17-8.png"/><Relationship Id="rId20" Type="http://schemas.openxmlformats.org/officeDocument/2006/relationships/image" Target="../media/image-17-8.png"/><Relationship Id="rId21" Type="http://schemas.openxmlformats.org/officeDocument/2006/relationships/image" Target="../media/image-17-8.png"/><Relationship Id="rId22" Type="http://schemas.openxmlformats.org/officeDocument/2006/relationships/image" Target="../media/image-17-8.png"/><Relationship Id="rId23" Type="http://schemas.openxmlformats.org/officeDocument/2006/relationships/image" Target="../media/image-17-8.png"/><Relationship Id="rId24" Type="http://schemas.openxmlformats.org/officeDocument/2006/relationships/image" Target="../media/image-17-8.png"/><Relationship Id="rId25" Type="http://schemas.openxmlformats.org/officeDocument/2006/relationships/image" Target="../media/image-17-8.png"/><Relationship Id="rId26" Type="http://schemas.openxmlformats.org/officeDocument/2006/relationships/image" Target="../media/image-17-8.png"/><Relationship Id="rId27" Type="http://schemas.openxmlformats.org/officeDocument/2006/relationships/image" Target="../media/image-17-8.png"/><Relationship Id="rId28" Type="http://schemas.openxmlformats.org/officeDocument/2006/relationships/image" Target="../media/image-17-8.png"/><Relationship Id="rId29" Type="http://schemas.openxmlformats.org/officeDocument/2006/relationships/image" Target="../media/image-17-8.png"/><Relationship Id="rId30" Type="http://schemas.openxmlformats.org/officeDocument/2006/relationships/image" Target="../media/image-17-8.png"/><Relationship Id="rId31" Type="http://schemas.openxmlformats.org/officeDocument/2006/relationships/image" Target="../media/image-17-8.png"/><Relationship Id="rId32" Type="http://schemas.openxmlformats.org/officeDocument/2006/relationships/image" Target="../media/image-17-8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1828800"/>
            <a:ext cx="4754880" cy="4754880"/>
          </a:xfrm>
          <a:prstGeom prst="ellipse">
            <a:avLst/>
          </a:prstGeom>
          <a:solidFill>
            <a:srgbClr val="172B52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846320"/>
            <a:ext cx="2926080" cy="2926080"/>
          </a:xfrm>
          <a:prstGeom prst="ellipse">
            <a:avLst/>
          </a:prstGeom>
          <a:solidFill>
            <a:srgbClr val="172B5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0A5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COLLEGE PROJECT  ·  REVIEW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2852928"/>
            <a:ext cx="566928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906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0A5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MERN-Based Vendor Management and Procurement System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FBCD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centralized platform covering the complete procurement lifecycle — from employee purchase request to vendor evaluation.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983480"/>
            <a:ext cx="3127248" cy="1051560"/>
          </a:xfrm>
          <a:prstGeom prst="rect">
            <a:avLst/>
          </a:prstGeom>
          <a:solidFill>
            <a:srgbClr val="172B52"/>
          </a:solidFill>
          <a:ln w="12700">
            <a:solidFill>
              <a:srgbClr val="2235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98348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507492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0A5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DEPARTMENT / COLLEGE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8992" y="5321808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Computer Science and Engineering,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Easwari Engineering College – Chennai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15968" y="4983480"/>
            <a:ext cx="3127248" cy="1051560"/>
          </a:xfrm>
          <a:prstGeom prst="rect">
            <a:avLst/>
          </a:prstGeom>
          <a:solidFill>
            <a:srgbClr val="172B52"/>
          </a:solidFill>
          <a:ln w="12700">
            <a:solidFill>
              <a:srgbClr val="2235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498348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480560" y="507492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0A5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STUDENT NAME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480560" y="5321808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Thanesh 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 No: 310624104353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17536" y="4983480"/>
            <a:ext cx="3127248" cy="1051560"/>
          </a:xfrm>
          <a:prstGeom prst="rect">
            <a:avLst/>
          </a:prstGeom>
          <a:solidFill>
            <a:srgbClr val="172B52"/>
          </a:solidFill>
          <a:ln w="12700">
            <a:solidFill>
              <a:srgbClr val="2235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36" y="4983480"/>
            <a:ext cx="45720" cy="10515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7882128" y="507492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0A5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GUIDE / TRAINER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82128" y="5321808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Mrs. Swapna Duggi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is a centralized Vendor Management and Procurement System built on the MERN stack. It replaces scattered spreadsheets, emails and separate files with one web platform that manages the complete procurement lifecycle.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roles operate inside the system — Admin, Procurement Manager, Employee and Vendor — each with role-based access. The workflow runs from an employee purchase request, through vendor comparison and purchase order, to delivery, PDF receipt and vendor evaluation.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041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63E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KEY CHARACTERISTICS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4425696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" y="4483303"/>
            <a:ext cx="268834" cy="2688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43891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 procurement lifecycle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90118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" y="4958791"/>
            <a:ext cx="268834" cy="2688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48646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roles with role-based access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5376672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2" descr="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" y="5434279"/>
            <a:ext cx="268834" cy="2688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70432" y="53400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&amp; product comparison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852160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3" descr="icons/recei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" y="5909767"/>
            <a:ext cx="268834" cy="2688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58155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PDF receipt &amp; evaluation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452360" y="1554480"/>
            <a:ext cx="4069080" cy="4617720"/>
          </a:xfrm>
          <a:prstGeom prst="roundRect">
            <a:avLst>
              <a:gd name="adj" fmla="val 2921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0" y="1828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63E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7772400" y="228600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hape 16"/>
          <p:cNvSpPr/>
          <p:nvPr/>
        </p:nvSpPr>
        <p:spPr>
          <a:xfrm>
            <a:off x="8851392" y="2377440"/>
            <a:ext cx="0" cy="475488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9006840" y="22860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roles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772400" y="31546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3000" dirty="0"/>
          </a:p>
        </p:txBody>
      </p:sp>
      <p:sp>
        <p:nvSpPr>
          <p:cNvPr id="25" name="Shape 19"/>
          <p:cNvSpPr/>
          <p:nvPr/>
        </p:nvSpPr>
        <p:spPr>
          <a:xfrm>
            <a:off x="8851392" y="3246120"/>
            <a:ext cx="0" cy="475488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006840" y="315468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modules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7772400" y="40233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3000" dirty="0"/>
          </a:p>
        </p:txBody>
      </p:sp>
      <p:sp>
        <p:nvSpPr>
          <p:cNvPr id="28" name="Shape 22"/>
          <p:cNvSpPr/>
          <p:nvPr/>
        </p:nvSpPr>
        <p:spPr>
          <a:xfrm>
            <a:off x="8851392" y="4114800"/>
            <a:ext cx="0" cy="475488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006840" y="40233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 requirements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7772400" y="489204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3000" dirty="0"/>
          </a:p>
        </p:txBody>
      </p:sp>
      <p:sp>
        <p:nvSpPr>
          <p:cNvPr id="31" name="Shape 25"/>
          <p:cNvSpPr/>
          <p:nvPr/>
        </p:nvSpPr>
        <p:spPr>
          <a:xfrm>
            <a:off x="8851392" y="4983480"/>
            <a:ext cx="0" cy="475488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006840" y="48920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Workflow stages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7772400" y="5650992"/>
            <a:ext cx="3429000" cy="365760"/>
          </a:xfrm>
          <a:prstGeom prst="roundRect">
            <a:avLst>
              <a:gd name="adj" fmla="val 17500"/>
            </a:avLst>
          </a:prstGeom>
          <a:solidFill>
            <a:srgbClr val="0F1E3D"/>
          </a:solidFill>
          <a:ln/>
        </p:spPr>
      </p:sp>
      <p:sp>
        <p:nvSpPr>
          <p:cNvPr id="34" name="Text 28"/>
          <p:cNvSpPr/>
          <p:nvPr/>
        </p:nvSpPr>
        <p:spPr>
          <a:xfrm>
            <a:off x="7772400" y="56509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MERN  ·  React · Express · MongoDB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Existing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vendor and procurement activities are commonly handled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CURRENT 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6916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7300" y="21488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8" name="Image 0" descr="icons/spreadshe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2174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Spreadsheets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87168" y="1965960"/>
            <a:ext cx="16916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04388" y="21488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2" name="Image 1" descr="icons/enve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2174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78608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334256" y="1965960"/>
            <a:ext cx="16916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951476" y="21488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6" name="Image 2" descr="icons/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22174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25696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Separate files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81344" y="1965960"/>
            <a:ext cx="16916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98564" y="21488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0" name="Image 3" descr="icons/userplu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2174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72784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vendor registration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8028432" y="1965960"/>
            <a:ext cx="16916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645652" y="21488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4" name="Image 4" descr="icons/invo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221742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119872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purchase orders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9875520" y="1965960"/>
            <a:ext cx="169164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492740" y="214884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8" name="Image 5" descr="icons/tru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1320" y="221742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966960" y="26974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delivery tracking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640080" y="3611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C2740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RESULTING PROBLEMS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640080" y="4023360"/>
            <a:ext cx="347472" cy="347472"/>
          </a:xfrm>
          <a:prstGeom prst="ellipse">
            <a:avLst/>
          </a:prstGeom>
          <a:solidFill>
            <a:srgbClr val="C2740C"/>
          </a:solidFill>
          <a:ln/>
        </p:spPr>
      </p:sp>
      <p:pic>
        <p:nvPicPr>
          <p:cNvPr id="32" name="Image 6" descr="icons/minus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201" y="4075481"/>
            <a:ext cx="243230" cy="24323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15568" y="397764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Information is scattered across tools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263640" y="4023360"/>
            <a:ext cx="347472" cy="347472"/>
          </a:xfrm>
          <a:prstGeom prst="ellipse">
            <a:avLst/>
          </a:prstGeom>
          <a:solidFill>
            <a:srgbClr val="C2740C"/>
          </a:solidFill>
          <a:ln/>
        </p:spPr>
      </p:sp>
      <p:pic>
        <p:nvPicPr>
          <p:cNvPr id="35" name="Image 7" descr="icons/minus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761" y="4075481"/>
            <a:ext cx="243230" cy="24323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39128" y="3977640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 to track the full procurement lifecycle</a:t>
            </a:r>
            <a:endParaRPr lang="en-US" sz="1150" dirty="0"/>
          </a:p>
        </p:txBody>
      </p:sp>
      <p:sp>
        <p:nvSpPr>
          <p:cNvPr id="37" name="Shape 27"/>
          <p:cNvSpPr/>
          <p:nvPr/>
        </p:nvSpPr>
        <p:spPr>
          <a:xfrm>
            <a:off x="640080" y="4681728"/>
            <a:ext cx="347472" cy="347472"/>
          </a:xfrm>
          <a:prstGeom prst="ellipse">
            <a:avLst/>
          </a:prstGeom>
          <a:solidFill>
            <a:srgbClr val="C2740C"/>
          </a:solidFill>
          <a:ln/>
        </p:spPr>
      </p:sp>
      <p:pic>
        <p:nvPicPr>
          <p:cNvPr id="38" name="Image 8" descr="icons/minus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201" y="4733849"/>
            <a:ext cx="243230" cy="24323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115568" y="463600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manual effort and paperwork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6263640" y="4681728"/>
            <a:ext cx="347472" cy="347472"/>
          </a:xfrm>
          <a:prstGeom prst="ellipse">
            <a:avLst/>
          </a:prstGeom>
          <a:solidFill>
            <a:srgbClr val="C2740C"/>
          </a:solidFill>
          <a:ln/>
        </p:spPr>
      </p:sp>
      <p:pic>
        <p:nvPicPr>
          <p:cNvPr id="41" name="Image 9" descr="icons/minuscircl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5761" y="4733849"/>
            <a:ext cx="243230" cy="24323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6739128" y="4636008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Possible delays and human errors</a:t>
            </a:r>
            <a:endParaRPr lang="en-US" sz="1150" dirty="0"/>
          </a:p>
        </p:txBody>
      </p:sp>
      <p:sp>
        <p:nvSpPr>
          <p:cNvPr id="43" name="Shape 31"/>
          <p:cNvSpPr/>
          <p:nvPr/>
        </p:nvSpPr>
        <p:spPr>
          <a:xfrm>
            <a:off x="640080" y="5340096"/>
            <a:ext cx="347472" cy="347472"/>
          </a:xfrm>
          <a:prstGeom prst="ellipse">
            <a:avLst/>
          </a:prstGeom>
          <a:solidFill>
            <a:srgbClr val="C2740C"/>
          </a:solidFill>
          <a:ln/>
        </p:spPr>
      </p:sp>
      <p:pic>
        <p:nvPicPr>
          <p:cNvPr id="44" name="Image 10" descr="icons/minuscirc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201" y="5392217"/>
            <a:ext cx="243230" cy="243230"/>
          </a:xfrm>
          <a:prstGeom prst="rect">
            <a:avLst/>
          </a:prstGeom>
        </p:spPr>
      </p:pic>
      <p:sp>
        <p:nvSpPr>
          <p:cNvPr id="45" name="Text 32"/>
          <p:cNvSpPr/>
          <p:nvPr/>
        </p:nvSpPr>
        <p:spPr>
          <a:xfrm>
            <a:off x="1115568" y="5294376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Limited centralized visibility</a:t>
            </a:r>
            <a:endParaRPr lang="en-US" sz="1150" dirty="0"/>
          </a:p>
        </p:txBody>
      </p:sp>
      <p:sp>
        <p:nvSpPr>
          <p:cNvPr id="46" name="Shape 33"/>
          <p:cNvSpPr/>
          <p:nvPr/>
        </p:nvSpPr>
        <p:spPr>
          <a:xfrm>
            <a:off x="6263640" y="5340096"/>
            <a:ext cx="347472" cy="347472"/>
          </a:xfrm>
          <a:prstGeom prst="ellipse">
            <a:avLst/>
          </a:prstGeom>
          <a:solidFill>
            <a:srgbClr val="C2740C"/>
          </a:solidFill>
          <a:ln/>
        </p:spPr>
      </p:sp>
      <p:pic>
        <p:nvPicPr>
          <p:cNvPr id="47" name="Image 11" descr="icons/minuscircl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5761" y="5392217"/>
            <a:ext cx="243230" cy="243230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6739128" y="5294376"/>
            <a:ext cx="4800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 vendor performance monitoring</a:t>
            </a:r>
            <a:endParaRPr lang="en-US" sz="1150" dirty="0"/>
          </a:p>
        </p:txBody>
      </p:sp>
      <p:sp>
        <p:nvSpPr>
          <p:cNvPr id="49" name="Text 35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50" name="Text 36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— one centralized platform for the complete procurement lifecycle.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8653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7" name="Image 0" descr="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933956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627632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onboarding &amp; approval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627632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653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11" name="Image 1" descr="icons/st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193395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87952" y="1627632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profile management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309360" y="1627632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64808" y="18653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15" name="Image 2" descr="icons/box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388" y="193395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22592" y="1627632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catalog management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144000" y="1627632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99448" y="18653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19" name="Image 3" descr="icons/clipboard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8028" y="1933956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57232" y="1627632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purchase requests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0080" y="2697480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95528" y="293522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23" name="Image 4" descr="icons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3003804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53312" y="2697480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/ product comparison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3474720" y="2697480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630168" y="293522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27" name="Image 5" descr="icons/invoi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8748" y="3003804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187952" y="2697480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 management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6309360" y="2697480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464808" y="293522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31" name="Image 6" descr="icons/moneybi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3388" y="3003804"/>
            <a:ext cx="320040" cy="3200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22592" y="2697480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price confirmation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9144000" y="2697480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9299448" y="293522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35" name="Image 7" descr="icons/check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028" y="3003804"/>
            <a:ext cx="320040" cy="3200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857232" y="2697480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final confirmation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40080" y="3767328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795528" y="4005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39" name="Image 8" descr="icons/shippingfa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4108" y="4073652"/>
            <a:ext cx="320040" cy="32004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353312" y="3767328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&amp; delivery tracking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3474720" y="3767328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3630168" y="4005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43" name="Image 9" descr="icons/filepd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8748" y="4073652"/>
            <a:ext cx="320040" cy="32004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187952" y="3767328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PDF receipt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309360" y="3767328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6464808" y="4005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47" name="Image 10" descr="icons/st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3388" y="4073652"/>
            <a:ext cx="320040" cy="32004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7022592" y="3767328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evaluation</a:t>
            </a:r>
            <a:endParaRPr lang="en-US" sz="1000" dirty="0"/>
          </a:p>
        </p:txBody>
      </p:sp>
      <p:sp>
        <p:nvSpPr>
          <p:cNvPr id="49" name="Shape 36"/>
          <p:cNvSpPr/>
          <p:nvPr/>
        </p:nvSpPr>
        <p:spPr>
          <a:xfrm>
            <a:off x="9144000" y="3767328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9299448" y="4005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F1E3D"/>
          </a:solidFill>
          <a:ln/>
        </p:spPr>
      </p:sp>
      <p:pic>
        <p:nvPicPr>
          <p:cNvPr id="51" name="Image 11" descr="icons/bell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8028" y="4073652"/>
            <a:ext cx="320040" cy="32004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9857232" y="3767328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3" name="Shape 39"/>
          <p:cNvSpPr/>
          <p:nvPr/>
        </p:nvSpPr>
        <p:spPr>
          <a:xfrm>
            <a:off x="640080" y="4837176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795528" y="5074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55" name="Image 12" descr="icons/chartba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4108" y="5143500"/>
            <a:ext cx="320040" cy="32004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1353312" y="4837176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</a:t>
            </a:r>
            <a:endParaRPr lang="en-US" sz="1000" dirty="0"/>
          </a:p>
        </p:txBody>
      </p:sp>
      <p:sp>
        <p:nvSpPr>
          <p:cNvPr id="57" name="Shape 42"/>
          <p:cNvSpPr/>
          <p:nvPr/>
        </p:nvSpPr>
        <p:spPr>
          <a:xfrm>
            <a:off x="3474720" y="4837176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3630168" y="5074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59" name="Image 13" descr="icons/history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8748" y="5143500"/>
            <a:ext cx="320040" cy="32004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4187952" y="4837176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61" name="Shape 45"/>
          <p:cNvSpPr/>
          <p:nvPr/>
        </p:nvSpPr>
        <p:spPr>
          <a:xfrm>
            <a:off x="6309360" y="4837176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2" name="Shape 46"/>
          <p:cNvSpPr/>
          <p:nvPr/>
        </p:nvSpPr>
        <p:spPr>
          <a:xfrm>
            <a:off x="6464808" y="5074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63" name="Image 14" descr="icons/filte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33388" y="5143500"/>
            <a:ext cx="320040" cy="32004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7022592" y="4837176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Search, filter &amp; pagination</a:t>
            </a:r>
            <a:endParaRPr lang="en-US" sz="1000" dirty="0"/>
          </a:p>
        </p:txBody>
      </p:sp>
      <p:sp>
        <p:nvSpPr>
          <p:cNvPr id="65" name="Shape 48"/>
          <p:cNvSpPr/>
          <p:nvPr/>
        </p:nvSpPr>
        <p:spPr>
          <a:xfrm>
            <a:off x="9144000" y="4837176"/>
            <a:ext cx="2679192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6" name="Shape 49"/>
          <p:cNvSpPr/>
          <p:nvPr/>
        </p:nvSpPr>
        <p:spPr>
          <a:xfrm>
            <a:off x="9299448" y="50749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pic>
        <p:nvPicPr>
          <p:cNvPr id="67" name="Image 15" descr="icons/usershiel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68028" y="5143500"/>
            <a:ext cx="320040" cy="320040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9857232" y="4837176"/>
            <a:ext cx="1837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security</a:t>
            </a:r>
            <a:endParaRPr lang="en-US" sz="1000" dirty="0"/>
          </a:p>
        </p:txBody>
      </p:sp>
      <p:sp>
        <p:nvSpPr>
          <p:cNvPr id="69" name="Text 51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70" name="Text 52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828800"/>
            <a:ext cx="502920" cy="5029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6" name="Image 0" descr="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974" y="19042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3736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 vendor management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36192" y="20665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all vendor records in one system.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83096" y="18288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icons/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534" y="19042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59752" y="173736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Digitize procurement requests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159752" y="20665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manual request handling with digital forms.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2752344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9536" y="3026664"/>
            <a:ext cx="502920" cy="5029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16" name="Image 2" descr="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74" y="3102102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293522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Reduce manual work and paperwork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536192" y="32644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Cut repetitive data entry and file handling.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2752344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83096" y="302666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icons/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534" y="3102102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59752" y="293522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 vendor / product comparison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159752" y="32644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price, stock, specs and delivery time.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40080" y="3950208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59536" y="4224528"/>
            <a:ext cx="502920" cy="5029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26" name="Image 4" descr="icons/ey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974" y="4299966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36192" y="4133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Transparent purchase-order tracking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536192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PO carries a unique reference and status.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63640" y="3950208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83096" y="422452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icons/shippingfa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534" y="4299966"/>
            <a:ext cx="352044" cy="3520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59752" y="4133088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 delivery visibility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7159752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fulfilment from processing to delivered.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40080" y="5148072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59536" y="5422392"/>
            <a:ext cx="502920" cy="502920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36" name="Image 6" descr="icons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4974" y="5497830"/>
            <a:ext cx="352044" cy="3520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536192" y="533095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Maintain vendor performance records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1536192" y="5660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Store post-delivery ratings for every vendor.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263640" y="5148072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483096" y="542239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1" name="Image 7" descr="icons/usershi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8534" y="5497830"/>
            <a:ext cx="352044" cy="35204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59752" y="5330952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 and accountability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7159752" y="566013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role sees only what it needs.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45" name="Text 35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complete procurement lifecycle, from requirement to vendor evaluation.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91640"/>
            <a:ext cx="1581912" cy="5029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7" name="Shape 5"/>
          <p:cNvSpPr/>
          <p:nvPr/>
        </p:nvSpPr>
        <p:spPr>
          <a:xfrm>
            <a:off x="1220724" y="1874520"/>
            <a:ext cx="420624" cy="420624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8" name="Image 0" descr="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818" y="1937614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235000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4944" y="1746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221992" y="169164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2514600" y="169164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14600" y="1691640"/>
            <a:ext cx="1581912" cy="50292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Shape 11"/>
          <p:cNvSpPr/>
          <p:nvPr/>
        </p:nvSpPr>
        <p:spPr>
          <a:xfrm>
            <a:off x="3095244" y="1874520"/>
            <a:ext cx="420624" cy="420624"/>
          </a:xfrm>
          <a:prstGeom prst="ellipse">
            <a:avLst/>
          </a:prstGeom>
          <a:solidFill>
            <a:srgbClr val="60A5FA"/>
          </a:solidFill>
          <a:ln/>
        </p:spPr>
      </p:sp>
      <p:pic>
        <p:nvPicPr>
          <p:cNvPr id="15" name="Image 1" descr="icons/clipboard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338" y="1937614"/>
            <a:ext cx="294437" cy="29443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9464" y="235000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569464" y="1746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096512" y="169164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389120" y="169164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89120" y="1691640"/>
            <a:ext cx="1581912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7"/>
          <p:cNvSpPr/>
          <p:nvPr/>
        </p:nvSpPr>
        <p:spPr>
          <a:xfrm>
            <a:off x="4969764" y="18745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2" descr="icons/clipboard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858" y="1937614"/>
            <a:ext cx="294437" cy="29443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443984" y="235000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443984" y="1746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5971032" y="169164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6263640" y="169164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263640" y="1691640"/>
            <a:ext cx="1581912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Shape 23"/>
          <p:cNvSpPr/>
          <p:nvPr/>
        </p:nvSpPr>
        <p:spPr>
          <a:xfrm>
            <a:off x="6844284" y="18745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9" name="Image 3" descr="icons/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378" y="1937614"/>
            <a:ext cx="294437" cy="29443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318504" y="235000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/ Product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6318504" y="1746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7845552" y="169164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700" dirty="0"/>
          </a:p>
        </p:txBody>
      </p:sp>
      <p:sp>
        <p:nvSpPr>
          <p:cNvPr id="33" name="Shape 27"/>
          <p:cNvSpPr/>
          <p:nvPr/>
        </p:nvSpPr>
        <p:spPr>
          <a:xfrm>
            <a:off x="8138160" y="169164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8138160" y="1691640"/>
            <a:ext cx="1581912" cy="502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Shape 29"/>
          <p:cNvSpPr/>
          <p:nvPr/>
        </p:nvSpPr>
        <p:spPr>
          <a:xfrm>
            <a:off x="8718804" y="18745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6" name="Image 4" descr="icons/invo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898" y="1937614"/>
            <a:ext cx="294437" cy="29443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193024" y="235000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8193024" y="1746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9720072" y="169164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700" dirty="0"/>
          </a:p>
        </p:txBody>
      </p:sp>
      <p:sp>
        <p:nvSpPr>
          <p:cNvPr id="40" name="Shape 33"/>
          <p:cNvSpPr/>
          <p:nvPr/>
        </p:nvSpPr>
        <p:spPr>
          <a:xfrm>
            <a:off x="10012680" y="169164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10012680" y="1691640"/>
            <a:ext cx="1581912" cy="502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Shape 35"/>
          <p:cNvSpPr/>
          <p:nvPr/>
        </p:nvSpPr>
        <p:spPr>
          <a:xfrm>
            <a:off x="10593324" y="1874520"/>
            <a:ext cx="420624" cy="420624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43" name="Image 5" descr="icons/moneybil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6418" y="1937614"/>
            <a:ext cx="294437" cy="29443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10067544" y="235000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Price &amp;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10067544" y="1746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06</a:t>
            </a:r>
            <a:endParaRPr lang="en-US" sz="750" dirty="0"/>
          </a:p>
        </p:txBody>
      </p:sp>
      <p:sp>
        <p:nvSpPr>
          <p:cNvPr id="46" name="Shape 38"/>
          <p:cNvSpPr/>
          <p:nvPr/>
        </p:nvSpPr>
        <p:spPr>
          <a:xfrm>
            <a:off x="10803636" y="2990088"/>
            <a:ext cx="0" cy="667512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10620756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9B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10012680" y="365760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10012680" y="3657600"/>
            <a:ext cx="1581912" cy="5029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50" name="Shape 42"/>
          <p:cNvSpPr/>
          <p:nvPr/>
        </p:nvSpPr>
        <p:spPr>
          <a:xfrm>
            <a:off x="10593324" y="3840480"/>
            <a:ext cx="420624" cy="420624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51" name="Image 6" descr="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6418" y="3903574"/>
            <a:ext cx="294437" cy="294437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10067544" y="431596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Final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Confirmation</a:t>
            </a:r>
            <a:endParaRPr lang="en-US" sz="850" dirty="0"/>
          </a:p>
        </p:txBody>
      </p:sp>
      <p:sp>
        <p:nvSpPr>
          <p:cNvPr id="53" name="Text 44"/>
          <p:cNvSpPr/>
          <p:nvPr/>
        </p:nvSpPr>
        <p:spPr>
          <a:xfrm>
            <a:off x="10067544" y="3712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07</a:t>
            </a:r>
            <a:endParaRPr lang="en-US" sz="750" dirty="0"/>
          </a:p>
        </p:txBody>
      </p:sp>
      <p:sp>
        <p:nvSpPr>
          <p:cNvPr id="54" name="Text 45"/>
          <p:cNvSpPr/>
          <p:nvPr/>
        </p:nvSpPr>
        <p:spPr>
          <a:xfrm>
            <a:off x="9720072" y="365760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‹</a:t>
            </a:r>
            <a:endParaRPr lang="en-US" sz="1700" dirty="0"/>
          </a:p>
        </p:txBody>
      </p:sp>
      <p:sp>
        <p:nvSpPr>
          <p:cNvPr id="55" name="Shape 46"/>
          <p:cNvSpPr/>
          <p:nvPr/>
        </p:nvSpPr>
        <p:spPr>
          <a:xfrm>
            <a:off x="8138160" y="365760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8138160" y="3657600"/>
            <a:ext cx="1581912" cy="502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7" name="Shape 48"/>
          <p:cNvSpPr/>
          <p:nvPr/>
        </p:nvSpPr>
        <p:spPr>
          <a:xfrm>
            <a:off x="8718804" y="3840480"/>
            <a:ext cx="420624" cy="420624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58" name="Image 7" descr="icons/boxope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1898" y="3903574"/>
            <a:ext cx="294437" cy="294437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8193024" y="431596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Fulfillment</a:t>
            </a:r>
            <a:endParaRPr lang="en-US" sz="850" dirty="0"/>
          </a:p>
        </p:txBody>
      </p:sp>
      <p:sp>
        <p:nvSpPr>
          <p:cNvPr id="60" name="Text 50"/>
          <p:cNvSpPr/>
          <p:nvPr/>
        </p:nvSpPr>
        <p:spPr>
          <a:xfrm>
            <a:off x="8193024" y="3712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08</a:t>
            </a:r>
            <a:endParaRPr lang="en-US" sz="750" dirty="0"/>
          </a:p>
        </p:txBody>
      </p:sp>
      <p:sp>
        <p:nvSpPr>
          <p:cNvPr id="61" name="Text 51"/>
          <p:cNvSpPr/>
          <p:nvPr/>
        </p:nvSpPr>
        <p:spPr>
          <a:xfrm>
            <a:off x="7845552" y="365760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‹</a:t>
            </a:r>
            <a:endParaRPr lang="en-US" sz="1700" dirty="0"/>
          </a:p>
        </p:txBody>
      </p:sp>
      <p:sp>
        <p:nvSpPr>
          <p:cNvPr id="62" name="Shape 52"/>
          <p:cNvSpPr/>
          <p:nvPr/>
        </p:nvSpPr>
        <p:spPr>
          <a:xfrm>
            <a:off x="6263640" y="365760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6263640" y="3657600"/>
            <a:ext cx="1581912" cy="502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4" name="Shape 54"/>
          <p:cNvSpPr/>
          <p:nvPr/>
        </p:nvSpPr>
        <p:spPr>
          <a:xfrm>
            <a:off x="6844284" y="3840480"/>
            <a:ext cx="420624" cy="420624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65" name="Image 8" descr="icons/shippingfas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7378" y="3903574"/>
            <a:ext cx="294437" cy="294437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6318504" y="431596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</a:t>
            </a:r>
            <a:endParaRPr lang="en-US" sz="850" dirty="0"/>
          </a:p>
        </p:txBody>
      </p:sp>
      <p:sp>
        <p:nvSpPr>
          <p:cNvPr id="67" name="Text 56"/>
          <p:cNvSpPr/>
          <p:nvPr/>
        </p:nvSpPr>
        <p:spPr>
          <a:xfrm>
            <a:off x="6318504" y="3712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09</a:t>
            </a:r>
            <a:endParaRPr lang="en-US" sz="750" dirty="0"/>
          </a:p>
        </p:txBody>
      </p:sp>
      <p:sp>
        <p:nvSpPr>
          <p:cNvPr id="68" name="Text 57"/>
          <p:cNvSpPr/>
          <p:nvPr/>
        </p:nvSpPr>
        <p:spPr>
          <a:xfrm>
            <a:off x="5971032" y="365760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‹</a:t>
            </a:r>
            <a:endParaRPr lang="en-US" sz="1700" dirty="0"/>
          </a:p>
        </p:txBody>
      </p:sp>
      <p:sp>
        <p:nvSpPr>
          <p:cNvPr id="69" name="Shape 58"/>
          <p:cNvSpPr/>
          <p:nvPr/>
        </p:nvSpPr>
        <p:spPr>
          <a:xfrm>
            <a:off x="4389120" y="365760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70" name="Shape 59"/>
          <p:cNvSpPr/>
          <p:nvPr/>
        </p:nvSpPr>
        <p:spPr>
          <a:xfrm>
            <a:off x="4389120" y="3657600"/>
            <a:ext cx="1581912" cy="5029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71" name="Shape 60"/>
          <p:cNvSpPr/>
          <p:nvPr/>
        </p:nvSpPr>
        <p:spPr>
          <a:xfrm>
            <a:off x="4969764" y="3840480"/>
            <a:ext cx="420624" cy="420624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72" name="Image 9" descr="icons/filepd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858" y="3903574"/>
            <a:ext cx="294437" cy="294437"/>
          </a:xfrm>
          <a:prstGeom prst="rect">
            <a:avLst/>
          </a:prstGeom>
        </p:spPr>
      </p:pic>
      <p:sp>
        <p:nvSpPr>
          <p:cNvPr id="73" name="Text 61"/>
          <p:cNvSpPr/>
          <p:nvPr/>
        </p:nvSpPr>
        <p:spPr>
          <a:xfrm>
            <a:off x="4443984" y="431596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</a:t>
            </a:r>
            <a:endParaRPr lang="en-US" sz="850" dirty="0"/>
          </a:p>
        </p:txBody>
      </p:sp>
      <p:sp>
        <p:nvSpPr>
          <p:cNvPr id="74" name="Text 62"/>
          <p:cNvSpPr/>
          <p:nvPr/>
        </p:nvSpPr>
        <p:spPr>
          <a:xfrm>
            <a:off x="4443984" y="3712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</a:t>
            </a:r>
            <a:endParaRPr lang="en-US" sz="750" dirty="0"/>
          </a:p>
        </p:txBody>
      </p:sp>
      <p:sp>
        <p:nvSpPr>
          <p:cNvPr id="75" name="Text 63"/>
          <p:cNvSpPr/>
          <p:nvPr/>
        </p:nvSpPr>
        <p:spPr>
          <a:xfrm>
            <a:off x="4096512" y="365760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‹</a:t>
            </a:r>
            <a:endParaRPr lang="en-US" sz="1700" dirty="0"/>
          </a:p>
        </p:txBody>
      </p:sp>
      <p:sp>
        <p:nvSpPr>
          <p:cNvPr id="76" name="Shape 64"/>
          <p:cNvSpPr/>
          <p:nvPr/>
        </p:nvSpPr>
        <p:spPr>
          <a:xfrm>
            <a:off x="2514600" y="3657600"/>
            <a:ext cx="1581912" cy="1298448"/>
          </a:xfrm>
          <a:prstGeom prst="roundRect">
            <a:avLst>
              <a:gd name="adj" fmla="val 774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77" name="Shape 65"/>
          <p:cNvSpPr/>
          <p:nvPr/>
        </p:nvSpPr>
        <p:spPr>
          <a:xfrm>
            <a:off x="2514600" y="3657600"/>
            <a:ext cx="1581912" cy="5029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78" name="Shape 66"/>
          <p:cNvSpPr/>
          <p:nvPr/>
        </p:nvSpPr>
        <p:spPr>
          <a:xfrm>
            <a:off x="3095244" y="3840480"/>
            <a:ext cx="420624" cy="420624"/>
          </a:xfrm>
          <a:prstGeom prst="ellipse">
            <a:avLst/>
          </a:prstGeom>
          <a:solidFill>
            <a:srgbClr val="0F1E3D"/>
          </a:solidFill>
          <a:ln/>
        </p:spPr>
      </p:sp>
      <p:pic>
        <p:nvPicPr>
          <p:cNvPr id="79" name="Image 10" descr="icons/st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58338" y="3903574"/>
            <a:ext cx="294437" cy="294437"/>
          </a:xfrm>
          <a:prstGeom prst="rect">
            <a:avLst/>
          </a:prstGeom>
        </p:spPr>
      </p:pic>
      <p:sp>
        <p:nvSpPr>
          <p:cNvPr id="80" name="Text 67"/>
          <p:cNvSpPr/>
          <p:nvPr/>
        </p:nvSpPr>
        <p:spPr>
          <a:xfrm>
            <a:off x="2569464" y="431596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8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81" name="Text 68"/>
          <p:cNvSpPr/>
          <p:nvPr/>
        </p:nvSpPr>
        <p:spPr>
          <a:xfrm>
            <a:off x="2569464" y="37124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11</a:t>
            </a:r>
            <a:endParaRPr lang="en-US" sz="750" dirty="0"/>
          </a:p>
        </p:txBody>
      </p:sp>
      <p:sp>
        <p:nvSpPr>
          <p:cNvPr id="82" name="Shape 69"/>
          <p:cNvSpPr/>
          <p:nvPr/>
        </p:nvSpPr>
        <p:spPr>
          <a:xfrm>
            <a:off x="640080" y="5230368"/>
            <a:ext cx="10899648" cy="713232"/>
          </a:xfrm>
          <a:prstGeom prst="roundRect">
            <a:avLst>
              <a:gd name="adj" fmla="val 12821"/>
            </a:avLst>
          </a:prstGeom>
          <a:solidFill>
            <a:srgbClr val="FFF7E8"/>
          </a:solidFill>
          <a:ln w="12700">
            <a:solidFill>
              <a:srgbClr val="F0DCB4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83" name="Shape 70"/>
          <p:cNvSpPr/>
          <p:nvPr/>
        </p:nvSpPr>
        <p:spPr>
          <a:xfrm>
            <a:off x="868680" y="5413248"/>
            <a:ext cx="365760" cy="365760"/>
          </a:xfrm>
          <a:prstGeom prst="ellipse">
            <a:avLst/>
          </a:prstGeom>
          <a:solidFill>
            <a:srgbClr val="C2740C"/>
          </a:solidFill>
          <a:ln/>
        </p:spPr>
      </p:sp>
      <p:pic>
        <p:nvPicPr>
          <p:cNvPr id="84" name="Image 11" descr="icons/exclamatio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" y="5468112"/>
            <a:ext cx="256032" cy="256032"/>
          </a:xfrm>
          <a:prstGeom prst="rect">
            <a:avLst/>
          </a:prstGeom>
        </p:spPr>
      </p:pic>
      <p:sp>
        <p:nvSpPr>
          <p:cNvPr id="85" name="Text 71"/>
          <p:cNvSpPr/>
          <p:nvPr/>
        </p:nvSpPr>
        <p:spPr>
          <a:xfrm>
            <a:off x="1371600" y="523036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4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Important:  </a:t>
            </a:r>
            <a:pPr indent="0" marL="0">
              <a:buNone/>
            </a:pPr>
            <a:r>
              <a:rPr lang="en-US" sz="11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acceptance does NOT immediately start fulfillment — employee confirmation is required before fulfillment begins.</a:t>
            </a:r>
            <a:endParaRPr lang="en-US" sz="1100" dirty="0"/>
          </a:p>
        </p:txBody>
      </p:sp>
      <p:sp>
        <p:nvSpPr>
          <p:cNvPr id="86" name="Shape 72"/>
          <p:cNvSpPr/>
          <p:nvPr/>
        </p:nvSpPr>
        <p:spPr>
          <a:xfrm>
            <a:off x="658368" y="6108192"/>
            <a:ext cx="137160" cy="13716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7" name="Text 73"/>
          <p:cNvSpPr/>
          <p:nvPr/>
        </p:nvSpPr>
        <p:spPr>
          <a:xfrm>
            <a:off x="859536" y="6044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</a:t>
            </a:r>
            <a:endParaRPr lang="en-US" sz="950" dirty="0"/>
          </a:p>
        </p:txBody>
      </p:sp>
      <p:sp>
        <p:nvSpPr>
          <p:cNvPr id="88" name="Shape 74"/>
          <p:cNvSpPr/>
          <p:nvPr/>
        </p:nvSpPr>
        <p:spPr>
          <a:xfrm>
            <a:off x="2487168" y="6108192"/>
            <a:ext cx="137160" cy="1371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9" name="Text 75"/>
          <p:cNvSpPr/>
          <p:nvPr/>
        </p:nvSpPr>
        <p:spPr>
          <a:xfrm>
            <a:off x="2688336" y="6044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</a:t>
            </a:r>
            <a:endParaRPr lang="en-US" sz="950" dirty="0"/>
          </a:p>
        </p:txBody>
      </p:sp>
      <p:sp>
        <p:nvSpPr>
          <p:cNvPr id="90" name="Shape 76"/>
          <p:cNvSpPr/>
          <p:nvPr/>
        </p:nvSpPr>
        <p:spPr>
          <a:xfrm>
            <a:off x="4315968" y="6108192"/>
            <a:ext cx="137160" cy="1371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1" name="Text 77"/>
          <p:cNvSpPr/>
          <p:nvPr/>
        </p:nvSpPr>
        <p:spPr>
          <a:xfrm>
            <a:off x="4517136" y="6044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950" dirty="0"/>
          </a:p>
        </p:txBody>
      </p:sp>
      <p:sp>
        <p:nvSpPr>
          <p:cNvPr id="92" name="Shape 78"/>
          <p:cNvSpPr/>
          <p:nvPr/>
        </p:nvSpPr>
        <p:spPr>
          <a:xfrm>
            <a:off x="6144768" y="6108192"/>
            <a:ext cx="137160" cy="137160"/>
          </a:xfrm>
          <a:prstGeom prst="ellipse">
            <a:avLst/>
          </a:prstGeom>
          <a:solidFill>
            <a:srgbClr val="0F1E3D"/>
          </a:solidFill>
          <a:ln/>
        </p:spPr>
      </p:sp>
      <p:sp>
        <p:nvSpPr>
          <p:cNvPr id="93" name="Text 79"/>
          <p:cNvSpPr/>
          <p:nvPr/>
        </p:nvSpPr>
        <p:spPr>
          <a:xfrm>
            <a:off x="6345936" y="6044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/ Admin</a:t>
            </a:r>
            <a:endParaRPr lang="en-US" sz="950" dirty="0"/>
          </a:p>
        </p:txBody>
      </p:sp>
      <p:sp>
        <p:nvSpPr>
          <p:cNvPr id="94" name="Text 80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95" name="Text 81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1 of 2  —  FR1 to FR8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36192"/>
            <a:ext cx="50292" cy="1060704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719072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190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08760" y="17007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Registration and Login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41248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register and log in according to permitted roles, with secure authentication.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63640" y="1536192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36192"/>
            <a:ext cx="50292" cy="10607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64808" y="1719072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7190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70078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64808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Functionality differs for Admin, Procurement Manager, Employee and Vendor.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697480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697480"/>
            <a:ext cx="50292" cy="1060704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288036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2880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28620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Registration and Approval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32186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 register; Admin or authorized personnel approve or reject them.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697480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2697480"/>
            <a:ext cx="50292" cy="10607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64808" y="288036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2880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8620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Profile Management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64808" y="32186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 manage company details and a primary shop image.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858768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858768"/>
            <a:ext cx="50292" cy="1060704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1" name="Shape 29"/>
          <p:cNvSpPr/>
          <p:nvPr/>
        </p:nvSpPr>
        <p:spPr>
          <a:xfrm>
            <a:off x="841248" y="404164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08760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Catalog Management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" y="43799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 add and edit products with specs, price, quantity, availability and image.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3858768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3858768"/>
            <a:ext cx="50292" cy="10607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64808" y="404164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40416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40233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Request Management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64808" y="437997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Employees create requests with requirements, quantity, specs and requested price.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5020056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5020056"/>
            <a:ext cx="50292" cy="1060704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43" name="Shape 41"/>
          <p:cNvSpPr/>
          <p:nvPr/>
        </p:nvSpPr>
        <p:spPr>
          <a:xfrm>
            <a:off x="841248" y="520293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52029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FR7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508760" y="51846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/ Product Comparison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41248" y="55412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 compares price, stock, specifications, availability and delivery time.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5020056"/>
            <a:ext cx="5349240" cy="1060704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3640" y="5020056"/>
            <a:ext cx="50292" cy="10607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Shape 47"/>
          <p:cNvSpPr/>
          <p:nvPr/>
        </p:nvSpPr>
        <p:spPr>
          <a:xfrm>
            <a:off x="6464808" y="520293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E8EEF9"/>
          </a:solidFill>
          <a:ln/>
        </p:spPr>
      </p:sp>
      <p:sp>
        <p:nvSpPr>
          <p:cNvPr id="50" name="Text 48"/>
          <p:cNvSpPr/>
          <p:nvPr/>
        </p:nvSpPr>
        <p:spPr>
          <a:xfrm>
            <a:off x="6464808" y="52029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51846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 Management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64808" y="554126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 creates and manages purchase orders, each with a unique reference.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 2 of 2  —  FR9 to FR17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17904"/>
            <a:ext cx="50292" cy="9144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645920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64592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16276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Price Confirmation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9385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reviews the order and shop price; the system shows any price difference.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263640" y="1517904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17904"/>
            <a:ext cx="50292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6464808" y="1645920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64592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78040" y="16276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Final Confirmation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64808" y="193852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accepts the extra cost or declines; vendor acceptance alone is not final.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40080" y="251460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514600"/>
            <a:ext cx="50292" cy="9144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2642616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264261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54480" y="2624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Fulfillment &amp; Delivery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293522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updates status: Processing → Packing → Out for Delivery → Delivered.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263640" y="2514600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2514600"/>
            <a:ext cx="50292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64808" y="2642616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264261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262432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 Generation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64808" y="2935224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generates a downloadable PDF receipt from stored order and PO data.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40080" y="3511296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511296"/>
            <a:ext cx="50292" cy="9144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1" name="Shape 29"/>
          <p:cNvSpPr/>
          <p:nvPr/>
        </p:nvSpPr>
        <p:spPr>
          <a:xfrm>
            <a:off x="841248" y="3639312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" y="36393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554480" y="36210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Post-Delivery Evaluation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" y="39319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rates quality, delivery speed, pricing, service and overall experience.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263640" y="3511296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3511296"/>
            <a:ext cx="50292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Shape 35"/>
          <p:cNvSpPr/>
          <p:nvPr/>
        </p:nvSpPr>
        <p:spPr>
          <a:xfrm>
            <a:off x="6464808" y="3639312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38" name="Text 36"/>
          <p:cNvSpPr/>
          <p:nvPr/>
        </p:nvSpPr>
        <p:spPr>
          <a:xfrm>
            <a:off x="6464808" y="363931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78040" y="36210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64808" y="3931920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are notified about important request, order and delivery events.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40080" y="4507992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4507992"/>
            <a:ext cx="50292" cy="9144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43" name="Shape 41"/>
          <p:cNvSpPr/>
          <p:nvPr/>
        </p:nvSpPr>
        <p:spPr>
          <a:xfrm>
            <a:off x="841248" y="4636008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" y="46360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554480" y="4617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 and Analytics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1248" y="49286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 and Admin view relevant procurement and vendor information.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6263640" y="4507992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3640" y="4507992"/>
            <a:ext cx="50292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Shape 47"/>
          <p:cNvSpPr/>
          <p:nvPr/>
        </p:nvSpPr>
        <p:spPr>
          <a:xfrm>
            <a:off x="6464808" y="4636008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50" name="Text 48"/>
          <p:cNvSpPr/>
          <p:nvPr/>
        </p:nvSpPr>
        <p:spPr>
          <a:xfrm>
            <a:off x="6464808" y="463600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78040" y="461772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Logs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64808" y="4928616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Important system activities are recorded and can be reviewed.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640080" y="5504688"/>
            <a:ext cx="5349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" y="5504688"/>
            <a:ext cx="50292" cy="9144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55" name="Shape 53"/>
          <p:cNvSpPr/>
          <p:nvPr/>
        </p:nvSpPr>
        <p:spPr>
          <a:xfrm>
            <a:off x="841248" y="5632704"/>
            <a:ext cx="621792" cy="237744"/>
          </a:xfrm>
          <a:prstGeom prst="roundRect">
            <a:avLst>
              <a:gd name="adj" fmla="val 23077"/>
            </a:avLst>
          </a:prstGeom>
          <a:solidFill>
            <a:srgbClr val="E8EEF9"/>
          </a:solidFill>
          <a:ln/>
        </p:spPr>
      </p:sp>
      <p:sp>
        <p:nvSpPr>
          <p:cNvPr id="56" name="Text 54"/>
          <p:cNvSpPr/>
          <p:nvPr/>
        </p:nvSpPr>
        <p:spPr>
          <a:xfrm>
            <a:off x="841248" y="5632704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FR17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554480" y="56144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Search, Filtering &amp; Pagination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41248" y="5925312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 can be searched, filtered and paginated across modules.</a:t>
            </a:r>
            <a:endParaRPr lang="en-US" sz="930" dirty="0"/>
          </a:p>
        </p:txBody>
      </p:sp>
      <p:sp>
        <p:nvSpPr>
          <p:cNvPr id="59" name="Text 57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Non-Functional Requirements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attributes the system is designed to satisfy.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019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1E3D"/>
          </a:solidFill>
          <a:ln/>
        </p:spPr>
      </p:sp>
      <p:pic>
        <p:nvPicPr>
          <p:cNvPr id="7" name="Image 0" descr="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986991"/>
            <a:ext cx="396850" cy="396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57860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294436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06324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· Role-based authorization · Password protection · Access control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474720" y="164592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03320" y="19019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563EB"/>
          </a:solidFill>
          <a:ln/>
        </p:spPr>
      </p:sp>
      <p:pic>
        <p:nvPicPr>
          <p:cNvPr id="13" name="Image 1" descr="icons/tachome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359" y="1986991"/>
            <a:ext cx="396850" cy="3968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257860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703320" y="294436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703320" y="306324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Responsive interactions · Efficient API and database operations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309360" y="164592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37960" y="19019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1E3D"/>
          </a:solidFill>
          <a:ln/>
        </p:spPr>
      </p:sp>
      <p:pic>
        <p:nvPicPr>
          <p:cNvPr id="19" name="Image 2" descr="icons/universala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999" y="1986991"/>
            <a:ext cx="396850" cy="3968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257860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Usability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37960" y="294436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37960" y="306324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Role-specific dashboards · Clear navigation · User-friendly forms and tables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44000" y="164592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72600" y="190195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563EB"/>
          </a:solidFill>
          <a:ln/>
        </p:spPr>
      </p:sp>
      <p:pic>
        <p:nvPicPr>
          <p:cNvPr id="25" name="Image 3" descr="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639" y="1986991"/>
            <a:ext cx="396850" cy="3968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2600" y="257860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372600" y="294436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372600" y="306324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Consistent data handling · Proper validation · Controlled workflow transitions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40080" y="39776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68680" y="423367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1E3D"/>
          </a:solidFill>
          <a:ln/>
        </p:spPr>
      </p:sp>
      <p:pic>
        <p:nvPicPr>
          <p:cNvPr id="31" name="Image 4" descr="icons/exp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719" y="4318711"/>
            <a:ext cx="396850" cy="39685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68680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868680" y="527608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868680" y="5394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 architecture · Separate frontend, backend and database layers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3474720" y="39776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703320" y="423367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563EB"/>
          </a:solidFill>
          <a:ln/>
        </p:spPr>
      </p:sp>
      <p:pic>
        <p:nvPicPr>
          <p:cNvPr id="37" name="Image 5" descr="icons/wren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8359" y="4318711"/>
            <a:ext cx="396850" cy="39685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3703320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Maintainability</a:t>
            </a:r>
            <a:endParaRPr lang="en-US" sz="1250" dirty="0"/>
          </a:p>
        </p:txBody>
      </p:sp>
      <p:sp>
        <p:nvSpPr>
          <p:cNvPr id="39" name="Shape 31"/>
          <p:cNvSpPr/>
          <p:nvPr/>
        </p:nvSpPr>
        <p:spPr>
          <a:xfrm>
            <a:off x="3703320" y="527608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703320" y="5394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Modular code · Reusable components · REST API based backend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309360" y="39776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537960" y="423367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F1E3D"/>
          </a:solidFill>
          <a:ln/>
        </p:spPr>
      </p:sp>
      <p:pic>
        <p:nvPicPr>
          <p:cNvPr id="43" name="Image 6" descr="icons/glo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999" y="4318711"/>
            <a:ext cx="396850" cy="39685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537960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</a:t>
            </a:r>
            <a:endParaRPr lang="en-US" sz="1250" dirty="0"/>
          </a:p>
        </p:txBody>
      </p:sp>
      <p:sp>
        <p:nvSpPr>
          <p:cNvPr id="45" name="Shape 36"/>
          <p:cNvSpPr/>
          <p:nvPr/>
        </p:nvSpPr>
        <p:spPr>
          <a:xfrm>
            <a:off x="6537960" y="527608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6537960" y="5394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Web-based system accessible to all authorized users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9144000" y="3977640"/>
            <a:ext cx="267919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372600" y="423367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2563EB"/>
          </a:solidFill>
          <a:ln/>
        </p:spPr>
      </p:sp>
      <p:pic>
        <p:nvPicPr>
          <p:cNvPr id="49" name="Image 7" descr="icons/databas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7639" y="4318711"/>
            <a:ext cx="396850" cy="39685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372600" y="491032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51" name="Shape 41"/>
          <p:cNvSpPr/>
          <p:nvPr/>
        </p:nvSpPr>
        <p:spPr>
          <a:xfrm>
            <a:off x="9372600" y="5276088"/>
            <a:ext cx="54864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9372600" y="5394960"/>
            <a:ext cx="2221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Validation · Controlled updates · Historical purchase data retained</a:t>
            </a:r>
            <a:endParaRPr lang="en-US" sz="900" dirty="0"/>
          </a:p>
        </p:txBody>
      </p:sp>
      <p:sp>
        <p:nvSpPr>
          <p:cNvPr id="53" name="Text 43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54" name="Text 44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Three-tier client–server architecture with supporting services.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63E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REQUEST 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pic>
        <p:nvPicPr>
          <p:cNvPr id="7" name="Image 0" descr="icons/desktop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5740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9202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/ Browser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40280" y="2450592"/>
            <a:ext cx="0" cy="22860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57400" y="24597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9B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679192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pic>
        <p:nvPicPr>
          <p:cNvPr id="12" name="Image 1" descr="icons/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81635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267919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240280" y="3209544"/>
            <a:ext cx="0" cy="22860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57400" y="32186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9B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38144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E8EEF9"/>
          </a:solidFill>
          <a:ln w="12700">
            <a:solidFill>
              <a:srgbClr val="C5D2EA"/>
            </a:solidFill>
            <a:prstDash val="solid"/>
          </a:ln>
        </p:spPr>
      </p:sp>
      <p:pic>
        <p:nvPicPr>
          <p:cNvPr id="17" name="Image 2" descr="icons/plug_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7530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43814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240280" y="3968496"/>
            <a:ext cx="0" cy="22860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057400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9B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4197096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2" name="Image 3" descr="icons/n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33425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419709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+ Express.js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240280" y="4727448"/>
            <a:ext cx="0" cy="22860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057400" y="47365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9B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40080" y="4956048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E8EEF9"/>
          </a:solidFill>
          <a:ln w="12700">
            <a:solidFill>
              <a:srgbClr val="C5D2EA"/>
            </a:solidFill>
            <a:prstDash val="solid"/>
          </a:ln>
        </p:spPr>
      </p:sp>
      <p:pic>
        <p:nvPicPr>
          <p:cNvPr id="27" name="Image 4" descr="icons/cogs_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09320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61872" y="495604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Mongoose ODM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240280" y="5486400"/>
            <a:ext cx="0" cy="22860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057400" y="54955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9B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↓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40080" y="5715000"/>
            <a:ext cx="3200400" cy="530352"/>
          </a:xfrm>
          <a:prstGeom prst="roundRect">
            <a:avLst>
              <a:gd name="adj" fmla="val 1379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pic>
        <p:nvPicPr>
          <p:cNvPr id="32" name="Image 5" descr="icons/mon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85216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61872" y="57150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 Database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20624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63E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BACKEND SERVICES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206240" y="1938528"/>
            <a:ext cx="3977640" cy="4041648"/>
          </a:xfrm>
          <a:prstGeom prst="roundRect">
            <a:avLst>
              <a:gd name="adj" fmla="val 2759"/>
            </a:avLst>
          </a:prstGeom>
          <a:solidFill>
            <a:srgbClr val="F4F7FC"/>
          </a:solidFill>
          <a:ln w="12700">
            <a:solidFill>
              <a:srgbClr val="E8EEF9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389120" y="212140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4389120" y="2121408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0"/>
          <p:cNvSpPr/>
          <p:nvPr/>
        </p:nvSpPr>
        <p:spPr>
          <a:xfrm>
            <a:off x="4553712" y="21214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&amp; Authorization</a:t>
            </a:r>
            <a:endParaRPr lang="en-US" sz="930" dirty="0"/>
          </a:p>
        </p:txBody>
      </p:sp>
      <p:sp>
        <p:nvSpPr>
          <p:cNvPr id="39" name="Shape 31"/>
          <p:cNvSpPr/>
          <p:nvPr/>
        </p:nvSpPr>
        <p:spPr>
          <a:xfrm>
            <a:off x="4389120" y="2505456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389120" y="2505456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3"/>
          <p:cNvSpPr/>
          <p:nvPr/>
        </p:nvSpPr>
        <p:spPr>
          <a:xfrm>
            <a:off x="4553712" y="25054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Management</a:t>
            </a:r>
            <a:endParaRPr lang="en-US" sz="930" dirty="0"/>
          </a:p>
        </p:txBody>
      </p:sp>
      <p:sp>
        <p:nvSpPr>
          <p:cNvPr id="42" name="Shape 34"/>
          <p:cNvSpPr/>
          <p:nvPr/>
        </p:nvSpPr>
        <p:spPr>
          <a:xfrm>
            <a:off x="4389120" y="2889504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4389120" y="2889504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36"/>
          <p:cNvSpPr/>
          <p:nvPr/>
        </p:nvSpPr>
        <p:spPr>
          <a:xfrm>
            <a:off x="4553712" y="28895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Management</a:t>
            </a:r>
            <a:endParaRPr lang="en-US" sz="930" dirty="0"/>
          </a:p>
        </p:txBody>
      </p:sp>
      <p:sp>
        <p:nvSpPr>
          <p:cNvPr id="45" name="Shape 37"/>
          <p:cNvSpPr/>
          <p:nvPr/>
        </p:nvSpPr>
        <p:spPr>
          <a:xfrm>
            <a:off x="4389120" y="3273552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4389120" y="3273552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39"/>
          <p:cNvSpPr/>
          <p:nvPr/>
        </p:nvSpPr>
        <p:spPr>
          <a:xfrm>
            <a:off x="4553712" y="3273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Request Management</a:t>
            </a:r>
            <a:endParaRPr lang="en-US" sz="930" dirty="0"/>
          </a:p>
        </p:txBody>
      </p:sp>
      <p:sp>
        <p:nvSpPr>
          <p:cNvPr id="48" name="Shape 40"/>
          <p:cNvSpPr/>
          <p:nvPr/>
        </p:nvSpPr>
        <p:spPr>
          <a:xfrm>
            <a:off x="4389120" y="365760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4389120" y="3657600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0" name="Text 42"/>
          <p:cNvSpPr/>
          <p:nvPr/>
        </p:nvSpPr>
        <p:spPr>
          <a:xfrm>
            <a:off x="4553712" y="3657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 Management</a:t>
            </a:r>
            <a:endParaRPr lang="en-US" sz="930" dirty="0"/>
          </a:p>
        </p:txBody>
      </p:sp>
      <p:sp>
        <p:nvSpPr>
          <p:cNvPr id="51" name="Shape 43"/>
          <p:cNvSpPr/>
          <p:nvPr/>
        </p:nvSpPr>
        <p:spPr>
          <a:xfrm>
            <a:off x="4389120" y="4041648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4389120" y="4041648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45"/>
          <p:cNvSpPr/>
          <p:nvPr/>
        </p:nvSpPr>
        <p:spPr>
          <a:xfrm>
            <a:off x="4553712" y="40416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Management</a:t>
            </a:r>
            <a:endParaRPr lang="en-US" sz="930" dirty="0"/>
          </a:p>
        </p:txBody>
      </p:sp>
      <p:sp>
        <p:nvSpPr>
          <p:cNvPr id="54" name="Shape 46"/>
          <p:cNvSpPr/>
          <p:nvPr/>
        </p:nvSpPr>
        <p:spPr>
          <a:xfrm>
            <a:off x="4389120" y="4425696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>
            <a:off x="4389120" y="4425696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6" name="Text 48"/>
          <p:cNvSpPr/>
          <p:nvPr/>
        </p:nvSpPr>
        <p:spPr>
          <a:xfrm>
            <a:off x="4553712" y="44256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930" dirty="0"/>
          </a:p>
        </p:txBody>
      </p:sp>
      <p:sp>
        <p:nvSpPr>
          <p:cNvPr id="57" name="Shape 49"/>
          <p:cNvSpPr/>
          <p:nvPr/>
        </p:nvSpPr>
        <p:spPr>
          <a:xfrm>
            <a:off x="4389120" y="4809744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4389120" y="4809744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9" name="Text 51"/>
          <p:cNvSpPr/>
          <p:nvPr/>
        </p:nvSpPr>
        <p:spPr>
          <a:xfrm>
            <a:off x="4553712" y="48097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</a:t>
            </a:r>
            <a:endParaRPr lang="en-US" sz="930" dirty="0"/>
          </a:p>
        </p:txBody>
      </p:sp>
      <p:sp>
        <p:nvSpPr>
          <p:cNvPr id="60" name="Shape 52"/>
          <p:cNvSpPr/>
          <p:nvPr/>
        </p:nvSpPr>
        <p:spPr>
          <a:xfrm>
            <a:off x="4389120" y="5193792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4389120" y="5193792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2" name="Text 54"/>
          <p:cNvSpPr/>
          <p:nvPr/>
        </p:nvSpPr>
        <p:spPr>
          <a:xfrm>
            <a:off x="4553712" y="5193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</a:t>
            </a:r>
            <a:endParaRPr lang="en-US" sz="930" dirty="0"/>
          </a:p>
        </p:txBody>
      </p:sp>
      <p:sp>
        <p:nvSpPr>
          <p:cNvPr id="63" name="Shape 55"/>
          <p:cNvSpPr/>
          <p:nvPr/>
        </p:nvSpPr>
        <p:spPr>
          <a:xfrm>
            <a:off x="4389120" y="5577840"/>
            <a:ext cx="36118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4389120" y="5577840"/>
            <a:ext cx="41148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5" name="Text 57"/>
          <p:cNvSpPr/>
          <p:nvPr/>
        </p:nvSpPr>
        <p:spPr>
          <a:xfrm>
            <a:off x="4553712" y="55778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Logs</a:t>
            </a:r>
            <a:endParaRPr lang="en-US" sz="930" dirty="0"/>
          </a:p>
        </p:txBody>
      </p:sp>
      <p:sp>
        <p:nvSpPr>
          <p:cNvPr id="66" name="Shape 58"/>
          <p:cNvSpPr/>
          <p:nvPr/>
        </p:nvSpPr>
        <p:spPr>
          <a:xfrm>
            <a:off x="3840480" y="4462272"/>
            <a:ext cx="365760" cy="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850392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2563E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SUPPORTING SERVICES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8503920" y="1938528"/>
            <a:ext cx="3035808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9" name="Shape 61"/>
          <p:cNvSpPr/>
          <p:nvPr/>
        </p:nvSpPr>
        <p:spPr>
          <a:xfrm>
            <a:off x="8732520" y="21488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</p:spPr>
      </p:sp>
      <p:pic>
        <p:nvPicPr>
          <p:cNvPr id="70" name="Image 6" descr="icons/clou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1100" y="2217420"/>
            <a:ext cx="320040" cy="320040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9326880" y="2148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Cloudinary</a:t>
            </a:r>
            <a:endParaRPr lang="en-US" sz="1150" dirty="0"/>
          </a:p>
        </p:txBody>
      </p:sp>
      <p:sp>
        <p:nvSpPr>
          <p:cNvPr id="72" name="Text 63"/>
          <p:cNvSpPr/>
          <p:nvPr/>
        </p:nvSpPr>
        <p:spPr>
          <a:xfrm>
            <a:off x="9326880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/ image storage</a:t>
            </a:r>
            <a:endParaRPr lang="en-US" sz="900" dirty="0"/>
          </a:p>
        </p:txBody>
      </p:sp>
      <p:sp>
        <p:nvSpPr>
          <p:cNvPr id="73" name="Text 64"/>
          <p:cNvSpPr/>
          <p:nvPr/>
        </p:nvSpPr>
        <p:spPr>
          <a:xfrm>
            <a:off x="8732520" y="2788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 Vendor shop image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·  Product images</a:t>
            </a:r>
            <a:endParaRPr lang="en-US" sz="930" dirty="0"/>
          </a:p>
        </p:txBody>
      </p:sp>
      <p:sp>
        <p:nvSpPr>
          <p:cNvPr id="74" name="Shape 65"/>
          <p:cNvSpPr/>
          <p:nvPr/>
        </p:nvSpPr>
        <p:spPr>
          <a:xfrm>
            <a:off x="8503920" y="3977640"/>
            <a:ext cx="3035808" cy="2002536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75" name="Shape 66"/>
          <p:cNvSpPr/>
          <p:nvPr/>
        </p:nvSpPr>
        <p:spPr>
          <a:xfrm>
            <a:off x="8732520" y="418795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F1E3D"/>
          </a:solidFill>
          <a:ln/>
        </p:spPr>
      </p:sp>
      <p:pic>
        <p:nvPicPr>
          <p:cNvPr id="76" name="Image 7" descr="icons/filepd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4256532"/>
            <a:ext cx="320040" cy="320040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9326880" y="4187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Generation</a:t>
            </a:r>
            <a:endParaRPr lang="en-US" sz="1150" dirty="0"/>
          </a:p>
        </p:txBody>
      </p:sp>
      <p:sp>
        <p:nvSpPr>
          <p:cNvPr id="78" name="Text 68"/>
          <p:cNvSpPr/>
          <p:nvPr/>
        </p:nvSpPr>
        <p:spPr>
          <a:xfrm>
            <a:off x="9326880" y="44439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receipts</a:t>
            </a:r>
            <a:endParaRPr lang="en-US" sz="900" dirty="0"/>
          </a:p>
        </p:txBody>
      </p:sp>
      <p:sp>
        <p:nvSpPr>
          <p:cNvPr id="79" name="Text 69"/>
          <p:cNvSpPr/>
          <p:nvPr/>
        </p:nvSpPr>
        <p:spPr>
          <a:xfrm>
            <a:off x="8732520" y="4846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  →  PDF receipt  →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downloaded by authorized user</a:t>
            </a:r>
            <a:endParaRPr lang="en-US" sz="930" dirty="0"/>
          </a:p>
        </p:txBody>
      </p:sp>
      <p:sp>
        <p:nvSpPr>
          <p:cNvPr id="80" name="Shape 70"/>
          <p:cNvSpPr/>
          <p:nvPr/>
        </p:nvSpPr>
        <p:spPr>
          <a:xfrm>
            <a:off x="8183880" y="2880360"/>
            <a:ext cx="320040" cy="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81" name="Shape 71"/>
          <p:cNvSpPr/>
          <p:nvPr/>
        </p:nvSpPr>
        <p:spPr>
          <a:xfrm>
            <a:off x="8183880" y="4983480"/>
            <a:ext cx="320040" cy="0"/>
          </a:xfrm>
          <a:prstGeom prst="line">
            <a:avLst/>
          </a:prstGeom>
          <a:noFill/>
          <a:ln w="19050">
            <a:solidFill>
              <a:srgbClr val="AEB8CC"/>
            </a:solidFill>
            <a:prstDash val="solid"/>
          </a:ln>
        </p:spPr>
      </p:sp>
      <p:sp>
        <p:nvSpPr>
          <p:cNvPr id="82" name="Text 72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83" name="Text 73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use cases for the four system actors.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65960" y="1481328"/>
            <a:ext cx="8275320" cy="4846320"/>
          </a:xfrm>
          <a:prstGeom prst="roundRect">
            <a:avLst>
              <a:gd name="adj" fmla="val 1132"/>
            </a:avLst>
          </a:prstGeom>
          <a:solidFill>
            <a:srgbClr val="FBFCFE"/>
          </a:solidFill>
          <a:ln w="17780">
            <a:solidFill>
              <a:srgbClr val="0F1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554480"/>
            <a:ext cx="8275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40" kern="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VENDORFLOW 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67128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ADMIN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67128" y="2084832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F1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76856" y="208483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Users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67128" y="2457907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F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6856" y="2457907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Procurement Manager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67128" y="2830982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F1E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76856" y="283098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Vendors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67128" y="3204058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F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76856" y="320405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 Requests &amp; Orders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167128" y="3577133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F1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76856" y="3577133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Reports &amp; Audit Logs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2960" y="2309774"/>
            <a:ext cx="274320" cy="274320"/>
          </a:xfrm>
          <a:prstGeom prst="ellipse">
            <a:avLst/>
          </a:prstGeom>
          <a:ln w="22860">
            <a:solidFill>
              <a:srgbClr val="0F1E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584094"/>
            <a:ext cx="0" cy="438912"/>
          </a:xfrm>
          <a:prstGeom prst="line">
            <a:avLst/>
          </a:prstGeom>
          <a:noFill/>
          <a:ln w="22860">
            <a:solidFill>
              <a:srgbClr val="0F1E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712110"/>
            <a:ext cx="548640" cy="0"/>
          </a:xfrm>
          <a:prstGeom prst="line">
            <a:avLst/>
          </a:prstGeom>
          <a:noFill/>
          <a:ln w="22860">
            <a:solidFill>
              <a:srgbClr val="0F1E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40664" y="3023006"/>
            <a:ext cx="219456" cy="310896"/>
          </a:xfrm>
          <a:prstGeom prst="line">
            <a:avLst/>
          </a:prstGeom>
          <a:noFill/>
          <a:ln w="22860">
            <a:solidFill>
              <a:srgbClr val="0F1E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023006"/>
            <a:ext cx="219456" cy="310896"/>
          </a:xfrm>
          <a:prstGeom prst="line">
            <a:avLst/>
          </a:prstGeom>
          <a:noFill/>
          <a:ln w="22860">
            <a:solidFill>
              <a:srgbClr val="0F1E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" y="338876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V="1">
            <a:off x="1289304" y="2249424"/>
            <a:ext cx="877824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289304" y="2622499"/>
            <a:ext cx="877824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89304" y="2995574"/>
            <a:ext cx="877824" cy="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9304" y="2995574"/>
            <a:ext cx="877824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89304" y="2995574"/>
            <a:ext cx="877824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67128" y="4087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2563E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PROCUREMENT MANAGER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167128" y="4343400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76856" y="43434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Review Purchase Requests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67128" y="4716475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76856" y="4716475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 Vendors / Products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167128" y="5089550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76856" y="508955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 Vendor &amp; Create PO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167128" y="5462626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76856" y="546262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 Delivery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67128" y="5835701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76856" y="5835701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Vendor Performance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2960" y="4568342"/>
            <a:ext cx="274320" cy="274320"/>
          </a:xfrm>
          <a:prstGeom prst="ellipse">
            <a:avLst/>
          </a:prstGeom>
          <a:ln w="2286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" y="4842662"/>
            <a:ext cx="0" cy="438912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4970678"/>
            <a:ext cx="548640" cy="0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740664" y="5281574"/>
            <a:ext cx="219456" cy="31089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0120" y="5281574"/>
            <a:ext cx="219456" cy="310896"/>
          </a:xfrm>
          <a:prstGeom prst="line">
            <a:avLst/>
          </a:prstGeom>
          <a:noFill/>
          <a:ln w="2286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" y="564733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" y="586679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MANAGER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 flipV="1">
            <a:off x="1289304" y="4507992"/>
            <a:ext cx="877824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1289304" y="4881067"/>
            <a:ext cx="877824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89304" y="5254142"/>
            <a:ext cx="877824" cy="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289304" y="5254142"/>
            <a:ext cx="877824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289304" y="5254142"/>
            <a:ext cx="877824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6912" y="18288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0A5F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EMPLOYEE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296912" y="2084832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0A5F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208483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 Purchase Request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296912" y="2457907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0A5F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06640" y="2457907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Confirm / Decline Extra Cost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96912" y="2830982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0A5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2830982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Order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296912" y="3204058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0A5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06640" y="3204058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Receipt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296912" y="3577133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0A5F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06640" y="3577133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Submit Evaluation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1091672" y="2309774"/>
            <a:ext cx="274320" cy="274320"/>
          </a:xfrm>
          <a:prstGeom prst="ellipse">
            <a:avLst/>
          </a:prstGeom>
          <a:ln w="22860">
            <a:solidFill>
              <a:srgbClr val="60A5F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228832" y="2584094"/>
            <a:ext cx="0" cy="438912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54512" y="2712110"/>
            <a:ext cx="548640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11009376" y="3023006"/>
            <a:ext cx="219456" cy="310896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228832" y="3023006"/>
            <a:ext cx="219456" cy="310896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360152" y="338876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10040112" y="2249424"/>
            <a:ext cx="859536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040112" y="2622499"/>
            <a:ext cx="859536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40112" y="2995574"/>
            <a:ext cx="859536" cy="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10040112" y="2995574"/>
            <a:ext cx="859536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10040112" y="2995574"/>
            <a:ext cx="859536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96912" y="4087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296912" y="4343400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06640" y="434340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Profile &amp; Shop Image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296912" y="4716475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06640" y="4716475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Product Catalog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296912" y="5089550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06640" y="508955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View Purchase Orders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96912" y="5462626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406640" y="546262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Accept / Reject Order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296912" y="5835701"/>
            <a:ext cx="2743200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06640" y="5835701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Update Delivery Status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11091672" y="4568342"/>
            <a:ext cx="274320" cy="274320"/>
          </a:xfrm>
          <a:prstGeom prst="ellipse">
            <a:avLst/>
          </a:prstGeom>
          <a:ln w="22860">
            <a:solidFill>
              <a:srgbClr val="64748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228832" y="4842662"/>
            <a:ext cx="0" cy="438912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54512" y="4970678"/>
            <a:ext cx="548640" cy="0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11009376" y="5281574"/>
            <a:ext cx="219456" cy="310896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228832" y="5281574"/>
            <a:ext cx="219456" cy="310896"/>
          </a:xfrm>
          <a:prstGeom prst="line">
            <a:avLst/>
          </a:prstGeom>
          <a:noFill/>
          <a:ln w="22860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360152" y="564733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040112" y="4507992"/>
            <a:ext cx="859536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040112" y="4881067"/>
            <a:ext cx="859536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040112" y="5254142"/>
            <a:ext cx="859536" cy="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10040112" y="5254142"/>
            <a:ext cx="859536" cy="373075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10040112" y="5254142"/>
            <a:ext cx="859536" cy="746150"/>
          </a:xfrm>
          <a:prstGeom prst="line">
            <a:avLst/>
          </a:prstGeom>
          <a:noFill/>
          <a:ln w="12700">
            <a:solidFill>
              <a:srgbClr val="BFC9D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120640" y="3749040"/>
            <a:ext cx="1965960" cy="420624"/>
          </a:xfrm>
          <a:prstGeom prst="ellipse">
            <a:avLst/>
          </a:prstGeom>
          <a:solidFill>
            <a:srgbClr val="E8EEF9"/>
          </a:solidFill>
          <a:ln w="13970">
            <a:solidFill>
              <a:srgbClr val="0F1E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212080" y="37490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/</a:t>
            </a:r>
            <a:endParaRPr lang="en-US" sz="8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2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Authenticate</a:t>
            </a:r>
            <a:endParaRPr lang="en-US" sz="820" dirty="0"/>
          </a:p>
        </p:txBody>
      </p:sp>
      <p:sp>
        <p:nvSpPr>
          <p:cNvPr id="98" name="Text 96"/>
          <p:cNvSpPr/>
          <p:nvPr/>
        </p:nvSpPr>
        <p:spPr>
          <a:xfrm>
            <a:off x="4846320" y="420624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«included by all actors»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 entities and relationships (PK = primary key, FK = foreign key).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17904"/>
            <a:ext cx="228600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0F1E3D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17904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0F1E3D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19072"/>
            <a:ext cx="2286000" cy="109728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179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768096" y="1901952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userId</a:t>
            </a:r>
            <a:endParaRPr lang="en-US" sz="760" dirty="0"/>
          </a:p>
        </p:txBody>
      </p:sp>
      <p:sp>
        <p:nvSpPr>
          <p:cNvPr id="10" name="Text 8"/>
          <p:cNvSpPr/>
          <p:nvPr/>
        </p:nvSpPr>
        <p:spPr>
          <a:xfrm>
            <a:off x="768096" y="2098548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768096" y="2295144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768096" y="2491740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768096" y="2688336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3310128" y="1517904"/>
            <a:ext cx="228600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517904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0128" y="1719072"/>
            <a:ext cx="22860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51790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PURCHASE_REQUEST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3438144" y="1901952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requestId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3438144" y="2098548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employeeId</a:t>
            </a:r>
            <a:endParaRPr lang="en-US" sz="760" dirty="0"/>
          </a:p>
        </p:txBody>
      </p:sp>
      <p:sp>
        <p:nvSpPr>
          <p:cNvPr id="20" name="Text 18"/>
          <p:cNvSpPr/>
          <p:nvPr/>
        </p:nvSpPr>
        <p:spPr>
          <a:xfrm>
            <a:off x="3438144" y="2295144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requirement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3438144" y="2491740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3438144" y="2688336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5980176" y="1517904"/>
            <a:ext cx="251460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0F1E3D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0176" y="1517904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0F1E3D"/>
          </a:solidFill>
          <a:ln/>
        </p:spPr>
      </p:sp>
      <p:sp>
        <p:nvSpPr>
          <p:cNvPr id="25" name="Shape 23"/>
          <p:cNvSpPr/>
          <p:nvPr/>
        </p:nvSpPr>
        <p:spPr>
          <a:xfrm>
            <a:off x="5980176" y="1719072"/>
            <a:ext cx="2514600" cy="109728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26" name="Text 24"/>
          <p:cNvSpPr/>
          <p:nvPr/>
        </p:nvSpPr>
        <p:spPr>
          <a:xfrm>
            <a:off x="6071616" y="151790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PURCHASE_ORDER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108192" y="1901952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poId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6108192" y="2098548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poNumber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6108192" y="2295144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requestId</a:t>
            </a:r>
            <a:endParaRPr lang="en-US" sz="760" dirty="0"/>
          </a:p>
        </p:txBody>
      </p:sp>
      <p:sp>
        <p:nvSpPr>
          <p:cNvPr id="30" name="Text 28"/>
          <p:cNvSpPr/>
          <p:nvPr/>
        </p:nvSpPr>
        <p:spPr>
          <a:xfrm>
            <a:off x="6108192" y="2491740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vendorId</a:t>
            </a:r>
            <a:endParaRPr lang="en-US" sz="760" dirty="0"/>
          </a:p>
        </p:txBody>
      </p:sp>
      <p:sp>
        <p:nvSpPr>
          <p:cNvPr id="31" name="Text 29"/>
          <p:cNvSpPr/>
          <p:nvPr/>
        </p:nvSpPr>
        <p:spPr>
          <a:xfrm>
            <a:off x="6108192" y="2688336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orderStatus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8887968" y="1517904"/>
            <a:ext cx="265176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887968" y="1517904"/>
            <a:ext cx="265176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/>
        </p:spPr>
      </p:sp>
      <p:sp>
        <p:nvSpPr>
          <p:cNvPr id="34" name="Shape 32"/>
          <p:cNvSpPr/>
          <p:nvPr/>
        </p:nvSpPr>
        <p:spPr>
          <a:xfrm>
            <a:off x="8887968" y="1719072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8979408" y="151790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9015984" y="1901952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receiptId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9015984" y="2098548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receiptNumber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9015984" y="2295144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poId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9015984" y="2491740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generatedAt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9015984" y="2688336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pdfReference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640080" y="3218688"/>
            <a:ext cx="228600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3218688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64748B"/>
          </a:solidFill>
          <a:ln/>
        </p:spPr>
      </p:sp>
      <p:sp>
        <p:nvSpPr>
          <p:cNvPr id="43" name="Shape 41"/>
          <p:cNvSpPr/>
          <p:nvPr/>
        </p:nvSpPr>
        <p:spPr>
          <a:xfrm>
            <a:off x="640080" y="3419856"/>
            <a:ext cx="228600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3218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768096" y="3602736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notificationId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768096" y="3799332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userId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768096" y="3995928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message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768096" y="4192524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type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768096" y="4389120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760" dirty="0"/>
          </a:p>
        </p:txBody>
      </p:sp>
      <p:sp>
        <p:nvSpPr>
          <p:cNvPr id="50" name="Shape 48"/>
          <p:cNvSpPr/>
          <p:nvPr/>
        </p:nvSpPr>
        <p:spPr>
          <a:xfrm>
            <a:off x="3310128" y="3218688"/>
            <a:ext cx="228600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310128" y="3218688"/>
            <a:ext cx="2286000" cy="310896"/>
          </a:xfrm>
          <a:prstGeom prst="roundRect">
            <a:avLst>
              <a:gd name="adj" fmla="val 20588"/>
            </a:avLst>
          </a:prstGeom>
          <a:solidFill>
            <a:srgbClr val="64748B"/>
          </a:solidFill>
          <a:ln/>
        </p:spPr>
      </p:sp>
      <p:sp>
        <p:nvSpPr>
          <p:cNvPr id="52" name="Shape 50"/>
          <p:cNvSpPr/>
          <p:nvPr/>
        </p:nvSpPr>
        <p:spPr>
          <a:xfrm>
            <a:off x="3310128" y="3419856"/>
            <a:ext cx="228600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3" name="Text 51"/>
          <p:cNvSpPr/>
          <p:nvPr/>
        </p:nvSpPr>
        <p:spPr>
          <a:xfrm>
            <a:off x="3401568" y="32186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AUDIT_LOG</a:t>
            </a:r>
            <a:endParaRPr lang="en-US" sz="860" dirty="0"/>
          </a:p>
        </p:txBody>
      </p:sp>
      <p:sp>
        <p:nvSpPr>
          <p:cNvPr id="54" name="Text 52"/>
          <p:cNvSpPr/>
          <p:nvPr/>
        </p:nvSpPr>
        <p:spPr>
          <a:xfrm>
            <a:off x="3438144" y="3602736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logId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3438144" y="3799332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userId</a:t>
            </a:r>
            <a:endParaRPr lang="en-US" sz="760" dirty="0"/>
          </a:p>
        </p:txBody>
      </p:sp>
      <p:sp>
        <p:nvSpPr>
          <p:cNvPr id="56" name="Text 54"/>
          <p:cNvSpPr/>
          <p:nvPr/>
        </p:nvSpPr>
        <p:spPr>
          <a:xfrm>
            <a:off x="3438144" y="3995928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action</a:t>
            </a:r>
            <a:endParaRPr lang="en-US" sz="760" dirty="0"/>
          </a:p>
        </p:txBody>
      </p:sp>
      <p:sp>
        <p:nvSpPr>
          <p:cNvPr id="57" name="Text 55"/>
          <p:cNvSpPr/>
          <p:nvPr/>
        </p:nvSpPr>
        <p:spPr>
          <a:xfrm>
            <a:off x="3438144" y="4192524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entity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3438144" y="4389120"/>
            <a:ext cx="20299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timestamp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5980176" y="3218688"/>
            <a:ext cx="251460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5240">
            <a:solidFill>
              <a:srgbClr val="0F1E3D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5980176" y="3218688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0F1E3D"/>
          </a:solidFill>
          <a:ln/>
        </p:spPr>
      </p:sp>
      <p:sp>
        <p:nvSpPr>
          <p:cNvPr id="61" name="Shape 59"/>
          <p:cNvSpPr/>
          <p:nvPr/>
        </p:nvSpPr>
        <p:spPr>
          <a:xfrm>
            <a:off x="5980176" y="3419856"/>
            <a:ext cx="2514600" cy="109728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62" name="Text 60"/>
          <p:cNvSpPr/>
          <p:nvPr/>
        </p:nvSpPr>
        <p:spPr>
          <a:xfrm>
            <a:off x="6071616" y="3218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860" dirty="0"/>
          </a:p>
        </p:txBody>
      </p:sp>
      <p:sp>
        <p:nvSpPr>
          <p:cNvPr id="63" name="Text 61"/>
          <p:cNvSpPr/>
          <p:nvPr/>
        </p:nvSpPr>
        <p:spPr>
          <a:xfrm>
            <a:off x="6108192" y="3602736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vendorId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6108192" y="3799332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companyName</a:t>
            </a:r>
            <a:endParaRPr lang="en-US" sz="760" dirty="0"/>
          </a:p>
        </p:txBody>
      </p:sp>
      <p:sp>
        <p:nvSpPr>
          <p:cNvPr id="65" name="Text 63"/>
          <p:cNvSpPr/>
          <p:nvPr/>
        </p:nvSpPr>
        <p:spPr>
          <a:xfrm>
            <a:off x="6108192" y="3995928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approvalStatus</a:t>
            </a:r>
            <a:endParaRPr lang="en-US" sz="760" dirty="0"/>
          </a:p>
        </p:txBody>
      </p:sp>
      <p:sp>
        <p:nvSpPr>
          <p:cNvPr id="66" name="Text 64"/>
          <p:cNvSpPr/>
          <p:nvPr/>
        </p:nvSpPr>
        <p:spPr>
          <a:xfrm>
            <a:off x="6108192" y="4192524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shopImage</a:t>
            </a:r>
            <a:endParaRPr lang="en-US" sz="760" dirty="0"/>
          </a:p>
        </p:txBody>
      </p:sp>
      <p:sp>
        <p:nvSpPr>
          <p:cNvPr id="67" name="Shape 65"/>
          <p:cNvSpPr/>
          <p:nvPr/>
        </p:nvSpPr>
        <p:spPr>
          <a:xfrm>
            <a:off x="8887968" y="3218688"/>
            <a:ext cx="265176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887968" y="3218688"/>
            <a:ext cx="265176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/>
        </p:spPr>
      </p:sp>
      <p:sp>
        <p:nvSpPr>
          <p:cNvPr id="69" name="Shape 67"/>
          <p:cNvSpPr/>
          <p:nvPr/>
        </p:nvSpPr>
        <p:spPr>
          <a:xfrm>
            <a:off x="8887968" y="3419856"/>
            <a:ext cx="265176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0" name="Text 68"/>
          <p:cNvSpPr/>
          <p:nvPr/>
        </p:nvSpPr>
        <p:spPr>
          <a:xfrm>
            <a:off x="8979408" y="32186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860" dirty="0"/>
          </a:p>
        </p:txBody>
      </p:sp>
      <p:sp>
        <p:nvSpPr>
          <p:cNvPr id="71" name="Text 69"/>
          <p:cNvSpPr/>
          <p:nvPr/>
        </p:nvSpPr>
        <p:spPr>
          <a:xfrm>
            <a:off x="9015984" y="3602736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evaluationId</a:t>
            </a:r>
            <a:endParaRPr lang="en-US" sz="760" dirty="0"/>
          </a:p>
        </p:txBody>
      </p:sp>
      <p:sp>
        <p:nvSpPr>
          <p:cNvPr id="72" name="Text 70"/>
          <p:cNvSpPr/>
          <p:nvPr/>
        </p:nvSpPr>
        <p:spPr>
          <a:xfrm>
            <a:off x="9015984" y="3799332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poId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9015984" y="3995928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vendorId</a:t>
            </a:r>
            <a:endParaRPr lang="en-US" sz="760" dirty="0"/>
          </a:p>
        </p:txBody>
      </p:sp>
      <p:sp>
        <p:nvSpPr>
          <p:cNvPr id="74" name="Text 72"/>
          <p:cNvSpPr/>
          <p:nvPr/>
        </p:nvSpPr>
        <p:spPr>
          <a:xfrm>
            <a:off x="9015984" y="4192524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qualityRating</a:t>
            </a:r>
            <a:endParaRPr lang="en-US" sz="760" dirty="0"/>
          </a:p>
        </p:txBody>
      </p:sp>
      <p:sp>
        <p:nvSpPr>
          <p:cNvPr id="75" name="Text 73"/>
          <p:cNvSpPr/>
          <p:nvPr/>
        </p:nvSpPr>
        <p:spPr>
          <a:xfrm>
            <a:off x="9015984" y="4389120"/>
            <a:ext cx="2395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overallRating</a:t>
            </a:r>
            <a:endParaRPr lang="en-US" sz="760" dirty="0"/>
          </a:p>
        </p:txBody>
      </p:sp>
      <p:sp>
        <p:nvSpPr>
          <p:cNvPr id="76" name="Shape 74"/>
          <p:cNvSpPr/>
          <p:nvPr/>
        </p:nvSpPr>
        <p:spPr>
          <a:xfrm>
            <a:off x="5980176" y="4791456"/>
            <a:ext cx="2514600" cy="14401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E3D">
                <a:alpha val="7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980176" y="4791456"/>
            <a:ext cx="251460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/>
        </p:spPr>
      </p:sp>
      <p:sp>
        <p:nvSpPr>
          <p:cNvPr id="78" name="Shape 76"/>
          <p:cNvSpPr/>
          <p:nvPr/>
        </p:nvSpPr>
        <p:spPr>
          <a:xfrm>
            <a:off x="5980176" y="4992624"/>
            <a:ext cx="251460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9" name="Text 77"/>
          <p:cNvSpPr/>
          <p:nvPr/>
        </p:nvSpPr>
        <p:spPr>
          <a:xfrm>
            <a:off x="6071616" y="47914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</a:t>
            </a:r>
            <a:endParaRPr lang="en-US" sz="860" dirty="0"/>
          </a:p>
        </p:txBody>
      </p:sp>
      <p:sp>
        <p:nvSpPr>
          <p:cNvPr id="80" name="Text 78"/>
          <p:cNvSpPr/>
          <p:nvPr/>
        </p:nvSpPr>
        <p:spPr>
          <a:xfrm>
            <a:off x="6108192" y="5175504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PK  productId</a:t>
            </a:r>
            <a:endParaRPr lang="en-US" sz="760" dirty="0"/>
          </a:p>
        </p:txBody>
      </p:sp>
      <p:sp>
        <p:nvSpPr>
          <p:cNvPr id="81" name="Text 79"/>
          <p:cNvSpPr/>
          <p:nvPr/>
        </p:nvSpPr>
        <p:spPr>
          <a:xfrm>
            <a:off x="6108192" y="5372100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FK  vendorId</a:t>
            </a:r>
            <a:endParaRPr lang="en-US" sz="760" dirty="0"/>
          </a:p>
        </p:txBody>
      </p:sp>
      <p:sp>
        <p:nvSpPr>
          <p:cNvPr id="82" name="Text 80"/>
          <p:cNvSpPr/>
          <p:nvPr/>
        </p:nvSpPr>
        <p:spPr>
          <a:xfrm>
            <a:off x="6108192" y="5568696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 / category</a:t>
            </a:r>
            <a:endParaRPr lang="en-US" sz="760" dirty="0"/>
          </a:p>
        </p:txBody>
      </p:sp>
      <p:sp>
        <p:nvSpPr>
          <p:cNvPr id="83" name="Text 81"/>
          <p:cNvSpPr/>
          <p:nvPr/>
        </p:nvSpPr>
        <p:spPr>
          <a:xfrm>
            <a:off x="6108192" y="5765292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 / quantity</a:t>
            </a:r>
            <a:endParaRPr lang="en-US" sz="760" dirty="0"/>
          </a:p>
        </p:txBody>
      </p:sp>
      <p:sp>
        <p:nvSpPr>
          <p:cNvPr id="84" name="Text 82"/>
          <p:cNvSpPr/>
          <p:nvPr/>
        </p:nvSpPr>
        <p:spPr>
          <a:xfrm>
            <a:off x="6108192" y="5961888"/>
            <a:ext cx="225856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availability</a:t>
            </a:r>
            <a:endParaRPr lang="en-US" sz="760" dirty="0"/>
          </a:p>
        </p:txBody>
      </p:sp>
      <p:sp>
        <p:nvSpPr>
          <p:cNvPr id="85" name="Shape 83"/>
          <p:cNvSpPr/>
          <p:nvPr/>
        </p:nvSpPr>
        <p:spPr>
          <a:xfrm>
            <a:off x="2926080" y="2237994"/>
            <a:ext cx="384048" cy="0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807208" y="195453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1:N</a:t>
            </a:r>
            <a:endParaRPr lang="en-US" sz="740" dirty="0"/>
          </a:p>
        </p:txBody>
      </p:sp>
      <p:sp>
        <p:nvSpPr>
          <p:cNvPr id="87" name="Shape 85"/>
          <p:cNvSpPr/>
          <p:nvPr/>
        </p:nvSpPr>
        <p:spPr>
          <a:xfrm>
            <a:off x="5596128" y="2237994"/>
            <a:ext cx="384048" cy="0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77256" y="195453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1:1</a:t>
            </a:r>
            <a:endParaRPr lang="en-US" sz="740" dirty="0"/>
          </a:p>
        </p:txBody>
      </p:sp>
      <p:sp>
        <p:nvSpPr>
          <p:cNvPr id="89" name="Shape 87"/>
          <p:cNvSpPr/>
          <p:nvPr/>
        </p:nvSpPr>
        <p:spPr>
          <a:xfrm>
            <a:off x="8494776" y="2237994"/>
            <a:ext cx="393192" cy="0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80476" y="1954530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1:1</a:t>
            </a:r>
            <a:endParaRPr lang="en-US" sz="740" dirty="0"/>
          </a:p>
        </p:txBody>
      </p:sp>
      <p:sp>
        <p:nvSpPr>
          <p:cNvPr id="91" name="Shape 89"/>
          <p:cNvSpPr/>
          <p:nvPr/>
        </p:nvSpPr>
        <p:spPr>
          <a:xfrm>
            <a:off x="1783080" y="2958084"/>
            <a:ext cx="0" cy="260604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837944" y="293293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1:N</a:t>
            </a:r>
            <a:endParaRPr lang="en-US" sz="740" dirty="0"/>
          </a:p>
        </p:txBody>
      </p:sp>
      <p:sp>
        <p:nvSpPr>
          <p:cNvPr id="93" name="Shape 91"/>
          <p:cNvSpPr/>
          <p:nvPr/>
        </p:nvSpPr>
        <p:spPr>
          <a:xfrm>
            <a:off x="7237476" y="2958084"/>
            <a:ext cx="0" cy="260604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292340" y="293293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N:1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7237476" y="4462272"/>
            <a:ext cx="0" cy="329184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292340" y="447141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1:N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2468880" y="2958084"/>
            <a:ext cx="0" cy="132588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68880" y="3090672"/>
            <a:ext cx="1984248" cy="0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453128" y="3090672"/>
            <a:ext cx="0" cy="128016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526280" y="30266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1:N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8092440" y="2958084"/>
            <a:ext cx="0" cy="132588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092440" y="3090672"/>
            <a:ext cx="2121408" cy="0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213848" y="3090672"/>
            <a:ext cx="0" cy="128016"/>
          </a:xfrm>
          <a:prstGeom prst="line">
            <a:avLst/>
          </a:prstGeom>
          <a:noFill/>
          <a:ln w="16510">
            <a:solidFill>
              <a:srgbClr val="9FAEC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0287000" y="30266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1:1</a:t>
            </a:r>
            <a:endParaRPr lang="en-US" sz="740" dirty="0"/>
          </a:p>
        </p:txBody>
      </p:sp>
      <p:sp>
        <p:nvSpPr>
          <p:cNvPr id="105" name="Text 103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Description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Thirteen modules make up the VENDORFLOW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7556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F1E3D"/>
          </a:solidFill>
          <a:ln/>
        </p:spPr>
      </p:sp>
      <p:pic>
        <p:nvPicPr>
          <p:cNvPr id="7" name="Image 0" descr="icons/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478" y="1818742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98448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&amp; User Management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98448" y="1920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registration, login and role-based access.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67912" y="16276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434840" y="153619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81144" y="17556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13" name="Image 1" descr="icons/user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238" y="181874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93208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Onboarding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93208" y="1920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Handles vendor registration, verification and approval.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662672" y="16276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8229600" y="153619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75904" y="17556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F1E3D"/>
          </a:solidFill>
          <a:ln/>
        </p:spPr>
      </p:sp>
      <p:pic>
        <p:nvPicPr>
          <p:cNvPr id="19" name="Image 2" descr="icons/st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998" y="1818742"/>
            <a:ext cx="294437" cy="29443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87968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Management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887968" y="1920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Maintains vendor profiles, shop image and status.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11457432" y="162763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03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640080" y="249631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86384" y="27157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25" name="Image 3" descr="icons/box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78" y="2778862"/>
            <a:ext cx="294437" cy="294437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98448" y="2606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Catalog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298448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Lets vendors add and manage products and images.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3867912" y="2587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4434840" y="249631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81144" y="27157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F1E3D"/>
          </a:solidFill>
          <a:ln/>
        </p:spPr>
      </p:sp>
      <p:pic>
        <p:nvPicPr>
          <p:cNvPr id="31" name="Image 4" descr="icons/clipboard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238" y="2778862"/>
            <a:ext cx="294437" cy="29443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93208" y="2606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Request Management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093208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Lets employees raise and track purchase requests.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7662672" y="2587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05</a:t>
            </a:r>
            <a:endParaRPr lang="en-US" sz="750" dirty="0"/>
          </a:p>
        </p:txBody>
      </p:sp>
      <p:sp>
        <p:nvSpPr>
          <p:cNvPr id="35" name="Shape 28"/>
          <p:cNvSpPr/>
          <p:nvPr/>
        </p:nvSpPr>
        <p:spPr>
          <a:xfrm>
            <a:off x="8229600" y="249631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375904" y="271576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37" name="Image 5" descr="icons/balanc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998" y="2778862"/>
            <a:ext cx="294437" cy="294437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887968" y="26060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/ Product Comparison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8887968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Compares price, stock, specs and delivery time.</a:t>
            </a:r>
            <a:endParaRPr lang="en-US" sz="850" dirty="0"/>
          </a:p>
        </p:txBody>
      </p:sp>
      <p:sp>
        <p:nvSpPr>
          <p:cNvPr id="40" name="Text 32"/>
          <p:cNvSpPr/>
          <p:nvPr/>
        </p:nvSpPr>
        <p:spPr>
          <a:xfrm>
            <a:off x="11457432" y="258775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06</a:t>
            </a:r>
            <a:endParaRPr lang="en-US" sz="750" dirty="0"/>
          </a:p>
        </p:txBody>
      </p:sp>
      <p:sp>
        <p:nvSpPr>
          <p:cNvPr id="41" name="Shape 33"/>
          <p:cNvSpPr/>
          <p:nvPr/>
        </p:nvSpPr>
        <p:spPr>
          <a:xfrm>
            <a:off x="640080" y="345643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786384" y="36758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F1E3D"/>
          </a:solidFill>
          <a:ln/>
        </p:spPr>
      </p:sp>
      <p:pic>
        <p:nvPicPr>
          <p:cNvPr id="43" name="Image 6" descr="icons/invoic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478" y="3738982"/>
            <a:ext cx="294437" cy="294437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298448" y="3566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Purchase Order Management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1298448" y="3840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Creates and manages purchase orders with references.</a:t>
            </a:r>
            <a:endParaRPr lang="en-US" sz="850" dirty="0"/>
          </a:p>
        </p:txBody>
      </p:sp>
      <p:sp>
        <p:nvSpPr>
          <p:cNvPr id="46" name="Text 37"/>
          <p:cNvSpPr/>
          <p:nvPr/>
        </p:nvSpPr>
        <p:spPr>
          <a:xfrm>
            <a:off x="3867912" y="35478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07</a:t>
            </a:r>
            <a:endParaRPr lang="en-US" sz="750" dirty="0"/>
          </a:p>
        </p:txBody>
      </p:sp>
      <p:sp>
        <p:nvSpPr>
          <p:cNvPr id="47" name="Shape 38"/>
          <p:cNvSpPr/>
          <p:nvPr/>
        </p:nvSpPr>
        <p:spPr>
          <a:xfrm>
            <a:off x="4434840" y="345643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581144" y="36758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49" name="Image 7" descr="icons/shippingfa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4238" y="3738982"/>
            <a:ext cx="294437" cy="294437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093208" y="3566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&amp; Delivery Management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5093208" y="3840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Tracks fulfilment status through to delivery.</a:t>
            </a:r>
            <a:endParaRPr lang="en-US" sz="850" dirty="0"/>
          </a:p>
        </p:txBody>
      </p:sp>
      <p:sp>
        <p:nvSpPr>
          <p:cNvPr id="52" name="Text 42"/>
          <p:cNvSpPr/>
          <p:nvPr/>
        </p:nvSpPr>
        <p:spPr>
          <a:xfrm>
            <a:off x="7662672" y="35478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08</a:t>
            </a:r>
            <a:endParaRPr lang="en-US" sz="750" dirty="0"/>
          </a:p>
        </p:txBody>
      </p:sp>
      <p:sp>
        <p:nvSpPr>
          <p:cNvPr id="53" name="Shape 43"/>
          <p:cNvSpPr/>
          <p:nvPr/>
        </p:nvSpPr>
        <p:spPr>
          <a:xfrm>
            <a:off x="8229600" y="345643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8375904" y="367588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F1E3D"/>
          </a:solidFill>
          <a:ln/>
        </p:spPr>
      </p:sp>
      <p:pic>
        <p:nvPicPr>
          <p:cNvPr id="55" name="Image 8" descr="icons/bell2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8998" y="3738982"/>
            <a:ext cx="294437" cy="294437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887968" y="3566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57" name="Text 46"/>
          <p:cNvSpPr/>
          <p:nvPr/>
        </p:nvSpPr>
        <p:spPr>
          <a:xfrm>
            <a:off x="8887968" y="38404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Alerts users about request, order and delivery events.</a:t>
            </a:r>
            <a:endParaRPr lang="en-US" sz="850" dirty="0"/>
          </a:p>
        </p:txBody>
      </p:sp>
      <p:sp>
        <p:nvSpPr>
          <p:cNvPr id="58" name="Text 47"/>
          <p:cNvSpPr/>
          <p:nvPr/>
        </p:nvSpPr>
        <p:spPr>
          <a:xfrm>
            <a:off x="11457432" y="35478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09</a:t>
            </a:r>
            <a:endParaRPr lang="en-US" sz="750" dirty="0"/>
          </a:p>
        </p:txBody>
      </p:sp>
      <p:sp>
        <p:nvSpPr>
          <p:cNvPr id="59" name="Shape 48"/>
          <p:cNvSpPr/>
          <p:nvPr/>
        </p:nvSpPr>
        <p:spPr>
          <a:xfrm>
            <a:off x="640080" y="441655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786384" y="46360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61" name="Image 9" descr="icons/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478" y="4699102"/>
            <a:ext cx="294437" cy="294437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1298448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Evaluation</a:t>
            </a:r>
            <a:endParaRPr lang="en-US" sz="1000" dirty="0"/>
          </a:p>
        </p:txBody>
      </p:sp>
      <p:sp>
        <p:nvSpPr>
          <p:cNvPr id="63" name="Text 51"/>
          <p:cNvSpPr/>
          <p:nvPr/>
        </p:nvSpPr>
        <p:spPr>
          <a:xfrm>
            <a:off x="1298448" y="4800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 post-delivery ratings for each vendor.</a:t>
            </a:r>
            <a:endParaRPr lang="en-US" sz="850" dirty="0"/>
          </a:p>
        </p:txBody>
      </p:sp>
      <p:sp>
        <p:nvSpPr>
          <p:cNvPr id="64" name="Text 52"/>
          <p:cNvSpPr/>
          <p:nvPr/>
        </p:nvSpPr>
        <p:spPr>
          <a:xfrm>
            <a:off x="3867912" y="45079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</a:t>
            </a:r>
            <a:endParaRPr lang="en-US" sz="750" dirty="0"/>
          </a:p>
        </p:txBody>
      </p:sp>
      <p:sp>
        <p:nvSpPr>
          <p:cNvPr id="65" name="Shape 53"/>
          <p:cNvSpPr/>
          <p:nvPr/>
        </p:nvSpPr>
        <p:spPr>
          <a:xfrm>
            <a:off x="4434840" y="441655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6" name="Shape 54"/>
          <p:cNvSpPr/>
          <p:nvPr/>
        </p:nvSpPr>
        <p:spPr>
          <a:xfrm>
            <a:off x="4581144" y="46360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F1E3D"/>
          </a:solidFill>
          <a:ln/>
        </p:spPr>
      </p:sp>
      <p:pic>
        <p:nvPicPr>
          <p:cNvPr id="67" name="Image 10" descr="icons/chartb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4238" y="4699102"/>
            <a:ext cx="294437" cy="294437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5093208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 &amp; Analytics</a:t>
            </a:r>
            <a:endParaRPr lang="en-US" sz="1000" dirty="0"/>
          </a:p>
        </p:txBody>
      </p:sp>
      <p:sp>
        <p:nvSpPr>
          <p:cNvPr id="69" name="Text 56"/>
          <p:cNvSpPr/>
          <p:nvPr/>
        </p:nvSpPr>
        <p:spPr>
          <a:xfrm>
            <a:off x="5093208" y="4800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Presents procurement and vendor information.</a:t>
            </a:r>
            <a:endParaRPr lang="en-US" sz="850" dirty="0"/>
          </a:p>
        </p:txBody>
      </p:sp>
      <p:sp>
        <p:nvSpPr>
          <p:cNvPr id="70" name="Text 57"/>
          <p:cNvSpPr/>
          <p:nvPr/>
        </p:nvSpPr>
        <p:spPr>
          <a:xfrm>
            <a:off x="7662672" y="45079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11</a:t>
            </a:r>
            <a:endParaRPr lang="en-US" sz="750" dirty="0"/>
          </a:p>
        </p:txBody>
      </p:sp>
      <p:sp>
        <p:nvSpPr>
          <p:cNvPr id="71" name="Shape 58"/>
          <p:cNvSpPr/>
          <p:nvPr/>
        </p:nvSpPr>
        <p:spPr>
          <a:xfrm>
            <a:off x="8229600" y="441655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72" name="Shape 59"/>
          <p:cNvSpPr/>
          <p:nvPr/>
        </p:nvSpPr>
        <p:spPr>
          <a:xfrm>
            <a:off x="8375904" y="463600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563EB"/>
          </a:solidFill>
          <a:ln/>
        </p:spPr>
      </p:sp>
      <p:pic>
        <p:nvPicPr>
          <p:cNvPr id="73" name="Image 11" descr="icons/histor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8998" y="4699102"/>
            <a:ext cx="294437" cy="294437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8887968" y="4526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Logs</a:t>
            </a:r>
            <a:endParaRPr lang="en-US" sz="1000" dirty="0"/>
          </a:p>
        </p:txBody>
      </p:sp>
      <p:sp>
        <p:nvSpPr>
          <p:cNvPr id="75" name="Text 61"/>
          <p:cNvSpPr/>
          <p:nvPr/>
        </p:nvSpPr>
        <p:spPr>
          <a:xfrm>
            <a:off x="8887968" y="4800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 important system activities for review.</a:t>
            </a:r>
            <a:endParaRPr lang="en-US" sz="850" dirty="0"/>
          </a:p>
        </p:txBody>
      </p:sp>
      <p:sp>
        <p:nvSpPr>
          <p:cNvPr id="76" name="Text 62"/>
          <p:cNvSpPr/>
          <p:nvPr/>
        </p:nvSpPr>
        <p:spPr>
          <a:xfrm>
            <a:off x="11457432" y="450799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12</a:t>
            </a:r>
            <a:endParaRPr lang="en-US" sz="750" dirty="0"/>
          </a:p>
        </p:txBody>
      </p:sp>
      <p:sp>
        <p:nvSpPr>
          <p:cNvPr id="77" name="Shape 63"/>
          <p:cNvSpPr/>
          <p:nvPr/>
        </p:nvSpPr>
        <p:spPr>
          <a:xfrm>
            <a:off x="640080" y="5376672"/>
            <a:ext cx="361188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78" name="Shape 64"/>
          <p:cNvSpPr/>
          <p:nvPr/>
        </p:nvSpPr>
        <p:spPr>
          <a:xfrm>
            <a:off x="786384" y="559612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0F1E3D"/>
          </a:solidFill>
          <a:ln/>
        </p:spPr>
      </p:sp>
      <p:pic>
        <p:nvPicPr>
          <p:cNvPr id="79" name="Image 12" descr="icons/filepd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478" y="5659222"/>
            <a:ext cx="294437" cy="294437"/>
          </a:xfrm>
          <a:prstGeom prst="rect">
            <a:avLst/>
          </a:prstGeom>
        </p:spPr>
      </p:pic>
      <p:sp>
        <p:nvSpPr>
          <p:cNvPr id="80" name="Text 65"/>
          <p:cNvSpPr/>
          <p:nvPr/>
        </p:nvSpPr>
        <p:spPr>
          <a:xfrm>
            <a:off x="1298448" y="54864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 Generation</a:t>
            </a:r>
            <a:endParaRPr lang="en-US" sz="1000" dirty="0"/>
          </a:p>
        </p:txBody>
      </p:sp>
      <p:sp>
        <p:nvSpPr>
          <p:cNvPr id="81" name="Text 66"/>
          <p:cNvSpPr/>
          <p:nvPr/>
        </p:nvSpPr>
        <p:spPr>
          <a:xfrm>
            <a:off x="1298448" y="5760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Produces downloadable PDF receipts for orders.</a:t>
            </a:r>
            <a:endParaRPr lang="en-US" sz="850" dirty="0"/>
          </a:p>
        </p:txBody>
      </p:sp>
      <p:sp>
        <p:nvSpPr>
          <p:cNvPr id="82" name="Text 67"/>
          <p:cNvSpPr/>
          <p:nvPr/>
        </p:nvSpPr>
        <p:spPr>
          <a:xfrm>
            <a:off x="3867912" y="546811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7C1D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13</a:t>
            </a:r>
            <a:endParaRPr lang="en-US" sz="750" dirty="0"/>
          </a:p>
        </p:txBody>
      </p:sp>
      <p:sp>
        <p:nvSpPr>
          <p:cNvPr id="83" name="Text 68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84" name="Text 69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MERN architecture with supporting libraries and services.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1883664" cy="566928"/>
          </a:xfrm>
          <a:prstGeom prst="roundRect">
            <a:avLst>
              <a:gd name="adj" fmla="val 1290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642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React.js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523744" y="1664208"/>
            <a:ext cx="372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896362" y="1664208"/>
            <a:ext cx="1883664" cy="566928"/>
          </a:xfrm>
          <a:prstGeom prst="roundRect">
            <a:avLst>
              <a:gd name="adj" fmla="val 12903"/>
            </a:avLst>
          </a:prstGeom>
          <a:solidFill>
            <a:srgbClr val="E8EEF9"/>
          </a:solidFill>
          <a:ln w="12700">
            <a:solidFill>
              <a:srgbClr val="C5D2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42082" y="16642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80026" y="1664208"/>
            <a:ext cx="372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52644" y="1664208"/>
            <a:ext cx="1883664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8364" y="16642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+ Express.js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036308" y="1664208"/>
            <a:ext cx="372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08926" y="1664208"/>
            <a:ext cx="1883664" cy="566928"/>
          </a:xfrm>
          <a:prstGeom prst="roundRect">
            <a:avLst>
              <a:gd name="adj" fmla="val 12903"/>
            </a:avLst>
          </a:prstGeom>
          <a:solidFill>
            <a:srgbClr val="E8EEF9"/>
          </a:solidFill>
          <a:ln w="12700">
            <a:solidFill>
              <a:srgbClr val="C5D2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4646" y="16642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Mongoose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292590" y="1664208"/>
            <a:ext cx="3726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B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65208" y="1664208"/>
            <a:ext cx="1883664" cy="566928"/>
          </a:xfrm>
          <a:prstGeom prst="roundRect">
            <a:avLst>
              <a:gd name="adj" fmla="val 12903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0928" y="1664208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670048"/>
            <a:ext cx="267919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2907792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1E3D"/>
          </a:solidFill>
          <a:ln/>
        </p:spPr>
      </p:sp>
      <p:pic>
        <p:nvPicPr>
          <p:cNvPr id="21" name="Image 0" descr="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2984602"/>
            <a:ext cx="358445" cy="35844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59536" y="35112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59536" y="3858768"/>
            <a:ext cx="49377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9536" y="39502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React.js  ·  JavaScript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Vite  ·  CSS / UI components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474720" y="2670048"/>
            <a:ext cx="267919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694176" y="2907792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2563EB"/>
          </a:solidFill>
          <a:ln/>
        </p:spPr>
      </p:sp>
      <p:pic>
        <p:nvPicPr>
          <p:cNvPr id="27" name="Image 1" descr="icons/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986" y="2984602"/>
            <a:ext cx="358445" cy="35844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694176" y="35112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694176" y="3858768"/>
            <a:ext cx="49377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694176" y="39502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Node.js  ·  Express.js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REST APIs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309360" y="2670048"/>
            <a:ext cx="267919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528816" y="2907792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1E3D"/>
          </a:solidFill>
          <a:ln/>
        </p:spPr>
      </p:sp>
      <p:pic>
        <p:nvPicPr>
          <p:cNvPr id="33" name="Image 2" descr="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26" y="2984602"/>
            <a:ext cx="358445" cy="35844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528816" y="35112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528816" y="3858768"/>
            <a:ext cx="49377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528816" y="39502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MongoDB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Mongoose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144000" y="2670048"/>
            <a:ext cx="267919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9363456" y="2907792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2563EB"/>
          </a:solidFill>
          <a:ln/>
        </p:spPr>
      </p:sp>
      <p:pic>
        <p:nvPicPr>
          <p:cNvPr id="39" name="Image 3" descr="icons/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0266" y="2984602"/>
            <a:ext cx="358445" cy="358445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9363456" y="3511296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Authentication &amp; Security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9363456" y="3858768"/>
            <a:ext cx="49377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9363456" y="3950208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JWT  ·  bcryptjs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Access Control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640080" y="4608576"/>
            <a:ext cx="267919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859536" y="484632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1E3D"/>
          </a:solidFill>
          <a:ln/>
        </p:spPr>
      </p:sp>
      <p:pic>
        <p:nvPicPr>
          <p:cNvPr id="45" name="Image 4" descr="icons/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4923130"/>
            <a:ext cx="358445" cy="358445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59536" y="544982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/ Image Storage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859536" y="5797296"/>
            <a:ext cx="49377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859536" y="58887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Cloudinary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Multer (upload handling)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3474720" y="4608576"/>
            <a:ext cx="267919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0" name="Shape 43"/>
          <p:cNvSpPr/>
          <p:nvPr/>
        </p:nvSpPr>
        <p:spPr>
          <a:xfrm>
            <a:off x="3694176" y="484632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2563EB"/>
          </a:solidFill>
          <a:ln/>
        </p:spPr>
      </p:sp>
      <p:pic>
        <p:nvPicPr>
          <p:cNvPr id="51" name="Image 5" descr="icons/filepd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986" y="4923130"/>
            <a:ext cx="358445" cy="358445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3694176" y="544982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Document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3694176" y="5797296"/>
            <a:ext cx="49377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3694176" y="58887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PDF generation library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purchase receipts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6309360" y="4608576"/>
            <a:ext cx="2679192" cy="175564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6528816" y="484632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F1E3D"/>
          </a:solidFill>
          <a:ln/>
        </p:spPr>
      </p:sp>
      <p:pic>
        <p:nvPicPr>
          <p:cNvPr id="57" name="Image 6" descr="icons/gi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626" y="4923130"/>
            <a:ext cx="358445" cy="358445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6528816" y="544982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59" name="Shape 50"/>
          <p:cNvSpPr/>
          <p:nvPr/>
        </p:nvSpPr>
        <p:spPr>
          <a:xfrm>
            <a:off x="6528816" y="5797296"/>
            <a:ext cx="49377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60" name="Text 51"/>
          <p:cNvSpPr/>
          <p:nvPr/>
        </p:nvSpPr>
        <p:spPr>
          <a:xfrm>
            <a:off x="6528816" y="5888736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</a:t>
            </a:r>
            <a:endParaRPr lang="en-US" sz="900" dirty="0"/>
          </a:p>
        </p:txBody>
      </p:sp>
      <p:sp>
        <p:nvSpPr>
          <p:cNvPr id="61" name="Text 52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62" name="Text 53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 Design — Authentication &amp; Dashboard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screen and the role-based dashboard.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636776"/>
            <a:ext cx="5330952" cy="274320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691640"/>
            <a:ext cx="4617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168249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vendorflow.app / login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9224" y="1911096"/>
            <a:ext cx="2665476" cy="368503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53512"/>
            <a:ext cx="21259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" y="3328416"/>
            <a:ext cx="3657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74720"/>
            <a:ext cx="21259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Management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and Procurement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34740" y="2286000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in to your account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34740" y="2743200"/>
            <a:ext cx="203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Email address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34740" y="2935224"/>
            <a:ext cx="20345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4468" y="2935224"/>
            <a:ext cx="18516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thanesh@company.com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34740" y="3401568"/>
            <a:ext cx="203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Password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34740" y="3593592"/>
            <a:ext cx="203454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4468" y="3593592"/>
            <a:ext cx="18516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••••••••••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34740" y="4059936"/>
            <a:ext cx="203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34740" y="4251960"/>
            <a:ext cx="4663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4740" y="42519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</a:t>
            </a:r>
            <a:endParaRPr lang="en-US" sz="560" dirty="0"/>
          </a:p>
        </p:txBody>
      </p:sp>
      <p:sp>
        <p:nvSpPr>
          <p:cNvPr id="26" name="Shape 24"/>
          <p:cNvSpPr/>
          <p:nvPr/>
        </p:nvSpPr>
        <p:spPr>
          <a:xfrm>
            <a:off x="4146804" y="4251960"/>
            <a:ext cx="4663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6804" y="42519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</a:t>
            </a:r>
            <a:endParaRPr lang="en-US" sz="560" dirty="0"/>
          </a:p>
        </p:txBody>
      </p:sp>
      <p:sp>
        <p:nvSpPr>
          <p:cNvPr id="28" name="Shape 26"/>
          <p:cNvSpPr/>
          <p:nvPr/>
        </p:nvSpPr>
        <p:spPr>
          <a:xfrm>
            <a:off x="4658868" y="4251960"/>
            <a:ext cx="466344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8868" y="42519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</a:t>
            </a:r>
            <a:endParaRPr lang="en-US" sz="560" dirty="0"/>
          </a:p>
        </p:txBody>
      </p:sp>
      <p:sp>
        <p:nvSpPr>
          <p:cNvPr id="30" name="Shape 28"/>
          <p:cNvSpPr/>
          <p:nvPr/>
        </p:nvSpPr>
        <p:spPr>
          <a:xfrm>
            <a:off x="5170932" y="4251960"/>
            <a:ext cx="4663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0932" y="4251960"/>
            <a:ext cx="466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</a:t>
            </a:r>
            <a:endParaRPr lang="en-US" sz="560" dirty="0"/>
          </a:p>
        </p:txBody>
      </p:sp>
      <p:sp>
        <p:nvSpPr>
          <p:cNvPr id="32" name="Shape 30"/>
          <p:cNvSpPr/>
          <p:nvPr/>
        </p:nvSpPr>
        <p:spPr>
          <a:xfrm>
            <a:off x="3634740" y="4663440"/>
            <a:ext cx="2034540" cy="329184"/>
          </a:xfrm>
          <a:prstGeom prst="roundRect">
            <a:avLst>
              <a:gd name="adj" fmla="val 16667"/>
            </a:avLst>
          </a:prstGeom>
          <a:solidFill>
            <a:srgbClr val="0F1E3D"/>
          </a:solidFill>
          <a:ln/>
        </p:spPr>
      </p:sp>
      <p:sp>
        <p:nvSpPr>
          <p:cNvPr id="33" name="Text 31"/>
          <p:cNvSpPr/>
          <p:nvPr/>
        </p:nvSpPr>
        <p:spPr>
          <a:xfrm>
            <a:off x="3634740" y="4663440"/>
            <a:ext cx="20345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 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715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with secure authentication and role selection (FR1, FR2)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99632" y="1627632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1636776"/>
            <a:ext cx="5330952" cy="274320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37" name="Shape 35"/>
          <p:cNvSpPr/>
          <p:nvPr/>
        </p:nvSpPr>
        <p:spPr>
          <a:xfrm>
            <a:off x="6318504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38" name="Shape 36"/>
          <p:cNvSpPr/>
          <p:nvPr/>
        </p:nvSpPr>
        <p:spPr>
          <a:xfrm>
            <a:off x="6464808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39" name="Shape 37"/>
          <p:cNvSpPr/>
          <p:nvPr/>
        </p:nvSpPr>
        <p:spPr>
          <a:xfrm>
            <a:off x="6611112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0" y="1691640"/>
            <a:ext cx="4617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0" y="168249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vendorflow.app / dashboard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208776" y="1911096"/>
            <a:ext cx="1234440" cy="368503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43" name="Text 41"/>
          <p:cNvSpPr/>
          <p:nvPr/>
        </p:nvSpPr>
        <p:spPr>
          <a:xfrm>
            <a:off x="6327648" y="20391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81928" y="2359152"/>
            <a:ext cx="1088136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6373368" y="235915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6373368" y="265176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Requests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6373368" y="2944368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6373368" y="3236976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Products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6373368" y="3529584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Orders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6373368" y="38221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Reports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6373368" y="4114800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Audit Logs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516368" y="2039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 Dashboard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0405872" y="2039112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E8EEF9"/>
          </a:solidFill>
          <a:ln/>
        </p:spPr>
      </p:sp>
      <p:sp>
        <p:nvSpPr>
          <p:cNvPr id="54" name="Text 52"/>
          <p:cNvSpPr/>
          <p:nvPr/>
        </p:nvSpPr>
        <p:spPr>
          <a:xfrm>
            <a:off x="10405872" y="20391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 Mgr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7516368" y="2404872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246888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589520" y="27614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Requests</a:t>
            </a:r>
            <a:endParaRPr lang="en-US" sz="630" dirty="0"/>
          </a:p>
        </p:txBody>
      </p:sp>
      <p:sp>
        <p:nvSpPr>
          <p:cNvPr id="58" name="Shape 56"/>
          <p:cNvSpPr/>
          <p:nvPr/>
        </p:nvSpPr>
        <p:spPr>
          <a:xfrm>
            <a:off x="8522208" y="2404872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595360" y="246888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595360" y="27614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Active POs</a:t>
            </a:r>
            <a:endParaRPr lang="en-US" sz="630" dirty="0"/>
          </a:p>
        </p:txBody>
      </p:sp>
      <p:sp>
        <p:nvSpPr>
          <p:cNvPr id="61" name="Shape 59"/>
          <p:cNvSpPr/>
          <p:nvPr/>
        </p:nvSpPr>
        <p:spPr>
          <a:xfrm>
            <a:off x="9528048" y="2404872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01200" y="246888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36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601200" y="27614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Vendors</a:t>
            </a:r>
            <a:endParaRPr lang="en-US" sz="630" dirty="0"/>
          </a:p>
        </p:txBody>
      </p:sp>
      <p:sp>
        <p:nvSpPr>
          <p:cNvPr id="64" name="Shape 62"/>
          <p:cNvSpPr/>
          <p:nvPr/>
        </p:nvSpPr>
        <p:spPr>
          <a:xfrm>
            <a:off x="10533888" y="2404872"/>
            <a:ext cx="914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607040" y="246888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74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10607040" y="2761488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Pending Approval</a:t>
            </a:r>
            <a:endParaRPr lang="en-US" sz="630" dirty="0"/>
          </a:p>
        </p:txBody>
      </p:sp>
      <p:sp>
        <p:nvSpPr>
          <p:cNvPr id="67" name="Text 65"/>
          <p:cNvSpPr/>
          <p:nvPr/>
        </p:nvSpPr>
        <p:spPr>
          <a:xfrm>
            <a:off x="7516368" y="32004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Recent Purchase Requests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516368" y="3456432"/>
            <a:ext cx="3931920" cy="237744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69" name="Text 67"/>
          <p:cNvSpPr/>
          <p:nvPr/>
        </p:nvSpPr>
        <p:spPr>
          <a:xfrm>
            <a:off x="758952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REQUEST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882396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ITEM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982980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QTY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10515600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F1E3D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STATUS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7516368" y="3712464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7516368" y="3986784"/>
            <a:ext cx="393192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712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PR-1042</a:t>
            </a:r>
            <a:endParaRPr lang="en-US" sz="660" dirty="0"/>
          </a:p>
        </p:txBody>
      </p:sp>
      <p:sp>
        <p:nvSpPr>
          <p:cNvPr id="76" name="Text 74"/>
          <p:cNvSpPr/>
          <p:nvPr/>
        </p:nvSpPr>
        <p:spPr>
          <a:xfrm>
            <a:off x="8823960" y="3712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Laptops</a:t>
            </a:r>
            <a:endParaRPr lang="en-US" sz="660" dirty="0"/>
          </a:p>
        </p:txBody>
      </p:sp>
      <p:sp>
        <p:nvSpPr>
          <p:cNvPr id="77" name="Text 75"/>
          <p:cNvSpPr/>
          <p:nvPr/>
        </p:nvSpPr>
        <p:spPr>
          <a:xfrm>
            <a:off x="9829800" y="3712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10442448" y="375818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79" name="Text 77"/>
          <p:cNvSpPr/>
          <p:nvPr/>
        </p:nvSpPr>
        <p:spPr>
          <a:xfrm>
            <a:off x="10442448" y="37581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8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7516368" y="3995928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7516368" y="4270248"/>
            <a:ext cx="393192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89520" y="3995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PR-1041</a:t>
            </a:r>
            <a:endParaRPr lang="en-US" sz="660" dirty="0"/>
          </a:p>
        </p:txBody>
      </p:sp>
      <p:sp>
        <p:nvSpPr>
          <p:cNvPr id="83" name="Text 81"/>
          <p:cNvSpPr/>
          <p:nvPr/>
        </p:nvSpPr>
        <p:spPr>
          <a:xfrm>
            <a:off x="8823960" y="39959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27" Monitors</a:t>
            </a:r>
            <a:endParaRPr lang="en-US" sz="660" dirty="0"/>
          </a:p>
        </p:txBody>
      </p:sp>
      <p:sp>
        <p:nvSpPr>
          <p:cNvPr id="84" name="Text 82"/>
          <p:cNvSpPr/>
          <p:nvPr/>
        </p:nvSpPr>
        <p:spPr>
          <a:xfrm>
            <a:off x="9829800" y="3995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660" dirty="0"/>
          </a:p>
        </p:txBody>
      </p:sp>
      <p:sp>
        <p:nvSpPr>
          <p:cNvPr id="85" name="Shape 83"/>
          <p:cNvSpPr/>
          <p:nvPr/>
        </p:nvSpPr>
        <p:spPr>
          <a:xfrm>
            <a:off x="10442448" y="404164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FF4E2"/>
          </a:solidFill>
          <a:ln/>
        </p:spPr>
      </p:sp>
      <p:sp>
        <p:nvSpPr>
          <p:cNvPr id="86" name="Text 84"/>
          <p:cNvSpPr/>
          <p:nvPr/>
        </p:nvSpPr>
        <p:spPr>
          <a:xfrm>
            <a:off x="10442448" y="40416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274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Review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516368" y="4279392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Shape 86"/>
          <p:cNvSpPr/>
          <p:nvPr/>
        </p:nvSpPr>
        <p:spPr>
          <a:xfrm>
            <a:off x="7516368" y="4553712"/>
            <a:ext cx="393192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89520" y="42793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PR-1040</a:t>
            </a:r>
            <a:endParaRPr lang="en-US" sz="660" dirty="0"/>
          </a:p>
        </p:txBody>
      </p:sp>
      <p:sp>
        <p:nvSpPr>
          <p:cNvPr id="90" name="Text 88"/>
          <p:cNvSpPr/>
          <p:nvPr/>
        </p:nvSpPr>
        <p:spPr>
          <a:xfrm>
            <a:off x="8823960" y="42793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Office Chairs</a:t>
            </a:r>
            <a:endParaRPr lang="en-US" sz="660" dirty="0"/>
          </a:p>
        </p:txBody>
      </p:sp>
      <p:sp>
        <p:nvSpPr>
          <p:cNvPr id="91" name="Text 89"/>
          <p:cNvSpPr/>
          <p:nvPr/>
        </p:nvSpPr>
        <p:spPr>
          <a:xfrm>
            <a:off x="9829800" y="4279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660" dirty="0"/>
          </a:p>
        </p:txBody>
      </p:sp>
      <p:sp>
        <p:nvSpPr>
          <p:cNvPr id="92" name="Shape 90"/>
          <p:cNvSpPr/>
          <p:nvPr/>
        </p:nvSpPr>
        <p:spPr>
          <a:xfrm>
            <a:off x="10442448" y="432511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93" name="Text 91"/>
          <p:cNvSpPr/>
          <p:nvPr/>
        </p:nvSpPr>
        <p:spPr>
          <a:xfrm>
            <a:off x="10442448" y="43251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8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7516368" y="4562856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5" name="Shape 93"/>
          <p:cNvSpPr/>
          <p:nvPr/>
        </p:nvSpPr>
        <p:spPr>
          <a:xfrm>
            <a:off x="7516368" y="4837176"/>
            <a:ext cx="3931920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589520" y="4562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PR-1039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8823960" y="4562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 Switches</a:t>
            </a:r>
            <a:endParaRPr lang="en-US" sz="660" dirty="0"/>
          </a:p>
        </p:txBody>
      </p:sp>
      <p:sp>
        <p:nvSpPr>
          <p:cNvPr id="98" name="Text 96"/>
          <p:cNvSpPr/>
          <p:nvPr/>
        </p:nvSpPr>
        <p:spPr>
          <a:xfrm>
            <a:off x="9829800" y="45628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660" dirty="0"/>
          </a:p>
        </p:txBody>
      </p:sp>
      <p:sp>
        <p:nvSpPr>
          <p:cNvPr id="99" name="Shape 97"/>
          <p:cNvSpPr/>
          <p:nvPr/>
        </p:nvSpPr>
        <p:spPr>
          <a:xfrm>
            <a:off x="10442448" y="4608576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E7EEFD"/>
          </a:solidFill>
          <a:ln/>
        </p:spPr>
      </p:sp>
      <p:sp>
        <p:nvSpPr>
          <p:cNvPr id="100" name="Text 98"/>
          <p:cNvSpPr/>
          <p:nvPr/>
        </p:nvSpPr>
        <p:spPr>
          <a:xfrm>
            <a:off x="10442448" y="46085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Comparing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6199632" y="5715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 dashboard with KPI cards and recent activity table (FR2, FR15)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 Design — Procurement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Raising a purchase request and comparing vendor products.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636776"/>
            <a:ext cx="5330952" cy="274320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691640"/>
            <a:ext cx="4617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168249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vendorflow.app / requests / new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49224" y="1911096"/>
            <a:ext cx="1188720" cy="368503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0391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13816" y="235915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722376" y="2651760"/>
            <a:ext cx="1042416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" y="265176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Requests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13816" y="294436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Order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813816" y="3236976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Receipts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813816" y="352958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Evaluation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1911096" y="20391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New Purchase Request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11096" y="22768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· Thanesh S.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911096" y="258775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/ Requirement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1911096" y="2770632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02536" y="277063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Laptop – 14"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1911096" y="3136392"/>
            <a:ext cx="19248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Category</a:t>
            </a:r>
            <a:endParaRPr lang="en-US" sz="660" dirty="0"/>
          </a:p>
        </p:txBody>
      </p:sp>
      <p:sp>
        <p:nvSpPr>
          <p:cNvPr id="26" name="Shape 24"/>
          <p:cNvSpPr/>
          <p:nvPr/>
        </p:nvSpPr>
        <p:spPr>
          <a:xfrm>
            <a:off x="1911096" y="3319272"/>
            <a:ext cx="192481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02536" y="3319272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Equipment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3963924" y="3136392"/>
            <a:ext cx="19248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Quantity</a:t>
            </a:r>
            <a:endParaRPr lang="en-US" sz="660" dirty="0"/>
          </a:p>
        </p:txBody>
      </p:sp>
      <p:sp>
        <p:nvSpPr>
          <p:cNvPr id="29" name="Shape 27"/>
          <p:cNvSpPr/>
          <p:nvPr/>
        </p:nvSpPr>
        <p:spPr>
          <a:xfrm>
            <a:off x="3963924" y="3319272"/>
            <a:ext cx="1924812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5364" y="3319272"/>
            <a:ext cx="17602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911096" y="368503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Requested Price (per unit)</a:t>
            </a:r>
            <a:endParaRPr lang="en-US" sz="660" dirty="0"/>
          </a:p>
        </p:txBody>
      </p:sp>
      <p:sp>
        <p:nvSpPr>
          <p:cNvPr id="32" name="Shape 30"/>
          <p:cNvSpPr/>
          <p:nvPr/>
        </p:nvSpPr>
        <p:spPr>
          <a:xfrm>
            <a:off x="1911096" y="3867912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02536" y="386791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 58,000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911096" y="423367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Specifications</a:t>
            </a:r>
            <a:endParaRPr lang="en-US" sz="660" dirty="0"/>
          </a:p>
        </p:txBody>
      </p:sp>
      <p:sp>
        <p:nvSpPr>
          <p:cNvPr id="35" name="Shape 33"/>
          <p:cNvSpPr/>
          <p:nvPr/>
        </p:nvSpPr>
        <p:spPr>
          <a:xfrm>
            <a:off x="1911096" y="4416552"/>
            <a:ext cx="3977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02536" y="447141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 GB RAM · 512 GB SSD · Intel i5 or above</a:t>
            </a:r>
            <a:endParaRPr lang="en-US" sz="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Warranty: 3 years on-site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4471416" y="5129784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F1E3D"/>
          </a:solidFill>
          <a:ln/>
        </p:spPr>
      </p:sp>
      <p:sp>
        <p:nvSpPr>
          <p:cNvPr id="38" name="Text 36"/>
          <p:cNvSpPr/>
          <p:nvPr/>
        </p:nvSpPr>
        <p:spPr>
          <a:xfrm>
            <a:off x="4471416" y="51297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Submit Request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557016" y="5129784"/>
            <a:ext cx="84124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57016" y="5129784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Cancel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0080" y="5715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Employee raises a purchase request with quantity, specs and price (FR6)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99632" y="1627632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08776" y="1636776"/>
            <a:ext cx="5330952" cy="274320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44" name="Shape 42"/>
          <p:cNvSpPr/>
          <p:nvPr/>
        </p:nvSpPr>
        <p:spPr>
          <a:xfrm>
            <a:off x="6318504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45" name="Shape 43"/>
          <p:cNvSpPr/>
          <p:nvPr/>
        </p:nvSpPr>
        <p:spPr>
          <a:xfrm>
            <a:off x="6464808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46" name="Shape 44"/>
          <p:cNvSpPr/>
          <p:nvPr/>
        </p:nvSpPr>
        <p:spPr>
          <a:xfrm>
            <a:off x="6611112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47" name="Shape 45"/>
          <p:cNvSpPr/>
          <p:nvPr/>
        </p:nvSpPr>
        <p:spPr>
          <a:xfrm>
            <a:off x="6766560" y="1691640"/>
            <a:ext cx="4617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168249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vendorflow.app / requests / PR-1042 / compare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364224" y="2039112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/ Product Comparison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64224" y="2276856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PR-1042 · Business Laptops · Qty 5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9171432" y="2048256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62872" y="2048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Search vendors…</a:t>
            </a:r>
            <a:endParaRPr lang="en-US" sz="630" dirty="0"/>
          </a:p>
        </p:txBody>
      </p:sp>
      <p:sp>
        <p:nvSpPr>
          <p:cNvPr id="53" name="Shape 51"/>
          <p:cNvSpPr/>
          <p:nvPr/>
        </p:nvSpPr>
        <p:spPr>
          <a:xfrm>
            <a:off x="10561320" y="2048256"/>
            <a:ext cx="822960" cy="256032"/>
          </a:xfrm>
          <a:prstGeom prst="roundRect">
            <a:avLst>
              <a:gd name="adj" fmla="val 17857"/>
            </a:avLst>
          </a:prstGeom>
          <a:solidFill>
            <a:srgbClr val="E8EEF9"/>
          </a:solidFill>
          <a:ln/>
        </p:spPr>
      </p:sp>
      <p:sp>
        <p:nvSpPr>
          <p:cNvPr id="54" name="Text 52"/>
          <p:cNvSpPr/>
          <p:nvPr/>
        </p:nvSpPr>
        <p:spPr>
          <a:xfrm>
            <a:off x="10561320" y="20482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Filter ▾</a:t>
            </a:r>
            <a:endParaRPr lang="en-US" sz="630" dirty="0"/>
          </a:p>
        </p:txBody>
      </p:sp>
      <p:sp>
        <p:nvSpPr>
          <p:cNvPr id="55" name="Shape 53"/>
          <p:cNvSpPr/>
          <p:nvPr/>
        </p:nvSpPr>
        <p:spPr>
          <a:xfrm>
            <a:off x="6364224" y="2587752"/>
            <a:ext cx="5020056" cy="256032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56" name="Text 54"/>
          <p:cNvSpPr/>
          <p:nvPr/>
        </p:nvSpPr>
        <p:spPr>
          <a:xfrm>
            <a:off x="6437376" y="2587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VENDOR / PRODUCT</a:t>
            </a:r>
            <a:endParaRPr lang="en-US" sz="580" dirty="0"/>
          </a:p>
        </p:txBody>
      </p:sp>
      <p:sp>
        <p:nvSpPr>
          <p:cNvPr id="57" name="Text 55"/>
          <p:cNvSpPr/>
          <p:nvPr/>
        </p:nvSpPr>
        <p:spPr>
          <a:xfrm>
            <a:off x="7854696" y="25877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PRICE</a:t>
            </a:r>
            <a:endParaRPr lang="en-US" sz="580" dirty="0"/>
          </a:p>
        </p:txBody>
      </p:sp>
      <p:sp>
        <p:nvSpPr>
          <p:cNvPr id="58" name="Text 56"/>
          <p:cNvSpPr/>
          <p:nvPr/>
        </p:nvSpPr>
        <p:spPr>
          <a:xfrm>
            <a:off x="8631936" y="25877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STOCK</a:t>
            </a:r>
            <a:endParaRPr lang="en-US" sz="580" dirty="0"/>
          </a:p>
        </p:txBody>
      </p:sp>
      <p:sp>
        <p:nvSpPr>
          <p:cNvPr id="59" name="Text 57"/>
          <p:cNvSpPr/>
          <p:nvPr/>
        </p:nvSpPr>
        <p:spPr>
          <a:xfrm>
            <a:off x="9290304" y="258775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DELIVERY</a:t>
            </a:r>
            <a:endParaRPr lang="en-US" sz="580" dirty="0"/>
          </a:p>
        </p:txBody>
      </p:sp>
      <p:sp>
        <p:nvSpPr>
          <p:cNvPr id="60" name="Text 58"/>
          <p:cNvSpPr/>
          <p:nvPr/>
        </p:nvSpPr>
        <p:spPr>
          <a:xfrm>
            <a:off x="10040112" y="25877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SPECS</a:t>
            </a:r>
            <a:endParaRPr lang="en-US" sz="580" dirty="0"/>
          </a:p>
        </p:txBody>
      </p:sp>
      <p:sp>
        <p:nvSpPr>
          <p:cNvPr id="61" name="Text 59"/>
          <p:cNvSpPr/>
          <p:nvPr/>
        </p:nvSpPr>
        <p:spPr>
          <a:xfrm>
            <a:off x="10753344" y="258775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ACTION</a:t>
            </a:r>
            <a:endParaRPr lang="en-US" sz="580" dirty="0"/>
          </a:p>
        </p:txBody>
      </p:sp>
      <p:sp>
        <p:nvSpPr>
          <p:cNvPr id="62" name="Shape 60"/>
          <p:cNvSpPr/>
          <p:nvPr/>
        </p:nvSpPr>
        <p:spPr>
          <a:xfrm>
            <a:off x="6364224" y="2843784"/>
            <a:ext cx="5020056" cy="420624"/>
          </a:xfrm>
          <a:prstGeom prst="rect">
            <a:avLst/>
          </a:prstGeom>
          <a:solidFill>
            <a:srgbClr val="F2F7FF"/>
          </a:solidFill>
          <a:ln/>
        </p:spPr>
      </p:sp>
      <p:sp>
        <p:nvSpPr>
          <p:cNvPr id="63" name="Shape 61"/>
          <p:cNvSpPr/>
          <p:nvPr/>
        </p:nvSpPr>
        <p:spPr>
          <a:xfrm>
            <a:off x="6364224" y="2843784"/>
            <a:ext cx="36576" cy="42062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4" name="Shape 62"/>
          <p:cNvSpPr/>
          <p:nvPr/>
        </p:nvSpPr>
        <p:spPr>
          <a:xfrm>
            <a:off x="6364224" y="3264408"/>
            <a:ext cx="502005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73952" y="288036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 Latitude 5440</a:t>
            </a:r>
            <a:endParaRPr lang="en-US" sz="660" dirty="0"/>
          </a:p>
        </p:txBody>
      </p:sp>
      <p:sp>
        <p:nvSpPr>
          <p:cNvPr id="66" name="Text 64"/>
          <p:cNvSpPr/>
          <p:nvPr/>
        </p:nvSpPr>
        <p:spPr>
          <a:xfrm>
            <a:off x="6473952" y="3063240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A</a:t>
            </a:r>
            <a:endParaRPr lang="en-US" sz="580" dirty="0"/>
          </a:p>
        </p:txBody>
      </p:sp>
      <p:sp>
        <p:nvSpPr>
          <p:cNvPr id="67" name="Text 65"/>
          <p:cNvSpPr/>
          <p:nvPr/>
        </p:nvSpPr>
        <p:spPr>
          <a:xfrm>
            <a:off x="7854696" y="284378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₹58,000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631936" y="2843784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9290304" y="284378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days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10040112" y="284378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16GB/512GB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10698480" y="2944368"/>
            <a:ext cx="603504" cy="219456"/>
          </a:xfrm>
          <a:prstGeom prst="roundRect">
            <a:avLst>
              <a:gd name="adj" fmla="val 208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698480" y="2944368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Selected</a:t>
            </a:r>
            <a:endParaRPr lang="en-US" sz="580" dirty="0"/>
          </a:p>
        </p:txBody>
      </p:sp>
      <p:sp>
        <p:nvSpPr>
          <p:cNvPr id="73" name="Shape 71"/>
          <p:cNvSpPr/>
          <p:nvPr/>
        </p:nvSpPr>
        <p:spPr>
          <a:xfrm>
            <a:off x="6364224" y="3273552"/>
            <a:ext cx="502005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>
            <a:off x="6364224" y="3694176"/>
            <a:ext cx="502005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73952" y="3310128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Lenovo ThinkPad E14</a:t>
            </a:r>
            <a:endParaRPr lang="en-US" sz="660" dirty="0"/>
          </a:p>
        </p:txBody>
      </p:sp>
      <p:sp>
        <p:nvSpPr>
          <p:cNvPr id="76" name="Text 74"/>
          <p:cNvSpPr/>
          <p:nvPr/>
        </p:nvSpPr>
        <p:spPr>
          <a:xfrm>
            <a:off x="6473952" y="3493008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B</a:t>
            </a:r>
            <a:endParaRPr lang="en-US" sz="580" dirty="0"/>
          </a:p>
        </p:txBody>
      </p:sp>
      <p:sp>
        <p:nvSpPr>
          <p:cNvPr id="77" name="Text 75"/>
          <p:cNvSpPr/>
          <p:nvPr/>
        </p:nvSpPr>
        <p:spPr>
          <a:xfrm>
            <a:off x="7854696" y="327355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₹55,000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8631936" y="327355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290304" y="3273552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days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10040112" y="327355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16GB/512GB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10698480" y="3374136"/>
            <a:ext cx="603504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698480" y="3374136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</a:t>
            </a:r>
            <a:endParaRPr lang="en-US" sz="580" dirty="0"/>
          </a:p>
        </p:txBody>
      </p:sp>
      <p:sp>
        <p:nvSpPr>
          <p:cNvPr id="83" name="Shape 81"/>
          <p:cNvSpPr/>
          <p:nvPr/>
        </p:nvSpPr>
        <p:spPr>
          <a:xfrm>
            <a:off x="6364224" y="3703320"/>
            <a:ext cx="5020056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4" name="Shape 82"/>
          <p:cNvSpPr/>
          <p:nvPr/>
        </p:nvSpPr>
        <p:spPr>
          <a:xfrm>
            <a:off x="6364224" y="4123944"/>
            <a:ext cx="5020056" cy="0"/>
          </a:xfrm>
          <a:prstGeom prst="line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73952" y="3739896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HP ProBook 450</a:t>
            </a:r>
            <a:endParaRPr lang="en-US" sz="660" dirty="0"/>
          </a:p>
        </p:txBody>
      </p:sp>
      <p:sp>
        <p:nvSpPr>
          <p:cNvPr id="86" name="Text 84"/>
          <p:cNvSpPr/>
          <p:nvPr/>
        </p:nvSpPr>
        <p:spPr>
          <a:xfrm>
            <a:off x="6473952" y="3922776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C</a:t>
            </a:r>
            <a:endParaRPr lang="en-US" sz="580" dirty="0"/>
          </a:p>
        </p:txBody>
      </p:sp>
      <p:sp>
        <p:nvSpPr>
          <p:cNvPr id="87" name="Text 85"/>
          <p:cNvSpPr/>
          <p:nvPr/>
        </p:nvSpPr>
        <p:spPr>
          <a:xfrm>
            <a:off x="7854696" y="37033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₹61,500</a:t>
            </a:r>
            <a:endParaRPr lang="en-US" sz="650" dirty="0"/>
          </a:p>
        </p:txBody>
      </p:sp>
      <p:sp>
        <p:nvSpPr>
          <p:cNvPr id="88" name="Text 86"/>
          <p:cNvSpPr/>
          <p:nvPr/>
        </p:nvSpPr>
        <p:spPr>
          <a:xfrm>
            <a:off x="8631936" y="3703320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9290304" y="3703320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days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0040112" y="3703320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16GB/512GB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10698480" y="3803904"/>
            <a:ext cx="603504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698480" y="380390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Select</a:t>
            </a:r>
            <a:endParaRPr lang="en-US" sz="580" dirty="0"/>
          </a:p>
        </p:txBody>
      </p:sp>
      <p:sp>
        <p:nvSpPr>
          <p:cNvPr id="93" name="Text 91"/>
          <p:cNvSpPr/>
          <p:nvPr/>
        </p:nvSpPr>
        <p:spPr>
          <a:xfrm>
            <a:off x="6364224" y="42428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Showing 3 of 9 vendor products</a:t>
            </a:r>
            <a:endParaRPr lang="en-US" sz="620" dirty="0"/>
          </a:p>
        </p:txBody>
      </p:sp>
      <p:sp>
        <p:nvSpPr>
          <p:cNvPr id="94" name="Shape 92"/>
          <p:cNvSpPr/>
          <p:nvPr/>
        </p:nvSpPr>
        <p:spPr>
          <a:xfrm>
            <a:off x="10085832" y="4224528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85832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‹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10351008" y="4224528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351008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10616184" y="4224528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0616184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600" dirty="0"/>
          </a:p>
        </p:txBody>
      </p:sp>
      <p:sp>
        <p:nvSpPr>
          <p:cNvPr id="100" name="Shape 98"/>
          <p:cNvSpPr/>
          <p:nvPr/>
        </p:nvSpPr>
        <p:spPr>
          <a:xfrm>
            <a:off x="10881360" y="4224528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881360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600" dirty="0"/>
          </a:p>
        </p:txBody>
      </p:sp>
      <p:sp>
        <p:nvSpPr>
          <p:cNvPr id="102" name="Shape 100"/>
          <p:cNvSpPr/>
          <p:nvPr/>
        </p:nvSpPr>
        <p:spPr>
          <a:xfrm>
            <a:off x="11146536" y="4224528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146536" y="42245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6364224" y="4590288"/>
            <a:ext cx="5020056" cy="384048"/>
          </a:xfrm>
          <a:prstGeom prst="roundRect">
            <a:avLst>
              <a:gd name="adj" fmla="val 14286"/>
            </a:avLst>
          </a:prstGeom>
          <a:solidFill>
            <a:srgbClr val="FFF7E8"/>
          </a:solidFill>
          <a:ln w="12700">
            <a:solidFill>
              <a:srgbClr val="F0DCB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73952" y="459028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C274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Price difference vs requested: +₹0 (Dell) · Vendor confirmation required before fulfillment</a:t>
            </a:r>
            <a:endParaRPr lang="en-US" sz="640" dirty="0"/>
          </a:p>
        </p:txBody>
      </p:sp>
      <p:sp>
        <p:nvSpPr>
          <p:cNvPr id="106" name="Text 104"/>
          <p:cNvSpPr/>
          <p:nvPr/>
        </p:nvSpPr>
        <p:spPr>
          <a:xfrm>
            <a:off x="6199632" y="5715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Procurement compares price, stock, delivery and specs (FR7, FR17)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E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UI Design — Vendor, Order Tracking &amp;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6656" y="932688"/>
            <a:ext cx="457200" cy="685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product catalog, order tracking and post-delivery rating.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657600" cy="39776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9224" y="1636776"/>
            <a:ext cx="3639312" cy="274320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7" name="Shape 5"/>
          <p:cNvSpPr/>
          <p:nvPr/>
        </p:nvSpPr>
        <p:spPr>
          <a:xfrm>
            <a:off x="758952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10" name="Shape 8"/>
          <p:cNvSpPr/>
          <p:nvPr/>
        </p:nvSpPr>
        <p:spPr>
          <a:xfrm>
            <a:off x="1207008" y="1691640"/>
            <a:ext cx="29260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8448" y="16824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vendorflow.app / vendor / products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86384" y="2039112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My Product Catalog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2039112"/>
            <a:ext cx="813816" cy="237744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039112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 Add Product</a:t>
            </a:r>
            <a:endParaRPr lang="en-US" sz="580" dirty="0"/>
          </a:p>
        </p:txBody>
      </p:sp>
      <p:sp>
        <p:nvSpPr>
          <p:cNvPr id="15" name="Shape 13"/>
          <p:cNvSpPr/>
          <p:nvPr/>
        </p:nvSpPr>
        <p:spPr>
          <a:xfrm>
            <a:off x="786384" y="2404872"/>
            <a:ext cx="336499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2514600"/>
            <a:ext cx="621792" cy="621792"/>
          </a:xfrm>
          <a:prstGeom prst="roundRect">
            <a:avLst>
              <a:gd name="adj" fmla="val 7353"/>
            </a:avLst>
          </a:prstGeom>
          <a:solidFill>
            <a:srgbClr val="E8EEF9"/>
          </a:solidFill>
          <a:ln/>
        </p:spPr>
      </p:sp>
      <p:pic>
        <p:nvPicPr>
          <p:cNvPr id="17" name="Image 0" descr="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679192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91056" y="25146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 Latitude 5440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1591056" y="271576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₹58,000   ·   20 in stock</a:t>
            </a:r>
            <a:endParaRPr lang="en-US" sz="630" dirty="0"/>
          </a:p>
        </p:txBody>
      </p:sp>
      <p:sp>
        <p:nvSpPr>
          <p:cNvPr id="20" name="Shape 17"/>
          <p:cNvSpPr/>
          <p:nvPr/>
        </p:nvSpPr>
        <p:spPr>
          <a:xfrm>
            <a:off x="1591056" y="2935224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21" name="Text 18"/>
          <p:cNvSpPr/>
          <p:nvPr/>
        </p:nvSpPr>
        <p:spPr>
          <a:xfrm>
            <a:off x="1591056" y="2935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8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Available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3584448" y="29352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</a:t>
            </a:r>
            <a:endParaRPr lang="en-US" sz="620" dirty="0"/>
          </a:p>
        </p:txBody>
      </p:sp>
      <p:sp>
        <p:nvSpPr>
          <p:cNvPr id="23" name="Shape 20"/>
          <p:cNvSpPr/>
          <p:nvPr/>
        </p:nvSpPr>
        <p:spPr>
          <a:xfrm>
            <a:off x="786384" y="3319272"/>
            <a:ext cx="336499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7824" y="3429000"/>
            <a:ext cx="621792" cy="621792"/>
          </a:xfrm>
          <a:prstGeom prst="roundRect">
            <a:avLst>
              <a:gd name="adj" fmla="val 7353"/>
            </a:avLst>
          </a:prstGeom>
          <a:solidFill>
            <a:srgbClr val="E8EEF9"/>
          </a:solidFill>
          <a:ln/>
        </p:spPr>
      </p:sp>
      <p:pic>
        <p:nvPicPr>
          <p:cNvPr id="25" name="Image 1" descr="icons/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593592"/>
            <a:ext cx="292608" cy="29260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591056" y="34290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Dell 27" Monitor P2723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1591056" y="363016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₹18,400   ·   34 in stock</a:t>
            </a:r>
            <a:endParaRPr lang="en-US" sz="630" dirty="0"/>
          </a:p>
        </p:txBody>
      </p:sp>
      <p:sp>
        <p:nvSpPr>
          <p:cNvPr id="28" name="Shape 24"/>
          <p:cNvSpPr/>
          <p:nvPr/>
        </p:nvSpPr>
        <p:spPr>
          <a:xfrm>
            <a:off x="1591056" y="3849624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/>
        </p:spPr>
      </p:sp>
      <p:sp>
        <p:nvSpPr>
          <p:cNvPr id="29" name="Text 25"/>
          <p:cNvSpPr/>
          <p:nvPr/>
        </p:nvSpPr>
        <p:spPr>
          <a:xfrm>
            <a:off x="1591056" y="3849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80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Available</a:t>
            </a:r>
            <a:endParaRPr lang="en-US" sz="650" dirty="0"/>
          </a:p>
        </p:txBody>
      </p:sp>
      <p:sp>
        <p:nvSpPr>
          <p:cNvPr id="30" name="Text 26"/>
          <p:cNvSpPr/>
          <p:nvPr/>
        </p:nvSpPr>
        <p:spPr>
          <a:xfrm>
            <a:off x="3584448" y="38496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</a:t>
            </a:r>
            <a:endParaRPr lang="en-US" sz="620" dirty="0"/>
          </a:p>
        </p:txBody>
      </p:sp>
      <p:sp>
        <p:nvSpPr>
          <p:cNvPr id="31" name="Shape 27"/>
          <p:cNvSpPr/>
          <p:nvPr/>
        </p:nvSpPr>
        <p:spPr>
          <a:xfrm>
            <a:off x="786384" y="4233672"/>
            <a:ext cx="336499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7824" y="4343400"/>
            <a:ext cx="621792" cy="621792"/>
          </a:xfrm>
          <a:prstGeom prst="roundRect">
            <a:avLst>
              <a:gd name="adj" fmla="val 7353"/>
            </a:avLst>
          </a:prstGeom>
          <a:solidFill>
            <a:srgbClr val="E8EEF9"/>
          </a:solidFill>
          <a:ln/>
        </p:spPr>
      </p:sp>
      <p:pic>
        <p:nvPicPr>
          <p:cNvPr id="33" name="Image 2" descr="icons/filea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507992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591056" y="434340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LaserJet Pro Printer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1591056" y="454456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₹24,900   ·   0 in stock</a:t>
            </a:r>
            <a:endParaRPr lang="en-US" sz="630" dirty="0"/>
          </a:p>
        </p:txBody>
      </p:sp>
      <p:sp>
        <p:nvSpPr>
          <p:cNvPr id="36" name="Shape 31"/>
          <p:cNvSpPr/>
          <p:nvPr/>
        </p:nvSpPr>
        <p:spPr>
          <a:xfrm>
            <a:off x="1591056" y="4764024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FFF4E2"/>
          </a:solidFill>
          <a:ln/>
        </p:spPr>
      </p:sp>
      <p:sp>
        <p:nvSpPr>
          <p:cNvPr id="37" name="Text 32"/>
          <p:cNvSpPr/>
          <p:nvPr/>
        </p:nvSpPr>
        <p:spPr>
          <a:xfrm>
            <a:off x="1591056" y="47640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2740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 of stock</a:t>
            </a:r>
            <a:endParaRPr lang="en-US" sz="650" dirty="0"/>
          </a:p>
        </p:txBody>
      </p:sp>
      <p:sp>
        <p:nvSpPr>
          <p:cNvPr id="38" name="Text 33"/>
          <p:cNvSpPr/>
          <p:nvPr/>
        </p:nvSpPr>
        <p:spPr>
          <a:xfrm>
            <a:off x="3584448" y="47640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2563E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Edit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64008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manages products, price and stock (FR4, FR5)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4498848" y="1627632"/>
            <a:ext cx="3657600" cy="397764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4507992" y="1636776"/>
            <a:ext cx="3639312" cy="274320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42" name="Shape 37"/>
          <p:cNvSpPr/>
          <p:nvPr/>
        </p:nvSpPr>
        <p:spPr>
          <a:xfrm>
            <a:off x="4617720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43" name="Shape 38"/>
          <p:cNvSpPr/>
          <p:nvPr/>
        </p:nvSpPr>
        <p:spPr>
          <a:xfrm>
            <a:off x="4764024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44" name="Shape 39"/>
          <p:cNvSpPr/>
          <p:nvPr/>
        </p:nvSpPr>
        <p:spPr>
          <a:xfrm>
            <a:off x="4910328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45" name="Shape 40"/>
          <p:cNvSpPr/>
          <p:nvPr/>
        </p:nvSpPr>
        <p:spPr>
          <a:xfrm>
            <a:off x="5065776" y="1691640"/>
            <a:ext cx="29260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1"/>
          <p:cNvSpPr/>
          <p:nvPr/>
        </p:nvSpPr>
        <p:spPr>
          <a:xfrm>
            <a:off x="5157216" y="168249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vendorflow.app / orders / PO-2087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4645152" y="203911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Order Tracking</a:t>
            </a:r>
            <a:endParaRPr lang="en-US" sz="950" dirty="0"/>
          </a:p>
        </p:txBody>
      </p:sp>
      <p:sp>
        <p:nvSpPr>
          <p:cNvPr id="48" name="Text 43"/>
          <p:cNvSpPr/>
          <p:nvPr/>
        </p:nvSpPr>
        <p:spPr>
          <a:xfrm>
            <a:off x="4645152" y="2267712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PO-2087 · Dell Latitude 5440 · Qty 5</a:t>
            </a:r>
            <a:endParaRPr lang="en-US" sz="630" dirty="0"/>
          </a:p>
        </p:txBody>
      </p:sp>
      <p:sp>
        <p:nvSpPr>
          <p:cNvPr id="49" name="Shape 44"/>
          <p:cNvSpPr/>
          <p:nvPr/>
        </p:nvSpPr>
        <p:spPr>
          <a:xfrm>
            <a:off x="4718304" y="2633472"/>
            <a:ext cx="237744" cy="237744"/>
          </a:xfrm>
          <a:prstGeom prst="ellipse">
            <a:avLst/>
          </a:prstGeom>
          <a:solidFill>
            <a:srgbClr val="2563EB"/>
          </a:solidFill>
          <a:ln w="17780">
            <a:solidFill>
              <a:srgbClr val="2563EB"/>
            </a:solidFill>
            <a:prstDash val="solid"/>
          </a:ln>
        </p:spPr>
      </p:sp>
      <p:pic>
        <p:nvPicPr>
          <p:cNvPr id="5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697480"/>
            <a:ext cx="109728" cy="109728"/>
          </a:xfrm>
          <a:prstGeom prst="rect">
            <a:avLst/>
          </a:prstGeom>
        </p:spPr>
      </p:pic>
      <p:sp>
        <p:nvSpPr>
          <p:cNvPr id="51" name="Shape 45"/>
          <p:cNvSpPr/>
          <p:nvPr/>
        </p:nvSpPr>
        <p:spPr>
          <a:xfrm>
            <a:off x="4837176" y="2871216"/>
            <a:ext cx="0" cy="237744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065776" y="26151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Processing</a:t>
            </a:r>
            <a:endParaRPr lang="en-US" sz="720" dirty="0"/>
          </a:p>
        </p:txBody>
      </p:sp>
      <p:sp>
        <p:nvSpPr>
          <p:cNvPr id="53" name="Text 47"/>
          <p:cNvSpPr/>
          <p:nvPr/>
        </p:nvSpPr>
        <p:spPr>
          <a:xfrm>
            <a:off x="7095744" y="26151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Mar, 09:40</a:t>
            </a:r>
            <a:endParaRPr lang="en-US" sz="580" dirty="0"/>
          </a:p>
        </p:txBody>
      </p:sp>
      <p:sp>
        <p:nvSpPr>
          <p:cNvPr id="54" name="Shape 48"/>
          <p:cNvSpPr/>
          <p:nvPr/>
        </p:nvSpPr>
        <p:spPr>
          <a:xfrm>
            <a:off x="4718304" y="3108960"/>
            <a:ext cx="237744" cy="237744"/>
          </a:xfrm>
          <a:prstGeom prst="ellipse">
            <a:avLst/>
          </a:prstGeom>
          <a:solidFill>
            <a:srgbClr val="2563EB"/>
          </a:solidFill>
          <a:ln w="17780">
            <a:solidFill>
              <a:srgbClr val="2563EB"/>
            </a:solidFill>
            <a:prstDash val="solid"/>
          </a:ln>
        </p:spPr>
      </p:sp>
      <p:pic>
        <p:nvPicPr>
          <p:cNvPr id="5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3172968"/>
            <a:ext cx="109728" cy="109728"/>
          </a:xfrm>
          <a:prstGeom prst="rect">
            <a:avLst/>
          </a:prstGeom>
        </p:spPr>
      </p:pic>
      <p:sp>
        <p:nvSpPr>
          <p:cNvPr id="56" name="Shape 49"/>
          <p:cNvSpPr/>
          <p:nvPr/>
        </p:nvSpPr>
        <p:spPr>
          <a:xfrm>
            <a:off x="4837176" y="3346704"/>
            <a:ext cx="0" cy="237744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5065776" y="3090672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Packing</a:t>
            </a:r>
            <a:endParaRPr lang="en-US" sz="720" dirty="0"/>
          </a:p>
        </p:txBody>
      </p:sp>
      <p:sp>
        <p:nvSpPr>
          <p:cNvPr id="58" name="Text 51"/>
          <p:cNvSpPr/>
          <p:nvPr/>
        </p:nvSpPr>
        <p:spPr>
          <a:xfrm>
            <a:off x="7095744" y="3090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Mar, 09:40</a:t>
            </a:r>
            <a:endParaRPr lang="en-US" sz="580" dirty="0"/>
          </a:p>
        </p:txBody>
      </p:sp>
      <p:sp>
        <p:nvSpPr>
          <p:cNvPr id="59" name="Shape 52"/>
          <p:cNvSpPr/>
          <p:nvPr/>
        </p:nvSpPr>
        <p:spPr>
          <a:xfrm>
            <a:off x="4718304" y="3584448"/>
            <a:ext cx="237744" cy="237744"/>
          </a:xfrm>
          <a:prstGeom prst="ellipse">
            <a:avLst/>
          </a:prstGeom>
          <a:solidFill>
            <a:srgbClr val="2563EB"/>
          </a:solidFill>
          <a:ln w="17780">
            <a:solidFill>
              <a:srgbClr val="2563EB"/>
            </a:solidFill>
            <a:prstDash val="solid"/>
          </a:ln>
        </p:spPr>
      </p:sp>
      <p:pic>
        <p:nvPicPr>
          <p:cNvPr id="60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312" y="3648456"/>
            <a:ext cx="109728" cy="109728"/>
          </a:xfrm>
          <a:prstGeom prst="rect">
            <a:avLst/>
          </a:prstGeom>
        </p:spPr>
      </p:pic>
      <p:sp>
        <p:nvSpPr>
          <p:cNvPr id="61" name="Shape 53"/>
          <p:cNvSpPr/>
          <p:nvPr/>
        </p:nvSpPr>
        <p:spPr>
          <a:xfrm>
            <a:off x="4837176" y="3822192"/>
            <a:ext cx="0" cy="237744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5065776" y="3566160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 for Delivery</a:t>
            </a:r>
            <a:endParaRPr lang="en-US" sz="720" dirty="0"/>
          </a:p>
        </p:txBody>
      </p:sp>
      <p:sp>
        <p:nvSpPr>
          <p:cNvPr id="63" name="Text 55"/>
          <p:cNvSpPr/>
          <p:nvPr/>
        </p:nvSpPr>
        <p:spPr>
          <a:xfrm>
            <a:off x="7095744" y="3566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 Mar, 09:40</a:t>
            </a:r>
            <a:endParaRPr lang="en-US" sz="580" dirty="0"/>
          </a:p>
        </p:txBody>
      </p:sp>
      <p:sp>
        <p:nvSpPr>
          <p:cNvPr id="64" name="Shape 56"/>
          <p:cNvSpPr/>
          <p:nvPr/>
        </p:nvSpPr>
        <p:spPr>
          <a:xfrm>
            <a:off x="4718304" y="4059936"/>
            <a:ext cx="237744" cy="23774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DE3EE"/>
            </a:solidFill>
            <a:prstDash val="solid"/>
          </a:ln>
        </p:spPr>
      </p:sp>
      <p:sp>
        <p:nvSpPr>
          <p:cNvPr id="65" name="Text 57"/>
          <p:cNvSpPr/>
          <p:nvPr/>
        </p:nvSpPr>
        <p:spPr>
          <a:xfrm>
            <a:off x="5065776" y="40416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Delivered</a:t>
            </a:r>
            <a:endParaRPr lang="en-US" sz="720" dirty="0"/>
          </a:p>
        </p:txBody>
      </p:sp>
      <p:sp>
        <p:nvSpPr>
          <p:cNvPr id="66" name="Shape 58"/>
          <p:cNvSpPr/>
          <p:nvPr/>
        </p:nvSpPr>
        <p:spPr>
          <a:xfrm>
            <a:off x="4645152" y="4608576"/>
            <a:ext cx="3364992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67" name="Text 59"/>
          <p:cNvSpPr/>
          <p:nvPr/>
        </p:nvSpPr>
        <p:spPr>
          <a:xfrm>
            <a:off x="4754880" y="4663440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address</a:t>
            </a:r>
            <a:endParaRPr lang="en-US" sz="580" dirty="0"/>
          </a:p>
        </p:txBody>
      </p:sp>
      <p:sp>
        <p:nvSpPr>
          <p:cNvPr id="68" name="Text 60"/>
          <p:cNvSpPr/>
          <p:nvPr/>
        </p:nvSpPr>
        <p:spPr>
          <a:xfrm>
            <a:off x="4754880" y="482803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Department, Block C, Chennai – 600089</a:t>
            </a:r>
            <a:endParaRPr lang="en-US" sz="650" dirty="0"/>
          </a:p>
        </p:txBody>
      </p:sp>
      <p:sp>
        <p:nvSpPr>
          <p:cNvPr id="69" name="Shape 61"/>
          <p:cNvSpPr/>
          <p:nvPr/>
        </p:nvSpPr>
        <p:spPr>
          <a:xfrm>
            <a:off x="4645152" y="5230368"/>
            <a:ext cx="3364992" cy="310896"/>
          </a:xfrm>
          <a:prstGeom prst="roundRect">
            <a:avLst>
              <a:gd name="adj" fmla="val 17647"/>
            </a:avLst>
          </a:prstGeom>
          <a:solidFill>
            <a:srgbClr val="0F1E3D"/>
          </a:solidFill>
          <a:ln/>
        </p:spPr>
      </p:sp>
      <p:pic>
        <p:nvPicPr>
          <p:cNvPr id="70" name="Image 6" descr="icons/filepd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5303520"/>
            <a:ext cx="155448" cy="155448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5788152" y="523036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Download PDF Receipt</a:t>
            </a:r>
            <a:endParaRPr lang="en-US" sz="700" dirty="0"/>
          </a:p>
        </p:txBody>
      </p:sp>
      <p:sp>
        <p:nvSpPr>
          <p:cNvPr id="72" name="Text 63"/>
          <p:cNvSpPr/>
          <p:nvPr/>
        </p:nvSpPr>
        <p:spPr>
          <a:xfrm>
            <a:off x="4498848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status timeline and PDF receipt download (FR11, FR12)</a:t>
            </a:r>
            <a:endParaRPr lang="en-US" sz="950" dirty="0"/>
          </a:p>
        </p:txBody>
      </p:sp>
      <p:sp>
        <p:nvSpPr>
          <p:cNvPr id="73" name="Shape 64"/>
          <p:cNvSpPr/>
          <p:nvPr/>
        </p:nvSpPr>
        <p:spPr>
          <a:xfrm>
            <a:off x="8357616" y="1627632"/>
            <a:ext cx="3191256" cy="3977640"/>
          </a:xfrm>
          <a:prstGeom prst="roundRect">
            <a:avLst>
              <a:gd name="adj" fmla="val 2579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  <a:effectLst>
            <a:outerShdw sx="100000" sy="100000" kx="0" ky="0" algn="bl" rotWithShape="0" blurRad="88900" dist="25400" dir="5400000">
              <a:srgbClr val="0F1E3D">
                <a:alpha val="7000"/>
              </a:srgbClr>
            </a:outerShdw>
          </a:effectLst>
        </p:spPr>
      </p:sp>
      <p:sp>
        <p:nvSpPr>
          <p:cNvPr id="74" name="Shape 65"/>
          <p:cNvSpPr/>
          <p:nvPr/>
        </p:nvSpPr>
        <p:spPr>
          <a:xfrm>
            <a:off x="8366760" y="1636776"/>
            <a:ext cx="3172968" cy="274320"/>
          </a:xfrm>
          <a:prstGeom prst="rect">
            <a:avLst/>
          </a:prstGeom>
          <a:solidFill>
            <a:srgbClr val="E8EEF9"/>
          </a:solidFill>
          <a:ln/>
        </p:spPr>
      </p:sp>
      <p:sp>
        <p:nvSpPr>
          <p:cNvPr id="75" name="Shape 66"/>
          <p:cNvSpPr/>
          <p:nvPr/>
        </p:nvSpPr>
        <p:spPr>
          <a:xfrm>
            <a:off x="8476488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76" name="Shape 67"/>
          <p:cNvSpPr/>
          <p:nvPr/>
        </p:nvSpPr>
        <p:spPr>
          <a:xfrm>
            <a:off x="8622792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77" name="Shape 68"/>
          <p:cNvSpPr/>
          <p:nvPr/>
        </p:nvSpPr>
        <p:spPr>
          <a:xfrm>
            <a:off x="8769096" y="1728216"/>
            <a:ext cx="82296" cy="82296"/>
          </a:xfrm>
          <a:prstGeom prst="ellipse">
            <a:avLst/>
          </a:prstGeom>
          <a:solidFill>
            <a:srgbClr val="B9C4D9"/>
          </a:solidFill>
          <a:ln/>
        </p:spPr>
      </p:sp>
      <p:sp>
        <p:nvSpPr>
          <p:cNvPr id="78" name="Shape 69"/>
          <p:cNvSpPr/>
          <p:nvPr/>
        </p:nvSpPr>
        <p:spPr>
          <a:xfrm>
            <a:off x="8924544" y="1691640"/>
            <a:ext cx="2459736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9" name="Text 70"/>
          <p:cNvSpPr/>
          <p:nvPr/>
        </p:nvSpPr>
        <p:spPr>
          <a:xfrm>
            <a:off x="9015984" y="168249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vendorflow.app / evaluation</a:t>
            </a:r>
            <a:endParaRPr lang="en-US" sz="700" dirty="0"/>
          </a:p>
        </p:txBody>
      </p:sp>
      <p:sp>
        <p:nvSpPr>
          <p:cNvPr id="80" name="Text 71"/>
          <p:cNvSpPr/>
          <p:nvPr/>
        </p:nvSpPr>
        <p:spPr>
          <a:xfrm>
            <a:off x="8503920" y="2039112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Evaluation</a:t>
            </a:r>
            <a:endParaRPr lang="en-US" sz="950" dirty="0"/>
          </a:p>
        </p:txBody>
      </p:sp>
      <p:sp>
        <p:nvSpPr>
          <p:cNvPr id="81" name="Text 72"/>
          <p:cNvSpPr/>
          <p:nvPr/>
        </p:nvSpPr>
        <p:spPr>
          <a:xfrm>
            <a:off x="8503920" y="2267712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PO-2087 · Vendor A</a:t>
            </a:r>
            <a:endParaRPr lang="en-US" sz="630" dirty="0"/>
          </a:p>
        </p:txBody>
      </p:sp>
      <p:sp>
        <p:nvSpPr>
          <p:cNvPr id="82" name="Text 73"/>
          <p:cNvSpPr/>
          <p:nvPr/>
        </p:nvSpPr>
        <p:spPr>
          <a:xfrm>
            <a:off x="8503920" y="2615184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Product / Quality</a:t>
            </a:r>
            <a:endParaRPr lang="en-US" sz="680" dirty="0"/>
          </a:p>
        </p:txBody>
      </p:sp>
      <p:sp>
        <p:nvSpPr>
          <p:cNvPr id="83" name="Shape 74"/>
          <p:cNvSpPr/>
          <p:nvPr/>
        </p:nvSpPr>
        <p:spPr>
          <a:xfrm>
            <a:off x="10415016" y="26517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4" name="Image 7" descr="icons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7020" y="2683764"/>
            <a:ext cx="100584" cy="100584"/>
          </a:xfrm>
          <a:prstGeom prst="rect">
            <a:avLst/>
          </a:prstGeom>
        </p:spPr>
      </p:pic>
      <p:sp>
        <p:nvSpPr>
          <p:cNvPr id="85" name="Shape 75"/>
          <p:cNvSpPr/>
          <p:nvPr/>
        </p:nvSpPr>
        <p:spPr>
          <a:xfrm>
            <a:off x="10607040" y="26517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6" name="Image 8" descr="icons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9044" y="2683764"/>
            <a:ext cx="100584" cy="100584"/>
          </a:xfrm>
          <a:prstGeom prst="rect">
            <a:avLst/>
          </a:prstGeom>
        </p:spPr>
      </p:pic>
      <p:sp>
        <p:nvSpPr>
          <p:cNvPr id="87" name="Shape 76"/>
          <p:cNvSpPr/>
          <p:nvPr/>
        </p:nvSpPr>
        <p:spPr>
          <a:xfrm>
            <a:off x="10799064" y="26517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8" name="Image 9" descr="icons/st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31068" y="2683764"/>
            <a:ext cx="100584" cy="100584"/>
          </a:xfrm>
          <a:prstGeom prst="rect">
            <a:avLst/>
          </a:prstGeom>
        </p:spPr>
      </p:pic>
      <p:sp>
        <p:nvSpPr>
          <p:cNvPr id="89" name="Shape 77"/>
          <p:cNvSpPr/>
          <p:nvPr/>
        </p:nvSpPr>
        <p:spPr>
          <a:xfrm>
            <a:off x="10991088" y="26517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0" name="Image 10" descr="icons/st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23092" y="2683764"/>
            <a:ext cx="100584" cy="100584"/>
          </a:xfrm>
          <a:prstGeom prst="rect">
            <a:avLst/>
          </a:prstGeom>
        </p:spPr>
      </p:pic>
      <p:sp>
        <p:nvSpPr>
          <p:cNvPr id="91" name="Shape 78"/>
          <p:cNvSpPr/>
          <p:nvPr/>
        </p:nvSpPr>
        <p:spPr>
          <a:xfrm>
            <a:off x="11183112" y="26517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2" name="Image 11" descr="icons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15116" y="2683764"/>
            <a:ext cx="100584" cy="100584"/>
          </a:xfrm>
          <a:prstGeom prst="rect">
            <a:avLst/>
          </a:prstGeom>
        </p:spPr>
      </p:pic>
      <p:sp>
        <p:nvSpPr>
          <p:cNvPr id="93" name="Text 79"/>
          <p:cNvSpPr/>
          <p:nvPr/>
        </p:nvSpPr>
        <p:spPr>
          <a:xfrm>
            <a:off x="8503920" y="2999232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Speed</a:t>
            </a:r>
            <a:endParaRPr lang="en-US" sz="680" dirty="0"/>
          </a:p>
        </p:txBody>
      </p:sp>
      <p:sp>
        <p:nvSpPr>
          <p:cNvPr id="94" name="Shape 80"/>
          <p:cNvSpPr/>
          <p:nvPr/>
        </p:nvSpPr>
        <p:spPr>
          <a:xfrm>
            <a:off x="10415016" y="30358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5" name="Image 12" descr="icons/sta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47020" y="3067812"/>
            <a:ext cx="100584" cy="100584"/>
          </a:xfrm>
          <a:prstGeom prst="rect">
            <a:avLst/>
          </a:prstGeom>
        </p:spPr>
      </p:pic>
      <p:sp>
        <p:nvSpPr>
          <p:cNvPr id="96" name="Shape 81"/>
          <p:cNvSpPr/>
          <p:nvPr/>
        </p:nvSpPr>
        <p:spPr>
          <a:xfrm>
            <a:off x="10607040" y="30358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7" name="Image 13" descr="icons/star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39044" y="3067812"/>
            <a:ext cx="100584" cy="100584"/>
          </a:xfrm>
          <a:prstGeom prst="rect">
            <a:avLst/>
          </a:prstGeom>
        </p:spPr>
      </p:pic>
      <p:sp>
        <p:nvSpPr>
          <p:cNvPr id="98" name="Shape 82"/>
          <p:cNvSpPr/>
          <p:nvPr/>
        </p:nvSpPr>
        <p:spPr>
          <a:xfrm>
            <a:off x="10799064" y="30358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9" name="Image 14" descr="icons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31068" y="3067812"/>
            <a:ext cx="100584" cy="100584"/>
          </a:xfrm>
          <a:prstGeom prst="rect">
            <a:avLst/>
          </a:prstGeom>
        </p:spPr>
      </p:pic>
      <p:sp>
        <p:nvSpPr>
          <p:cNvPr id="100" name="Shape 83"/>
          <p:cNvSpPr/>
          <p:nvPr/>
        </p:nvSpPr>
        <p:spPr>
          <a:xfrm>
            <a:off x="10991088" y="3035808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1" name="Image 15" descr="icons/sta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23092" y="3067812"/>
            <a:ext cx="100584" cy="100584"/>
          </a:xfrm>
          <a:prstGeom prst="rect">
            <a:avLst/>
          </a:prstGeom>
        </p:spPr>
      </p:pic>
      <p:sp>
        <p:nvSpPr>
          <p:cNvPr id="102" name="Shape 84"/>
          <p:cNvSpPr/>
          <p:nvPr/>
        </p:nvSpPr>
        <p:spPr>
          <a:xfrm>
            <a:off x="11183112" y="3035808"/>
            <a:ext cx="164592" cy="164592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103" name="Image 16" descr="icons/star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15116" y="3067812"/>
            <a:ext cx="100584" cy="100584"/>
          </a:xfrm>
          <a:prstGeom prst="rect">
            <a:avLst/>
          </a:prstGeom>
        </p:spPr>
      </p:pic>
      <p:sp>
        <p:nvSpPr>
          <p:cNvPr id="104" name="Text 85"/>
          <p:cNvSpPr/>
          <p:nvPr/>
        </p:nvSpPr>
        <p:spPr>
          <a:xfrm>
            <a:off x="8503920" y="338328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Pricing / Value</a:t>
            </a:r>
            <a:endParaRPr lang="en-US" sz="680" dirty="0"/>
          </a:p>
        </p:txBody>
      </p:sp>
      <p:sp>
        <p:nvSpPr>
          <p:cNvPr id="105" name="Shape 86"/>
          <p:cNvSpPr/>
          <p:nvPr/>
        </p:nvSpPr>
        <p:spPr>
          <a:xfrm>
            <a:off x="10415016" y="341985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6" name="Image 17" descr="icons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47020" y="3451860"/>
            <a:ext cx="100584" cy="100584"/>
          </a:xfrm>
          <a:prstGeom prst="rect">
            <a:avLst/>
          </a:prstGeom>
        </p:spPr>
      </p:pic>
      <p:sp>
        <p:nvSpPr>
          <p:cNvPr id="107" name="Shape 87"/>
          <p:cNvSpPr/>
          <p:nvPr/>
        </p:nvSpPr>
        <p:spPr>
          <a:xfrm>
            <a:off x="10607040" y="341985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08" name="Image 18" descr="icons/sta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39044" y="3451860"/>
            <a:ext cx="100584" cy="100584"/>
          </a:xfrm>
          <a:prstGeom prst="rect">
            <a:avLst/>
          </a:prstGeom>
        </p:spPr>
      </p:pic>
      <p:sp>
        <p:nvSpPr>
          <p:cNvPr id="109" name="Shape 88"/>
          <p:cNvSpPr/>
          <p:nvPr/>
        </p:nvSpPr>
        <p:spPr>
          <a:xfrm>
            <a:off x="10799064" y="341985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0" name="Image 19" descr="icons/star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31068" y="3451860"/>
            <a:ext cx="100584" cy="100584"/>
          </a:xfrm>
          <a:prstGeom prst="rect">
            <a:avLst/>
          </a:prstGeom>
        </p:spPr>
      </p:pic>
      <p:sp>
        <p:nvSpPr>
          <p:cNvPr id="111" name="Shape 89"/>
          <p:cNvSpPr/>
          <p:nvPr/>
        </p:nvSpPr>
        <p:spPr>
          <a:xfrm>
            <a:off x="10991088" y="3419856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2" name="Image 20" descr="icons/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23092" y="3451860"/>
            <a:ext cx="100584" cy="100584"/>
          </a:xfrm>
          <a:prstGeom prst="rect">
            <a:avLst/>
          </a:prstGeom>
        </p:spPr>
      </p:pic>
      <p:sp>
        <p:nvSpPr>
          <p:cNvPr id="113" name="Shape 90"/>
          <p:cNvSpPr/>
          <p:nvPr/>
        </p:nvSpPr>
        <p:spPr>
          <a:xfrm>
            <a:off x="11183112" y="3419856"/>
            <a:ext cx="164592" cy="164592"/>
          </a:xfrm>
          <a:prstGeom prst="ellipse">
            <a:avLst/>
          </a:prstGeom>
          <a:solidFill>
            <a:srgbClr val="E8EEF9"/>
          </a:solidFill>
          <a:ln/>
        </p:spPr>
      </p:sp>
      <p:pic>
        <p:nvPicPr>
          <p:cNvPr id="114" name="Image 21" descr="icons/star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15116" y="3451860"/>
            <a:ext cx="100584" cy="100584"/>
          </a:xfrm>
          <a:prstGeom prst="rect">
            <a:avLst/>
          </a:prstGeom>
        </p:spPr>
      </p:pic>
      <p:sp>
        <p:nvSpPr>
          <p:cNvPr id="115" name="Text 91"/>
          <p:cNvSpPr/>
          <p:nvPr/>
        </p:nvSpPr>
        <p:spPr>
          <a:xfrm>
            <a:off x="8503920" y="376732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Service</a:t>
            </a:r>
            <a:endParaRPr lang="en-US" sz="680" dirty="0"/>
          </a:p>
        </p:txBody>
      </p:sp>
      <p:sp>
        <p:nvSpPr>
          <p:cNvPr id="116" name="Shape 92"/>
          <p:cNvSpPr/>
          <p:nvPr/>
        </p:nvSpPr>
        <p:spPr>
          <a:xfrm>
            <a:off x="10415016" y="38039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7" name="Image 22" descr="icons/star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47020" y="3835908"/>
            <a:ext cx="100584" cy="100584"/>
          </a:xfrm>
          <a:prstGeom prst="rect">
            <a:avLst/>
          </a:prstGeom>
        </p:spPr>
      </p:pic>
      <p:sp>
        <p:nvSpPr>
          <p:cNvPr id="118" name="Shape 93"/>
          <p:cNvSpPr/>
          <p:nvPr/>
        </p:nvSpPr>
        <p:spPr>
          <a:xfrm>
            <a:off x="10607040" y="38039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9" name="Image 23" descr="icons/sta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39044" y="3835908"/>
            <a:ext cx="100584" cy="100584"/>
          </a:xfrm>
          <a:prstGeom prst="rect">
            <a:avLst/>
          </a:prstGeom>
        </p:spPr>
      </p:pic>
      <p:sp>
        <p:nvSpPr>
          <p:cNvPr id="120" name="Shape 94"/>
          <p:cNvSpPr/>
          <p:nvPr/>
        </p:nvSpPr>
        <p:spPr>
          <a:xfrm>
            <a:off x="10799064" y="38039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1" name="Image 24" descr="icons/star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31068" y="3835908"/>
            <a:ext cx="100584" cy="100584"/>
          </a:xfrm>
          <a:prstGeom prst="rect">
            <a:avLst/>
          </a:prstGeom>
        </p:spPr>
      </p:pic>
      <p:sp>
        <p:nvSpPr>
          <p:cNvPr id="122" name="Shape 95"/>
          <p:cNvSpPr/>
          <p:nvPr/>
        </p:nvSpPr>
        <p:spPr>
          <a:xfrm>
            <a:off x="10991088" y="38039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3" name="Image 25" descr="icons/star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023092" y="3835908"/>
            <a:ext cx="100584" cy="100584"/>
          </a:xfrm>
          <a:prstGeom prst="rect">
            <a:avLst/>
          </a:prstGeom>
        </p:spPr>
      </p:pic>
      <p:sp>
        <p:nvSpPr>
          <p:cNvPr id="124" name="Shape 96"/>
          <p:cNvSpPr/>
          <p:nvPr/>
        </p:nvSpPr>
        <p:spPr>
          <a:xfrm>
            <a:off x="11183112" y="3803904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5" name="Image 26" descr="icons/star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15116" y="3835908"/>
            <a:ext cx="100584" cy="100584"/>
          </a:xfrm>
          <a:prstGeom prst="rect">
            <a:avLst/>
          </a:prstGeom>
        </p:spPr>
      </p:pic>
      <p:sp>
        <p:nvSpPr>
          <p:cNvPr id="126" name="Text 97"/>
          <p:cNvSpPr/>
          <p:nvPr/>
        </p:nvSpPr>
        <p:spPr>
          <a:xfrm>
            <a:off x="8503920" y="415137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Overall Experience</a:t>
            </a:r>
            <a:endParaRPr lang="en-US" sz="680" dirty="0"/>
          </a:p>
        </p:txBody>
      </p:sp>
      <p:sp>
        <p:nvSpPr>
          <p:cNvPr id="127" name="Shape 98"/>
          <p:cNvSpPr/>
          <p:nvPr/>
        </p:nvSpPr>
        <p:spPr>
          <a:xfrm>
            <a:off x="10415016" y="41879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8" name="Image 27" descr="icons/star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47020" y="4219956"/>
            <a:ext cx="100584" cy="100584"/>
          </a:xfrm>
          <a:prstGeom prst="rect">
            <a:avLst/>
          </a:prstGeom>
        </p:spPr>
      </p:pic>
      <p:sp>
        <p:nvSpPr>
          <p:cNvPr id="129" name="Shape 99"/>
          <p:cNvSpPr/>
          <p:nvPr/>
        </p:nvSpPr>
        <p:spPr>
          <a:xfrm>
            <a:off x="10607040" y="41879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0" name="Image 28" descr="icons/star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639044" y="4219956"/>
            <a:ext cx="100584" cy="100584"/>
          </a:xfrm>
          <a:prstGeom prst="rect">
            <a:avLst/>
          </a:prstGeom>
        </p:spPr>
      </p:pic>
      <p:sp>
        <p:nvSpPr>
          <p:cNvPr id="131" name="Shape 100"/>
          <p:cNvSpPr/>
          <p:nvPr/>
        </p:nvSpPr>
        <p:spPr>
          <a:xfrm>
            <a:off x="10799064" y="41879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2" name="Image 29" descr="icons/sta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31068" y="4219956"/>
            <a:ext cx="100584" cy="100584"/>
          </a:xfrm>
          <a:prstGeom prst="rect">
            <a:avLst/>
          </a:prstGeom>
        </p:spPr>
      </p:pic>
      <p:sp>
        <p:nvSpPr>
          <p:cNvPr id="133" name="Shape 101"/>
          <p:cNvSpPr/>
          <p:nvPr/>
        </p:nvSpPr>
        <p:spPr>
          <a:xfrm>
            <a:off x="10991088" y="41879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4" name="Image 30" descr="icons/star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023092" y="4219956"/>
            <a:ext cx="100584" cy="100584"/>
          </a:xfrm>
          <a:prstGeom prst="rect">
            <a:avLst/>
          </a:prstGeom>
        </p:spPr>
      </p:pic>
      <p:sp>
        <p:nvSpPr>
          <p:cNvPr id="135" name="Shape 102"/>
          <p:cNvSpPr/>
          <p:nvPr/>
        </p:nvSpPr>
        <p:spPr>
          <a:xfrm>
            <a:off x="11183112" y="4187952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6" name="Image 31" descr="icons/star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215116" y="4219956"/>
            <a:ext cx="100584" cy="100584"/>
          </a:xfrm>
          <a:prstGeom prst="rect">
            <a:avLst/>
          </a:prstGeom>
        </p:spPr>
      </p:pic>
      <p:sp>
        <p:nvSpPr>
          <p:cNvPr id="137" name="Text 103"/>
          <p:cNvSpPr/>
          <p:nvPr/>
        </p:nvSpPr>
        <p:spPr>
          <a:xfrm>
            <a:off x="8503920" y="4590288"/>
            <a:ext cx="2898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Comments</a:t>
            </a:r>
            <a:endParaRPr lang="en-US" sz="620" dirty="0"/>
          </a:p>
        </p:txBody>
      </p:sp>
      <p:sp>
        <p:nvSpPr>
          <p:cNvPr id="138" name="Shape 104"/>
          <p:cNvSpPr/>
          <p:nvPr/>
        </p:nvSpPr>
        <p:spPr>
          <a:xfrm>
            <a:off x="8503920" y="4773168"/>
            <a:ext cx="289864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39" name="Text 105"/>
          <p:cNvSpPr/>
          <p:nvPr/>
        </p:nvSpPr>
        <p:spPr>
          <a:xfrm>
            <a:off x="8595360" y="4828032"/>
            <a:ext cx="2715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Delivered on time and specifications</a:t>
            </a:r>
            <a:endParaRPr lang="en-US" sz="63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30" dirty="0">
                <a:solidFill>
                  <a:srgbClr val="1B243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matched the request exactly.</a:t>
            </a:r>
            <a:endParaRPr lang="en-US" sz="630" dirty="0"/>
          </a:p>
        </p:txBody>
      </p:sp>
      <p:sp>
        <p:nvSpPr>
          <p:cNvPr id="140" name="Shape 106"/>
          <p:cNvSpPr/>
          <p:nvPr/>
        </p:nvSpPr>
        <p:spPr>
          <a:xfrm>
            <a:off x="8503920" y="5468112"/>
            <a:ext cx="2898648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</p:sp>
      <p:sp>
        <p:nvSpPr>
          <p:cNvPr id="141" name="Text 107"/>
          <p:cNvSpPr/>
          <p:nvPr/>
        </p:nvSpPr>
        <p:spPr>
          <a:xfrm>
            <a:off x="8503920" y="5468112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Submit Evaluation</a:t>
            </a:r>
            <a:endParaRPr lang="en-US" sz="700" dirty="0"/>
          </a:p>
        </p:txBody>
      </p:sp>
      <p:sp>
        <p:nvSpPr>
          <p:cNvPr id="142" name="Text 108"/>
          <p:cNvSpPr/>
          <p:nvPr/>
        </p:nvSpPr>
        <p:spPr>
          <a:xfrm>
            <a:off x="8357616" y="5715000"/>
            <a:ext cx="319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Post-delivery rating across five criteria (FR13)</a:t>
            </a:r>
            <a:endParaRPr lang="en-US" sz="950" dirty="0"/>
          </a:p>
        </p:txBody>
      </p:sp>
      <p:sp>
        <p:nvSpPr>
          <p:cNvPr id="143" name="Text 109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144" name="Text 110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68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645920"/>
            <a:ext cx="4206240" cy="4206240"/>
          </a:xfrm>
          <a:prstGeom prst="ellipse">
            <a:avLst/>
          </a:prstGeom>
          <a:solidFill>
            <a:srgbClr val="172B52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937760"/>
            <a:ext cx="2651760" cy="2651760"/>
          </a:xfrm>
          <a:prstGeom prst="ellipse">
            <a:avLst/>
          </a:prstGeom>
          <a:solidFill>
            <a:srgbClr val="172B5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4572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8132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C3CE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replaces scattered, manual vendor and procurement activities with a single centralized web platform. Built on the MERN stack, it covers the complete lifecycle — from an employee purchase request, through vendor comparison and purchase order, to delivery, PDF receipt and vendor evaluation.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6974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172B52"/>
          </a:solidFill>
          <a:ln w="12700">
            <a:solidFill>
              <a:srgbClr val="2235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953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</p:spPr>
      </p:sp>
      <p:pic>
        <p:nvPicPr>
          <p:cNvPr id="10" name="Image 0" descr="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292" y="3022092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4712" y="353872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Centralized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24712" y="3831336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platform for vendors, products, requests and orders.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94176" y="26974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172B52"/>
          </a:solidFill>
          <a:ln w="12700">
            <a:solidFill>
              <a:srgbClr val="2235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50208" y="2953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</p:spPr>
      </p:sp>
      <p:pic>
        <p:nvPicPr>
          <p:cNvPr id="15" name="Image 1" descr="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788" y="302209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0208" y="353872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Role-based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950208" y="3831336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Admin, Procurement Manager, Employee and Vendor.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519672" y="26974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172B52"/>
          </a:solidFill>
          <a:ln w="12700">
            <a:solidFill>
              <a:srgbClr val="22355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775704" y="2953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</p:spPr>
      </p:sp>
      <p:pic>
        <p:nvPicPr>
          <p:cNvPr id="20" name="Image 2" descr="icons/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284" y="302209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75704" y="353872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Transparent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775704" y="3831336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 comparison and confirmed pricing before fulfillment.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9345168" y="269748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172B52"/>
          </a:solidFill>
          <a:ln w="12700">
            <a:solidFill>
              <a:srgbClr val="22355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601200" y="2953512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</p:spPr>
      </p:sp>
      <p:pic>
        <p:nvPicPr>
          <p:cNvPr id="25" name="Image 3" descr="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9780" y="302209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01200" y="353872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Accountable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9601200" y="3831336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 tracking, PDF receipts and vendor evaluation.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868680" y="5029200"/>
            <a:ext cx="10469880" cy="0"/>
          </a:xfrm>
          <a:prstGeom prst="line">
            <a:avLst/>
          </a:prstGeom>
          <a:noFill/>
          <a:ln w="12700">
            <a:solidFill>
              <a:srgbClr val="22355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68680" y="52303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6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steps  —  implementation of remaining modules, integration testing and final deployment.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868680" y="57150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1" name="Text 25"/>
          <p:cNvSpPr/>
          <p:nvPr/>
        </p:nvSpPr>
        <p:spPr>
          <a:xfrm>
            <a:off x="640080" y="652881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D8B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VENDORFLOW  ·  Review 1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1109167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D8BA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2026-09-17T16:51:52Z</dcterms:created>
  <dcterms:modified xsi:type="dcterms:W3CDTF">2026-09-17T16:51:52Z</dcterms:modified>
</cp:coreProperties>
</file>