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64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8732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5.png"/><Relationship Id="rId5" Type="http://schemas.openxmlformats.org/officeDocument/2006/relationships/image" Target="../media/image11.png"/><Relationship Id="rId10" Type="http://schemas.openxmlformats.org/officeDocument/2006/relationships/image" Target="../media/image3.png"/><Relationship Id="rId4" Type="http://schemas.openxmlformats.org/officeDocument/2006/relationships/image" Target="../media/image10.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2173E"/>
          </a:solidFill>
          <a:ln/>
        </p:spPr>
      </p:sp>
      <p:sp>
        <p:nvSpPr>
          <p:cNvPr id="3" name="Shape 1"/>
          <p:cNvSpPr/>
          <p:nvPr/>
        </p:nvSpPr>
        <p:spPr>
          <a:xfrm>
            <a:off x="-1280160" y="4937760"/>
            <a:ext cx="3291840" cy="3291840"/>
          </a:xfrm>
          <a:prstGeom prst="ellipse">
            <a:avLst/>
          </a:prstGeom>
          <a:solidFill>
            <a:srgbClr val="12173E"/>
          </a:solidFill>
          <a:ln/>
        </p:spPr>
      </p:sp>
      <p:sp>
        <p:nvSpPr>
          <p:cNvPr id="4" name="Shape 2"/>
          <p:cNvSpPr/>
          <p:nvPr/>
        </p:nvSpPr>
        <p:spPr>
          <a:xfrm>
            <a:off x="10607040" y="5394960"/>
            <a:ext cx="2194560" cy="2194560"/>
          </a:xfrm>
          <a:prstGeom prst="ellipse">
            <a:avLst/>
          </a:prstGeom>
          <a:solidFill>
            <a:srgbClr val="C9932B"/>
          </a:solidFill>
          <a:ln/>
        </p:spPr>
      </p:sp>
      <p:sp>
        <p:nvSpPr>
          <p:cNvPr id="5" name="Text 3"/>
          <p:cNvSpPr/>
          <p:nvPr/>
        </p:nvSpPr>
        <p:spPr>
          <a:xfrm>
            <a:off x="0" y="777240"/>
            <a:ext cx="12188952" cy="365760"/>
          </a:xfrm>
          <a:prstGeom prst="rect">
            <a:avLst/>
          </a:prstGeom>
          <a:noFill/>
          <a:ln/>
        </p:spPr>
        <p:txBody>
          <a:bodyPr wrap="square" lIns="0" tIns="0" rIns="0" bIns="0" rtlCol="0" anchor="ctr"/>
          <a:lstStyle/>
          <a:p>
            <a:pPr marL="0" indent="0" algn="ctr">
              <a:buNone/>
            </a:pPr>
            <a:r>
              <a:rPr lang="en-US" sz="1400" kern="0" spc="200" dirty="0">
                <a:solidFill>
                  <a:srgbClr val="E8C77A"/>
                </a:solidFill>
                <a:latin typeface="Calibri" pitchFamily="34" charset="0"/>
                <a:ea typeface="Calibri" pitchFamily="34" charset="-122"/>
                <a:cs typeface="Calibri" pitchFamily="34" charset="-120"/>
              </a:rPr>
              <a:t>FULL STACK DEVELOPMENT PROJECT   •   MERN STACK</a:t>
            </a:r>
            <a:endParaRPr lang="en-US" sz="1400" dirty="0"/>
          </a:p>
        </p:txBody>
      </p:sp>
      <p:sp>
        <p:nvSpPr>
          <p:cNvPr id="6" name="Text 4"/>
          <p:cNvSpPr/>
          <p:nvPr/>
        </p:nvSpPr>
        <p:spPr>
          <a:xfrm>
            <a:off x="0" y="2331720"/>
            <a:ext cx="12188952" cy="1097280"/>
          </a:xfrm>
          <a:prstGeom prst="rect">
            <a:avLst/>
          </a:prstGeom>
          <a:noFill/>
          <a:ln/>
        </p:spPr>
        <p:txBody>
          <a:bodyPr wrap="square" lIns="0" tIns="0" rIns="0" bIns="0" rtlCol="0" anchor="ctr"/>
          <a:lstStyle/>
          <a:p>
            <a:pPr marL="0" indent="0" algn="ctr">
              <a:buNone/>
            </a:pPr>
            <a:r>
              <a:rPr lang="en-US" sz="5800" b="1" dirty="0">
                <a:solidFill>
                  <a:srgbClr val="FFFFFF"/>
                </a:solidFill>
                <a:latin typeface="Cambria" pitchFamily="34" charset="0"/>
                <a:ea typeface="Cambria" pitchFamily="34" charset="-122"/>
                <a:cs typeface="Cambria" pitchFamily="34" charset="-120"/>
              </a:rPr>
              <a:t>VENDORFLOW</a:t>
            </a:r>
            <a:endParaRPr lang="en-US" sz="5800" dirty="0"/>
          </a:p>
        </p:txBody>
      </p:sp>
      <p:sp>
        <p:nvSpPr>
          <p:cNvPr id="7" name="Text 5"/>
          <p:cNvSpPr/>
          <p:nvPr/>
        </p:nvSpPr>
        <p:spPr>
          <a:xfrm>
            <a:off x="0" y="1584452"/>
            <a:ext cx="12188952" cy="457200"/>
          </a:xfrm>
          <a:prstGeom prst="rect">
            <a:avLst/>
          </a:prstGeom>
          <a:noFill/>
          <a:ln/>
        </p:spPr>
        <p:txBody>
          <a:bodyPr wrap="square" lIns="0" tIns="0" rIns="0" bIns="0" rtlCol="0" anchor="ctr"/>
          <a:lstStyle/>
          <a:p>
            <a:pPr marL="0" indent="0" algn="ctr">
              <a:buNone/>
            </a:pPr>
            <a:r>
              <a:rPr lang="en-US" sz="2200" dirty="0">
                <a:solidFill>
                  <a:srgbClr val="E8C77A"/>
                </a:solidFill>
                <a:latin typeface="Calibri" pitchFamily="34" charset="0"/>
                <a:ea typeface="Calibri" pitchFamily="34" charset="-122"/>
                <a:cs typeface="Calibri" pitchFamily="34" charset="-120"/>
              </a:rPr>
              <a:t>Zeroth Review</a:t>
            </a:r>
            <a:endParaRPr lang="en-US" sz="2200" dirty="0"/>
          </a:p>
        </p:txBody>
      </p:sp>
      <p:sp>
        <p:nvSpPr>
          <p:cNvPr id="8" name="Text 6"/>
          <p:cNvSpPr/>
          <p:nvPr/>
        </p:nvSpPr>
        <p:spPr>
          <a:xfrm>
            <a:off x="2011680" y="3913632"/>
            <a:ext cx="8165592" cy="640080"/>
          </a:xfrm>
          <a:prstGeom prst="rect">
            <a:avLst/>
          </a:prstGeom>
          <a:noFill/>
          <a:ln/>
        </p:spPr>
        <p:txBody>
          <a:bodyPr wrap="square" lIns="0" tIns="0" rIns="0" bIns="0" rtlCol="0" anchor="ctr"/>
          <a:lstStyle/>
          <a:p>
            <a:pPr marL="0" indent="0" algn="ctr">
              <a:lnSpc>
                <a:spcPct val="120000"/>
              </a:lnSpc>
              <a:buNone/>
            </a:pPr>
            <a:r>
              <a:rPr lang="en-US" sz="1400" dirty="0">
                <a:solidFill>
                  <a:srgbClr val="CBD3EC"/>
                </a:solidFill>
                <a:latin typeface="Calibri" pitchFamily="34" charset="0"/>
                <a:ea typeface="Calibri" pitchFamily="34" charset="-122"/>
                <a:cs typeface="Calibri" pitchFamily="34" charset="-120"/>
              </a:rPr>
              <a:t>A Centralized Platform for Vendor Onboarding, Procurement Management</a:t>
            </a:r>
            <a:endParaRPr lang="en-US" sz="1400" dirty="0"/>
          </a:p>
          <a:p>
            <a:pPr marL="0" indent="0" algn="ctr">
              <a:lnSpc>
                <a:spcPct val="120000"/>
              </a:lnSpc>
              <a:buNone/>
            </a:pPr>
            <a:r>
              <a:rPr lang="en-US" sz="1400" dirty="0">
                <a:solidFill>
                  <a:srgbClr val="CBD3EC"/>
                </a:solidFill>
                <a:latin typeface="Calibri" pitchFamily="34" charset="0"/>
                <a:ea typeface="Calibri" pitchFamily="34" charset="-122"/>
                <a:cs typeface="Calibri" pitchFamily="34" charset="-120"/>
              </a:rPr>
              <a:t>and Vendor Performance Evaluation</a:t>
            </a:r>
            <a:endParaRPr lang="en-US" sz="1400" dirty="0"/>
          </a:p>
        </p:txBody>
      </p:sp>
      <p:sp>
        <p:nvSpPr>
          <p:cNvPr id="9" name="Shape 7"/>
          <p:cNvSpPr/>
          <p:nvPr/>
        </p:nvSpPr>
        <p:spPr>
          <a:xfrm>
            <a:off x="1110996" y="5074920"/>
            <a:ext cx="3108960" cy="1051560"/>
          </a:xfrm>
          <a:prstGeom prst="rect">
            <a:avLst/>
          </a:prstGeom>
          <a:solidFill>
            <a:srgbClr val="12173E"/>
          </a:solidFill>
          <a:ln w="12700">
            <a:solidFill>
              <a:srgbClr val="343B6E"/>
            </a:solidFill>
            <a:prstDash val="solid"/>
          </a:ln>
        </p:spPr>
      </p:sp>
      <p:sp>
        <p:nvSpPr>
          <p:cNvPr id="10" name="Text 8"/>
          <p:cNvSpPr/>
          <p:nvPr/>
        </p:nvSpPr>
        <p:spPr>
          <a:xfrm>
            <a:off x="1248156" y="5148072"/>
            <a:ext cx="2834640" cy="274320"/>
          </a:xfrm>
          <a:prstGeom prst="rect">
            <a:avLst/>
          </a:prstGeom>
          <a:noFill/>
          <a:ln/>
        </p:spPr>
        <p:txBody>
          <a:bodyPr wrap="square" lIns="0" tIns="0" rIns="0" bIns="0" rtlCol="0" anchor="ctr"/>
          <a:lstStyle/>
          <a:p>
            <a:pPr marL="0" indent="0" algn="l">
              <a:buNone/>
            </a:pPr>
            <a:r>
              <a:rPr lang="en-US" sz="1200" b="1" kern="0" spc="100" dirty="0">
                <a:solidFill>
                  <a:srgbClr val="E8C77A"/>
                </a:solidFill>
                <a:latin typeface="Calibri" pitchFamily="34" charset="0"/>
                <a:ea typeface="Calibri" pitchFamily="34" charset="-122"/>
                <a:cs typeface="Calibri" pitchFamily="34" charset="-120"/>
              </a:rPr>
              <a:t>DEPARTMENT / COLLEGE</a:t>
            </a:r>
            <a:endParaRPr lang="en-US" sz="1200" dirty="0"/>
          </a:p>
        </p:txBody>
      </p:sp>
      <p:sp>
        <p:nvSpPr>
          <p:cNvPr id="11" name="Text 9"/>
          <p:cNvSpPr/>
          <p:nvPr/>
        </p:nvSpPr>
        <p:spPr>
          <a:xfrm>
            <a:off x="1248156" y="5413248"/>
            <a:ext cx="2834640" cy="640080"/>
          </a:xfrm>
          <a:prstGeom prst="rect">
            <a:avLst/>
          </a:prstGeom>
          <a:noFill/>
          <a:ln/>
        </p:spPr>
        <p:txBody>
          <a:bodyPr wrap="square" lIns="0" tIns="0" rIns="0" bIns="0" rtlCol="0" anchor="ctr"/>
          <a:lstStyle/>
          <a:p>
            <a:pPr marL="0" indent="0" algn="l">
              <a:lnSpc>
                <a:spcPct val="115000"/>
              </a:lnSpc>
              <a:buNone/>
            </a:pPr>
            <a:r>
              <a:rPr lang="en-US" sz="1400" dirty="0">
                <a:solidFill>
                  <a:srgbClr val="FFFFFF"/>
                </a:solidFill>
                <a:latin typeface="Calibri" pitchFamily="34" charset="0"/>
                <a:ea typeface="Calibri" pitchFamily="34" charset="-122"/>
                <a:cs typeface="Calibri" pitchFamily="34" charset="-120"/>
              </a:rPr>
              <a:t>Computer Science and Engineering,</a:t>
            </a:r>
            <a:endParaRPr lang="en-US" sz="1400" dirty="0"/>
          </a:p>
          <a:p>
            <a:pPr marL="0" indent="0" algn="l">
              <a:lnSpc>
                <a:spcPct val="115000"/>
              </a:lnSpc>
              <a:buNone/>
            </a:pPr>
            <a:r>
              <a:rPr lang="en-US" sz="1400" dirty="0">
                <a:solidFill>
                  <a:srgbClr val="FFFFFF"/>
                </a:solidFill>
                <a:latin typeface="Calibri" pitchFamily="34" charset="0"/>
                <a:ea typeface="Calibri" pitchFamily="34" charset="-122"/>
                <a:cs typeface="Calibri" pitchFamily="34" charset="-120"/>
              </a:rPr>
              <a:t>Easwari Engineering College – Chennai</a:t>
            </a:r>
            <a:endParaRPr lang="en-US" sz="1400" dirty="0"/>
          </a:p>
        </p:txBody>
      </p:sp>
      <p:sp>
        <p:nvSpPr>
          <p:cNvPr id="12" name="Shape 10"/>
          <p:cNvSpPr/>
          <p:nvPr/>
        </p:nvSpPr>
        <p:spPr>
          <a:xfrm>
            <a:off x="4539996" y="5074920"/>
            <a:ext cx="3108960" cy="1051560"/>
          </a:xfrm>
          <a:prstGeom prst="rect">
            <a:avLst/>
          </a:prstGeom>
          <a:solidFill>
            <a:srgbClr val="12173E"/>
          </a:solidFill>
          <a:ln w="12700">
            <a:solidFill>
              <a:srgbClr val="343B6E"/>
            </a:solidFill>
            <a:prstDash val="solid"/>
          </a:ln>
        </p:spPr>
      </p:sp>
      <p:sp>
        <p:nvSpPr>
          <p:cNvPr id="13" name="Text 11"/>
          <p:cNvSpPr/>
          <p:nvPr/>
        </p:nvSpPr>
        <p:spPr>
          <a:xfrm>
            <a:off x="4677156" y="5148072"/>
            <a:ext cx="2834640" cy="274320"/>
          </a:xfrm>
          <a:prstGeom prst="rect">
            <a:avLst/>
          </a:prstGeom>
          <a:noFill/>
          <a:ln/>
        </p:spPr>
        <p:txBody>
          <a:bodyPr wrap="square" lIns="0" tIns="0" rIns="0" bIns="0" rtlCol="0" anchor="ctr"/>
          <a:lstStyle/>
          <a:p>
            <a:pPr marL="0" indent="0" algn="l">
              <a:buNone/>
            </a:pPr>
            <a:r>
              <a:rPr lang="en-US" sz="1200" b="1" kern="0" spc="100" dirty="0">
                <a:solidFill>
                  <a:srgbClr val="E8C77A"/>
                </a:solidFill>
                <a:latin typeface="Calibri" pitchFamily="34" charset="0"/>
                <a:ea typeface="Calibri" pitchFamily="34" charset="-122"/>
                <a:cs typeface="Calibri" pitchFamily="34" charset="-120"/>
              </a:rPr>
              <a:t>STUDENT NAME :</a:t>
            </a:r>
            <a:endParaRPr lang="en-US" sz="1200" dirty="0"/>
          </a:p>
        </p:txBody>
      </p:sp>
      <p:sp>
        <p:nvSpPr>
          <p:cNvPr id="14" name="Text 12"/>
          <p:cNvSpPr/>
          <p:nvPr/>
        </p:nvSpPr>
        <p:spPr>
          <a:xfrm>
            <a:off x="4677156" y="5413248"/>
            <a:ext cx="2834640" cy="640080"/>
          </a:xfrm>
          <a:prstGeom prst="rect">
            <a:avLst/>
          </a:prstGeom>
          <a:noFill/>
          <a:ln/>
        </p:spPr>
        <p:txBody>
          <a:bodyPr wrap="square" lIns="0" tIns="0" rIns="0" bIns="0" rtlCol="0" anchor="ctr"/>
          <a:lstStyle/>
          <a:p>
            <a:pPr marL="0" indent="0" algn="l">
              <a:lnSpc>
                <a:spcPct val="115000"/>
              </a:lnSpc>
              <a:buNone/>
            </a:pPr>
            <a:r>
              <a:rPr lang="en-US" sz="1400" dirty="0" err="1">
                <a:solidFill>
                  <a:srgbClr val="FFFFFF"/>
                </a:solidFill>
                <a:latin typeface="Calibri" pitchFamily="34" charset="0"/>
                <a:ea typeface="Calibri" pitchFamily="34" charset="-122"/>
                <a:cs typeface="Calibri" pitchFamily="34" charset="-120"/>
              </a:rPr>
              <a:t>Thanesh</a:t>
            </a:r>
            <a:r>
              <a:rPr lang="en-US" sz="1400" dirty="0">
                <a:solidFill>
                  <a:srgbClr val="FFFFFF"/>
                </a:solidFill>
                <a:latin typeface="Calibri" pitchFamily="34" charset="0"/>
                <a:ea typeface="Calibri" pitchFamily="34" charset="-122"/>
                <a:cs typeface="Calibri" pitchFamily="34" charset="-120"/>
              </a:rPr>
              <a:t> S.</a:t>
            </a:r>
            <a:endParaRPr lang="en-US" sz="1400" dirty="0"/>
          </a:p>
          <a:p>
            <a:pPr marL="0" indent="0" algn="l">
              <a:lnSpc>
                <a:spcPct val="115000"/>
              </a:lnSpc>
              <a:buNone/>
            </a:pPr>
            <a:r>
              <a:rPr lang="en-US" sz="1400" dirty="0">
                <a:solidFill>
                  <a:srgbClr val="FFFFFF"/>
                </a:solidFill>
                <a:latin typeface="Calibri" pitchFamily="34" charset="0"/>
                <a:ea typeface="Calibri" pitchFamily="34" charset="-122"/>
                <a:cs typeface="Calibri" pitchFamily="34" charset="-120"/>
              </a:rPr>
              <a:t>Reg No: 310624104353</a:t>
            </a:r>
            <a:endParaRPr lang="en-US" sz="1400" dirty="0"/>
          </a:p>
        </p:txBody>
      </p:sp>
      <p:sp>
        <p:nvSpPr>
          <p:cNvPr id="15" name="Shape 13"/>
          <p:cNvSpPr/>
          <p:nvPr/>
        </p:nvSpPr>
        <p:spPr>
          <a:xfrm>
            <a:off x="7968996" y="5074920"/>
            <a:ext cx="3108960" cy="1051560"/>
          </a:xfrm>
          <a:prstGeom prst="rect">
            <a:avLst/>
          </a:prstGeom>
          <a:solidFill>
            <a:srgbClr val="12173E"/>
          </a:solidFill>
          <a:ln w="12700">
            <a:solidFill>
              <a:srgbClr val="343B6E"/>
            </a:solidFill>
            <a:prstDash val="solid"/>
          </a:ln>
        </p:spPr>
      </p:sp>
      <p:sp>
        <p:nvSpPr>
          <p:cNvPr id="16" name="Text 14"/>
          <p:cNvSpPr/>
          <p:nvPr/>
        </p:nvSpPr>
        <p:spPr>
          <a:xfrm>
            <a:off x="8106156" y="5148072"/>
            <a:ext cx="2834640" cy="274320"/>
          </a:xfrm>
          <a:prstGeom prst="rect">
            <a:avLst/>
          </a:prstGeom>
          <a:noFill/>
          <a:ln/>
        </p:spPr>
        <p:txBody>
          <a:bodyPr wrap="square" lIns="0" tIns="0" rIns="0" bIns="0" rtlCol="0" anchor="ctr"/>
          <a:lstStyle/>
          <a:p>
            <a:pPr marL="0" indent="0" algn="l">
              <a:buNone/>
            </a:pPr>
            <a:r>
              <a:rPr lang="en-US" sz="1200" b="1" kern="0" spc="100" dirty="0">
                <a:solidFill>
                  <a:srgbClr val="E8C77A"/>
                </a:solidFill>
                <a:latin typeface="Calibri" pitchFamily="34" charset="0"/>
                <a:ea typeface="Calibri" pitchFamily="34" charset="-122"/>
                <a:cs typeface="Calibri" pitchFamily="34" charset="-120"/>
              </a:rPr>
              <a:t>GUIDE / TRAINER</a:t>
            </a:r>
            <a:endParaRPr lang="en-US" sz="1200" dirty="0"/>
          </a:p>
        </p:txBody>
      </p:sp>
      <p:sp>
        <p:nvSpPr>
          <p:cNvPr id="17" name="Text 15"/>
          <p:cNvSpPr/>
          <p:nvPr/>
        </p:nvSpPr>
        <p:spPr>
          <a:xfrm>
            <a:off x="8106156" y="5413248"/>
            <a:ext cx="2834640" cy="640080"/>
          </a:xfrm>
          <a:prstGeom prst="rect">
            <a:avLst/>
          </a:prstGeom>
          <a:noFill/>
          <a:ln/>
        </p:spPr>
        <p:txBody>
          <a:bodyPr wrap="square" lIns="0" tIns="0" rIns="0" bIns="0" rtlCol="0" anchor="ctr"/>
          <a:lstStyle/>
          <a:p>
            <a:pPr marL="0" indent="0" algn="l">
              <a:lnSpc>
                <a:spcPct val="115000"/>
              </a:lnSpc>
              <a:buNone/>
            </a:pPr>
            <a:r>
              <a:rPr lang="en-US" sz="1400" dirty="0">
                <a:solidFill>
                  <a:srgbClr val="FFFFFF"/>
                </a:solidFill>
                <a:latin typeface="Calibri" pitchFamily="34" charset="0"/>
                <a:ea typeface="Calibri" pitchFamily="34" charset="-122"/>
                <a:cs typeface="Calibri" pitchFamily="34" charset="-120"/>
              </a:rPr>
              <a:t>Mrs. Swapna </a:t>
            </a:r>
            <a:r>
              <a:rPr lang="en-US" sz="1400" dirty="0" err="1">
                <a:solidFill>
                  <a:srgbClr val="FFFFFF"/>
                </a:solidFill>
                <a:latin typeface="Calibri" pitchFamily="34" charset="0"/>
                <a:ea typeface="Calibri" pitchFamily="34" charset="-122"/>
                <a:cs typeface="Calibri" pitchFamily="34" charset="-120"/>
              </a:rPr>
              <a:t>Duggi</a:t>
            </a:r>
            <a:endParaRPr lang="en-US" sz="1400" dirty="0"/>
          </a:p>
        </p:txBody>
      </p:sp>
      <p:sp>
        <p:nvSpPr>
          <p:cNvPr id="18" name="Text 16"/>
          <p:cNvSpPr/>
          <p:nvPr/>
        </p:nvSpPr>
        <p:spPr>
          <a:xfrm>
            <a:off x="0" y="6355080"/>
            <a:ext cx="12188952" cy="365760"/>
          </a:xfrm>
          <a:prstGeom prst="rect">
            <a:avLst/>
          </a:prstGeom>
          <a:noFill/>
          <a:ln/>
        </p:spPr>
        <p:txBody>
          <a:bodyPr wrap="square" lIns="0" tIns="0" rIns="0" bIns="0" rtlCol="0" anchor="ctr"/>
          <a:lstStyle/>
          <a:p>
            <a:pPr marL="0" indent="0" algn="ctr">
              <a:buNone/>
            </a:pPr>
            <a:r>
              <a:rPr lang="en-US" sz="1300" i="1" dirty="0">
                <a:solidFill>
                  <a:srgbClr val="9AA3C7"/>
                </a:solidFill>
                <a:latin typeface="Cambria" pitchFamily="34" charset="0"/>
                <a:ea typeface="Cambria" pitchFamily="34" charset="-122"/>
                <a:cs typeface="Cambria" pitchFamily="34" charset="-120"/>
              </a:rPr>
              <a:t>"From Vendor Registration to Verified Performance."</a:t>
            </a:r>
            <a:endParaRPr lang="en-US" sz="1300" dirty="0"/>
          </a:p>
        </p:txBody>
      </p:sp>
      <p:sp>
        <p:nvSpPr>
          <p:cNvPr id="20" name="Text 5">
            <a:extLst>
              <a:ext uri="{FF2B5EF4-FFF2-40B4-BE49-F238E27FC236}">
                <a16:creationId xmlns:a16="http://schemas.microsoft.com/office/drawing/2014/main" id="{CE4BC6D6-6202-6700-29D2-4031344C56DB}"/>
              </a:ext>
            </a:extLst>
          </p:cNvPr>
          <p:cNvSpPr/>
          <p:nvPr/>
        </p:nvSpPr>
        <p:spPr>
          <a:xfrm>
            <a:off x="152400" y="3517392"/>
            <a:ext cx="12188952" cy="457200"/>
          </a:xfrm>
          <a:prstGeom prst="rect">
            <a:avLst/>
          </a:prstGeom>
          <a:noFill/>
          <a:ln/>
        </p:spPr>
        <p:txBody>
          <a:bodyPr wrap="square" lIns="0" tIns="0" rIns="0" bIns="0" rtlCol="0" anchor="ctr"/>
          <a:lstStyle/>
          <a:p>
            <a:pPr marL="0" indent="0" algn="ctr">
              <a:buNone/>
            </a:pPr>
            <a:r>
              <a:rPr lang="en-US" sz="2200" dirty="0">
                <a:solidFill>
                  <a:srgbClr val="E8C77A"/>
                </a:solidFill>
                <a:latin typeface="Calibri" pitchFamily="34" charset="0"/>
                <a:ea typeface="Calibri" pitchFamily="34" charset="-122"/>
                <a:cs typeface="Calibri" pitchFamily="34" charset="-120"/>
              </a:rPr>
              <a:t>Vendor Management System</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515600" cy="640080"/>
          </a:xfrm>
          <a:prstGeom prst="rect">
            <a:avLst/>
          </a:prstGeom>
          <a:noFill/>
          <a:ln/>
        </p:spPr>
        <p:txBody>
          <a:bodyPr wrap="square" lIns="0" tIns="0" rIns="0" bIns="0" rtlCol="0" anchor="ctr"/>
          <a:lstStyle/>
          <a:p>
            <a:pPr marL="0" indent="0" algn="l">
              <a:buNone/>
            </a:pPr>
            <a:r>
              <a:rPr lang="en-US" sz="3400" b="1" dirty="0">
                <a:solidFill>
                  <a:srgbClr val="1E2761"/>
                </a:solidFill>
                <a:latin typeface="Cambria" pitchFamily="34" charset="0"/>
                <a:ea typeface="Cambria" pitchFamily="34" charset="-122"/>
                <a:cs typeface="Cambria" pitchFamily="34" charset="-120"/>
              </a:rPr>
              <a:t>Table of Contents</a:t>
            </a:r>
            <a:endParaRPr lang="en-US" sz="3400" dirty="0"/>
          </a:p>
        </p:txBody>
      </p:sp>
      <p:sp>
        <p:nvSpPr>
          <p:cNvPr id="3" name="Text 1"/>
          <p:cNvSpPr/>
          <p:nvPr/>
        </p:nvSpPr>
        <p:spPr>
          <a:xfrm>
            <a:off x="548640" y="1024128"/>
            <a:ext cx="7315200" cy="320040"/>
          </a:xfrm>
          <a:prstGeom prst="rect">
            <a:avLst/>
          </a:prstGeom>
          <a:noFill/>
          <a:ln/>
        </p:spPr>
        <p:txBody>
          <a:bodyPr wrap="square" lIns="0" tIns="0" rIns="0" bIns="0" rtlCol="0" anchor="ctr"/>
          <a:lstStyle/>
          <a:p>
            <a:pPr marL="0" indent="0">
              <a:buNone/>
            </a:pPr>
            <a:r>
              <a:rPr lang="en-US" sz="1300" dirty="0">
                <a:solidFill>
                  <a:srgbClr val="6B7488"/>
                </a:solidFill>
                <a:latin typeface="Calibri" pitchFamily="34" charset="0"/>
                <a:ea typeface="Calibri" pitchFamily="34" charset="-122"/>
                <a:cs typeface="Calibri" pitchFamily="34" charset="-120"/>
              </a:rPr>
              <a:t>VENDORFLOW — Zero-th Project Review</a:t>
            </a:r>
            <a:endParaRPr lang="en-US" sz="1300" dirty="0"/>
          </a:p>
        </p:txBody>
      </p:sp>
      <p:sp>
        <p:nvSpPr>
          <p:cNvPr id="4" name="Shape 2"/>
          <p:cNvSpPr/>
          <p:nvPr/>
        </p:nvSpPr>
        <p:spPr>
          <a:xfrm>
            <a:off x="548640" y="1801368"/>
            <a:ext cx="457200" cy="457200"/>
          </a:xfrm>
          <a:prstGeom prst="ellipse">
            <a:avLst/>
          </a:prstGeom>
          <a:solidFill>
            <a:srgbClr val="E3ECFB"/>
          </a:solidFill>
          <a:ln w="12700">
            <a:solidFill>
              <a:srgbClr val="1E2761"/>
            </a:solidFill>
            <a:prstDash val="solid"/>
          </a:ln>
        </p:spPr>
      </p:sp>
      <p:sp>
        <p:nvSpPr>
          <p:cNvPr id="5" name="Text 3"/>
          <p:cNvSpPr/>
          <p:nvPr/>
        </p:nvSpPr>
        <p:spPr>
          <a:xfrm>
            <a:off x="548640" y="1801368"/>
            <a:ext cx="457200" cy="457200"/>
          </a:xfrm>
          <a:prstGeom prst="rect">
            <a:avLst/>
          </a:prstGeom>
          <a:noFill/>
          <a:ln/>
        </p:spPr>
        <p:txBody>
          <a:bodyPr wrap="square" lIns="0" tIns="0" rIns="0" bIns="0" rtlCol="0" anchor="ctr"/>
          <a:lstStyle/>
          <a:p>
            <a:pPr marL="0" indent="0" algn="ctr">
              <a:buNone/>
            </a:pPr>
            <a:r>
              <a:rPr lang="en-US" sz="1300" b="1" dirty="0">
                <a:solidFill>
                  <a:srgbClr val="1E2761"/>
                </a:solidFill>
                <a:latin typeface="Cambria" pitchFamily="34" charset="0"/>
                <a:ea typeface="Cambria" pitchFamily="34" charset="-122"/>
                <a:cs typeface="Cambria" pitchFamily="34" charset="-120"/>
              </a:rPr>
              <a:t>01</a:t>
            </a:r>
            <a:endParaRPr lang="en-US" sz="1300" dirty="0"/>
          </a:p>
        </p:txBody>
      </p:sp>
      <p:sp>
        <p:nvSpPr>
          <p:cNvPr id="6" name="Text 4"/>
          <p:cNvSpPr/>
          <p:nvPr/>
        </p:nvSpPr>
        <p:spPr>
          <a:xfrm>
            <a:off x="1143000" y="1783080"/>
            <a:ext cx="4617720" cy="493776"/>
          </a:xfrm>
          <a:prstGeom prst="rect">
            <a:avLst/>
          </a:prstGeom>
          <a:noFill/>
          <a:ln/>
        </p:spPr>
        <p:txBody>
          <a:bodyPr wrap="square" lIns="0" tIns="0" rIns="0" bIns="0" rtlCol="0" anchor="ctr"/>
          <a:lstStyle/>
          <a:p>
            <a:pPr marL="0" indent="0" algn="l">
              <a:buNone/>
            </a:pPr>
            <a:r>
              <a:rPr lang="en-US" sz="1600" dirty="0">
                <a:solidFill>
                  <a:srgbClr val="3E465C"/>
                </a:solidFill>
                <a:latin typeface="Calibri" pitchFamily="34" charset="0"/>
                <a:ea typeface="Calibri" pitchFamily="34" charset="-122"/>
                <a:cs typeface="Calibri" pitchFamily="34" charset="-120"/>
              </a:rPr>
              <a:t>Abstract</a:t>
            </a:r>
            <a:endParaRPr lang="en-US" sz="1600" dirty="0"/>
          </a:p>
        </p:txBody>
      </p:sp>
      <p:sp>
        <p:nvSpPr>
          <p:cNvPr id="7" name="Shape 5"/>
          <p:cNvSpPr/>
          <p:nvPr/>
        </p:nvSpPr>
        <p:spPr>
          <a:xfrm>
            <a:off x="6309360" y="1801368"/>
            <a:ext cx="457200" cy="457200"/>
          </a:xfrm>
          <a:prstGeom prst="ellipse">
            <a:avLst/>
          </a:prstGeom>
          <a:solidFill>
            <a:srgbClr val="E3ECFB"/>
          </a:solidFill>
          <a:ln w="12700">
            <a:solidFill>
              <a:srgbClr val="1E2761"/>
            </a:solidFill>
            <a:prstDash val="solid"/>
          </a:ln>
        </p:spPr>
      </p:sp>
      <p:sp>
        <p:nvSpPr>
          <p:cNvPr id="8" name="Text 6"/>
          <p:cNvSpPr/>
          <p:nvPr/>
        </p:nvSpPr>
        <p:spPr>
          <a:xfrm>
            <a:off x="6309360" y="1801368"/>
            <a:ext cx="457200" cy="457200"/>
          </a:xfrm>
          <a:prstGeom prst="rect">
            <a:avLst/>
          </a:prstGeom>
          <a:noFill/>
          <a:ln/>
        </p:spPr>
        <p:txBody>
          <a:bodyPr wrap="square" lIns="0" tIns="0" rIns="0" bIns="0" rtlCol="0" anchor="ctr"/>
          <a:lstStyle/>
          <a:p>
            <a:pPr marL="0" indent="0" algn="ctr">
              <a:buNone/>
            </a:pPr>
            <a:r>
              <a:rPr lang="en-US" sz="1300" b="1" dirty="0">
                <a:solidFill>
                  <a:srgbClr val="1E2761"/>
                </a:solidFill>
                <a:latin typeface="Cambria" pitchFamily="34" charset="0"/>
                <a:ea typeface="Cambria" pitchFamily="34" charset="-122"/>
                <a:cs typeface="Cambria" pitchFamily="34" charset="-120"/>
              </a:rPr>
              <a:t>02</a:t>
            </a:r>
            <a:endParaRPr lang="en-US" sz="1300" dirty="0"/>
          </a:p>
        </p:txBody>
      </p:sp>
      <p:sp>
        <p:nvSpPr>
          <p:cNvPr id="9" name="Text 7"/>
          <p:cNvSpPr/>
          <p:nvPr/>
        </p:nvSpPr>
        <p:spPr>
          <a:xfrm>
            <a:off x="6903720" y="1783080"/>
            <a:ext cx="4617720" cy="493776"/>
          </a:xfrm>
          <a:prstGeom prst="rect">
            <a:avLst/>
          </a:prstGeom>
          <a:noFill/>
          <a:ln/>
        </p:spPr>
        <p:txBody>
          <a:bodyPr wrap="square" lIns="0" tIns="0" rIns="0" bIns="0" rtlCol="0" anchor="ctr"/>
          <a:lstStyle/>
          <a:p>
            <a:pPr marL="0" indent="0" algn="l">
              <a:buNone/>
            </a:pPr>
            <a:r>
              <a:rPr lang="en-US" sz="1600" dirty="0">
                <a:solidFill>
                  <a:srgbClr val="3E465C"/>
                </a:solidFill>
                <a:latin typeface="Calibri" pitchFamily="34" charset="0"/>
                <a:ea typeface="Calibri" pitchFamily="34" charset="-122"/>
                <a:cs typeface="Calibri" pitchFamily="34" charset="-120"/>
              </a:rPr>
              <a:t>Problem Statement</a:t>
            </a:r>
            <a:endParaRPr lang="en-US" sz="1600" dirty="0"/>
          </a:p>
        </p:txBody>
      </p:sp>
      <p:sp>
        <p:nvSpPr>
          <p:cNvPr id="10" name="Shape 8"/>
          <p:cNvSpPr/>
          <p:nvPr/>
        </p:nvSpPr>
        <p:spPr>
          <a:xfrm>
            <a:off x="548640" y="2514600"/>
            <a:ext cx="457200" cy="457200"/>
          </a:xfrm>
          <a:prstGeom prst="ellipse">
            <a:avLst/>
          </a:prstGeom>
          <a:solidFill>
            <a:srgbClr val="E3ECFB"/>
          </a:solidFill>
          <a:ln w="12700">
            <a:solidFill>
              <a:srgbClr val="1E2761"/>
            </a:solidFill>
            <a:prstDash val="solid"/>
          </a:ln>
        </p:spPr>
      </p:sp>
      <p:sp>
        <p:nvSpPr>
          <p:cNvPr id="11" name="Text 9"/>
          <p:cNvSpPr/>
          <p:nvPr/>
        </p:nvSpPr>
        <p:spPr>
          <a:xfrm>
            <a:off x="548640" y="2514600"/>
            <a:ext cx="457200" cy="457200"/>
          </a:xfrm>
          <a:prstGeom prst="rect">
            <a:avLst/>
          </a:prstGeom>
          <a:noFill/>
          <a:ln/>
        </p:spPr>
        <p:txBody>
          <a:bodyPr wrap="square" lIns="0" tIns="0" rIns="0" bIns="0" rtlCol="0" anchor="ctr"/>
          <a:lstStyle/>
          <a:p>
            <a:pPr marL="0" indent="0" algn="ctr">
              <a:buNone/>
            </a:pPr>
            <a:r>
              <a:rPr lang="en-US" sz="1300" b="1" dirty="0">
                <a:solidFill>
                  <a:srgbClr val="1E2761"/>
                </a:solidFill>
                <a:latin typeface="Cambria" pitchFamily="34" charset="0"/>
                <a:ea typeface="Cambria" pitchFamily="34" charset="-122"/>
                <a:cs typeface="Cambria" pitchFamily="34" charset="-120"/>
              </a:rPr>
              <a:t>03</a:t>
            </a:r>
            <a:endParaRPr lang="en-US" sz="1300" dirty="0"/>
          </a:p>
        </p:txBody>
      </p:sp>
      <p:sp>
        <p:nvSpPr>
          <p:cNvPr id="12" name="Text 10"/>
          <p:cNvSpPr/>
          <p:nvPr/>
        </p:nvSpPr>
        <p:spPr>
          <a:xfrm>
            <a:off x="1143000" y="2496312"/>
            <a:ext cx="4617720" cy="493776"/>
          </a:xfrm>
          <a:prstGeom prst="rect">
            <a:avLst/>
          </a:prstGeom>
          <a:noFill/>
          <a:ln/>
        </p:spPr>
        <p:txBody>
          <a:bodyPr wrap="square" lIns="0" tIns="0" rIns="0" bIns="0" rtlCol="0" anchor="ctr"/>
          <a:lstStyle/>
          <a:p>
            <a:pPr marL="0" indent="0" algn="l">
              <a:buNone/>
            </a:pPr>
            <a:r>
              <a:rPr lang="en-US" sz="1600" dirty="0">
                <a:solidFill>
                  <a:srgbClr val="3E465C"/>
                </a:solidFill>
                <a:latin typeface="Calibri" pitchFamily="34" charset="0"/>
                <a:ea typeface="Calibri" pitchFamily="34" charset="-122"/>
                <a:cs typeface="Calibri" pitchFamily="34" charset="-120"/>
              </a:rPr>
              <a:t>Proposed Solution</a:t>
            </a:r>
            <a:endParaRPr lang="en-US" sz="1600" dirty="0"/>
          </a:p>
        </p:txBody>
      </p:sp>
      <p:sp>
        <p:nvSpPr>
          <p:cNvPr id="13" name="Shape 11"/>
          <p:cNvSpPr/>
          <p:nvPr/>
        </p:nvSpPr>
        <p:spPr>
          <a:xfrm>
            <a:off x="6309360" y="2514600"/>
            <a:ext cx="457200" cy="457200"/>
          </a:xfrm>
          <a:prstGeom prst="ellipse">
            <a:avLst/>
          </a:prstGeom>
          <a:solidFill>
            <a:srgbClr val="E3ECFB"/>
          </a:solidFill>
          <a:ln w="12700">
            <a:solidFill>
              <a:srgbClr val="1E2761"/>
            </a:solidFill>
            <a:prstDash val="solid"/>
          </a:ln>
        </p:spPr>
      </p:sp>
      <p:sp>
        <p:nvSpPr>
          <p:cNvPr id="14" name="Text 12"/>
          <p:cNvSpPr/>
          <p:nvPr/>
        </p:nvSpPr>
        <p:spPr>
          <a:xfrm>
            <a:off x="6309360" y="2514600"/>
            <a:ext cx="457200" cy="457200"/>
          </a:xfrm>
          <a:prstGeom prst="rect">
            <a:avLst/>
          </a:prstGeom>
          <a:noFill/>
          <a:ln/>
        </p:spPr>
        <p:txBody>
          <a:bodyPr wrap="square" lIns="0" tIns="0" rIns="0" bIns="0" rtlCol="0" anchor="ctr"/>
          <a:lstStyle/>
          <a:p>
            <a:pPr marL="0" indent="0" algn="ctr">
              <a:buNone/>
            </a:pPr>
            <a:r>
              <a:rPr lang="en-US" sz="1300" b="1" dirty="0">
                <a:solidFill>
                  <a:srgbClr val="1E2761"/>
                </a:solidFill>
                <a:latin typeface="Cambria" pitchFamily="34" charset="0"/>
                <a:ea typeface="Cambria" pitchFamily="34" charset="-122"/>
                <a:cs typeface="Cambria" pitchFamily="34" charset="-120"/>
              </a:rPr>
              <a:t>04</a:t>
            </a:r>
            <a:endParaRPr lang="en-US" sz="1300" dirty="0"/>
          </a:p>
        </p:txBody>
      </p:sp>
      <p:sp>
        <p:nvSpPr>
          <p:cNvPr id="15" name="Text 13"/>
          <p:cNvSpPr/>
          <p:nvPr/>
        </p:nvSpPr>
        <p:spPr>
          <a:xfrm>
            <a:off x="6903720" y="2496312"/>
            <a:ext cx="4617720" cy="493776"/>
          </a:xfrm>
          <a:prstGeom prst="rect">
            <a:avLst/>
          </a:prstGeom>
          <a:noFill/>
          <a:ln/>
        </p:spPr>
        <p:txBody>
          <a:bodyPr wrap="square" lIns="0" tIns="0" rIns="0" bIns="0" rtlCol="0" anchor="ctr"/>
          <a:lstStyle/>
          <a:p>
            <a:pPr marL="0" indent="0" algn="l">
              <a:buNone/>
            </a:pPr>
            <a:r>
              <a:rPr lang="en-US" sz="1600" dirty="0">
                <a:solidFill>
                  <a:srgbClr val="3E465C"/>
                </a:solidFill>
                <a:latin typeface="Calibri" pitchFamily="34" charset="0"/>
                <a:ea typeface="Calibri" pitchFamily="34" charset="-122"/>
                <a:cs typeface="Calibri" pitchFamily="34" charset="-120"/>
              </a:rPr>
              <a:t>Objectives</a:t>
            </a:r>
            <a:endParaRPr lang="en-US" sz="1600" dirty="0"/>
          </a:p>
        </p:txBody>
      </p:sp>
      <p:sp>
        <p:nvSpPr>
          <p:cNvPr id="16" name="Shape 14"/>
          <p:cNvSpPr/>
          <p:nvPr/>
        </p:nvSpPr>
        <p:spPr>
          <a:xfrm>
            <a:off x="548640" y="3227832"/>
            <a:ext cx="457200" cy="457200"/>
          </a:xfrm>
          <a:prstGeom prst="ellipse">
            <a:avLst/>
          </a:prstGeom>
          <a:solidFill>
            <a:srgbClr val="E3ECFB"/>
          </a:solidFill>
          <a:ln w="12700">
            <a:solidFill>
              <a:srgbClr val="1E2761"/>
            </a:solidFill>
            <a:prstDash val="solid"/>
          </a:ln>
        </p:spPr>
      </p:sp>
      <p:sp>
        <p:nvSpPr>
          <p:cNvPr id="17" name="Text 15"/>
          <p:cNvSpPr/>
          <p:nvPr/>
        </p:nvSpPr>
        <p:spPr>
          <a:xfrm>
            <a:off x="548640" y="3227832"/>
            <a:ext cx="457200" cy="457200"/>
          </a:xfrm>
          <a:prstGeom prst="rect">
            <a:avLst/>
          </a:prstGeom>
          <a:noFill/>
          <a:ln/>
        </p:spPr>
        <p:txBody>
          <a:bodyPr wrap="square" lIns="0" tIns="0" rIns="0" bIns="0" rtlCol="0" anchor="ctr"/>
          <a:lstStyle/>
          <a:p>
            <a:pPr marL="0" indent="0" algn="ctr">
              <a:buNone/>
            </a:pPr>
            <a:r>
              <a:rPr lang="en-US" sz="1300" b="1" dirty="0">
                <a:solidFill>
                  <a:srgbClr val="1E2761"/>
                </a:solidFill>
                <a:latin typeface="Cambria" pitchFamily="34" charset="0"/>
                <a:ea typeface="Cambria" pitchFamily="34" charset="-122"/>
                <a:cs typeface="Cambria" pitchFamily="34" charset="-120"/>
              </a:rPr>
              <a:t>05</a:t>
            </a:r>
            <a:endParaRPr lang="en-US" sz="1300" dirty="0"/>
          </a:p>
        </p:txBody>
      </p:sp>
      <p:sp>
        <p:nvSpPr>
          <p:cNvPr id="18" name="Text 16"/>
          <p:cNvSpPr/>
          <p:nvPr/>
        </p:nvSpPr>
        <p:spPr>
          <a:xfrm>
            <a:off x="1143000" y="3209544"/>
            <a:ext cx="4617720" cy="493776"/>
          </a:xfrm>
          <a:prstGeom prst="rect">
            <a:avLst/>
          </a:prstGeom>
          <a:noFill/>
          <a:ln/>
        </p:spPr>
        <p:txBody>
          <a:bodyPr wrap="square" lIns="0" tIns="0" rIns="0" bIns="0" rtlCol="0" anchor="ctr"/>
          <a:lstStyle/>
          <a:p>
            <a:pPr marL="0" indent="0" algn="l">
              <a:buNone/>
            </a:pPr>
            <a:r>
              <a:rPr lang="en-US" sz="1600" dirty="0">
                <a:solidFill>
                  <a:srgbClr val="3E465C"/>
                </a:solidFill>
                <a:latin typeface="Calibri" pitchFamily="34" charset="0"/>
                <a:ea typeface="Calibri" pitchFamily="34" charset="-122"/>
                <a:cs typeface="Calibri" pitchFamily="34" charset="-120"/>
              </a:rPr>
              <a:t>System Modules</a:t>
            </a:r>
            <a:endParaRPr lang="en-US" sz="1600" dirty="0"/>
          </a:p>
        </p:txBody>
      </p:sp>
      <p:sp>
        <p:nvSpPr>
          <p:cNvPr id="19" name="Shape 17"/>
          <p:cNvSpPr/>
          <p:nvPr/>
        </p:nvSpPr>
        <p:spPr>
          <a:xfrm>
            <a:off x="6309360" y="3227832"/>
            <a:ext cx="457200" cy="457200"/>
          </a:xfrm>
          <a:prstGeom prst="ellipse">
            <a:avLst/>
          </a:prstGeom>
          <a:solidFill>
            <a:srgbClr val="E3ECFB"/>
          </a:solidFill>
          <a:ln w="12700">
            <a:solidFill>
              <a:srgbClr val="1E2761"/>
            </a:solidFill>
            <a:prstDash val="solid"/>
          </a:ln>
        </p:spPr>
      </p:sp>
      <p:sp>
        <p:nvSpPr>
          <p:cNvPr id="20" name="Text 18"/>
          <p:cNvSpPr/>
          <p:nvPr/>
        </p:nvSpPr>
        <p:spPr>
          <a:xfrm>
            <a:off x="6309360" y="3227832"/>
            <a:ext cx="457200" cy="457200"/>
          </a:xfrm>
          <a:prstGeom prst="rect">
            <a:avLst/>
          </a:prstGeom>
          <a:noFill/>
          <a:ln/>
        </p:spPr>
        <p:txBody>
          <a:bodyPr wrap="square" lIns="0" tIns="0" rIns="0" bIns="0" rtlCol="0" anchor="ctr"/>
          <a:lstStyle/>
          <a:p>
            <a:pPr marL="0" indent="0" algn="ctr">
              <a:buNone/>
            </a:pPr>
            <a:r>
              <a:rPr lang="en-US" sz="1300" b="1" dirty="0">
                <a:solidFill>
                  <a:srgbClr val="1E2761"/>
                </a:solidFill>
                <a:latin typeface="Cambria" pitchFamily="34" charset="0"/>
                <a:ea typeface="Cambria" pitchFamily="34" charset="-122"/>
                <a:cs typeface="Cambria" pitchFamily="34" charset="-120"/>
              </a:rPr>
              <a:t>06</a:t>
            </a:r>
            <a:endParaRPr lang="en-US" sz="1300" dirty="0"/>
          </a:p>
        </p:txBody>
      </p:sp>
      <p:sp>
        <p:nvSpPr>
          <p:cNvPr id="21" name="Text 19"/>
          <p:cNvSpPr/>
          <p:nvPr/>
        </p:nvSpPr>
        <p:spPr>
          <a:xfrm>
            <a:off x="6903720" y="3209544"/>
            <a:ext cx="4617720" cy="493776"/>
          </a:xfrm>
          <a:prstGeom prst="rect">
            <a:avLst/>
          </a:prstGeom>
          <a:noFill/>
          <a:ln/>
        </p:spPr>
        <p:txBody>
          <a:bodyPr wrap="square" lIns="0" tIns="0" rIns="0" bIns="0" rtlCol="0" anchor="ctr"/>
          <a:lstStyle/>
          <a:p>
            <a:pPr marL="0" indent="0" algn="l">
              <a:buNone/>
            </a:pPr>
            <a:r>
              <a:rPr lang="en-US" sz="1600" dirty="0">
                <a:solidFill>
                  <a:srgbClr val="3E465C"/>
                </a:solidFill>
                <a:latin typeface="Calibri" pitchFamily="34" charset="0"/>
                <a:ea typeface="Calibri" pitchFamily="34" charset="-122"/>
                <a:cs typeface="Calibri" pitchFamily="34" charset="-120"/>
              </a:rPr>
              <a:t>System Workflow</a:t>
            </a:r>
            <a:endParaRPr lang="en-US" sz="1600" dirty="0"/>
          </a:p>
        </p:txBody>
      </p:sp>
      <p:sp>
        <p:nvSpPr>
          <p:cNvPr id="22" name="Shape 20"/>
          <p:cNvSpPr/>
          <p:nvPr/>
        </p:nvSpPr>
        <p:spPr>
          <a:xfrm>
            <a:off x="548640" y="3941064"/>
            <a:ext cx="457200" cy="457200"/>
          </a:xfrm>
          <a:prstGeom prst="ellipse">
            <a:avLst/>
          </a:prstGeom>
          <a:solidFill>
            <a:srgbClr val="E3ECFB"/>
          </a:solidFill>
          <a:ln w="12700">
            <a:solidFill>
              <a:srgbClr val="1E2761"/>
            </a:solidFill>
            <a:prstDash val="solid"/>
          </a:ln>
        </p:spPr>
      </p:sp>
      <p:sp>
        <p:nvSpPr>
          <p:cNvPr id="23" name="Text 21"/>
          <p:cNvSpPr/>
          <p:nvPr/>
        </p:nvSpPr>
        <p:spPr>
          <a:xfrm>
            <a:off x="548640" y="3941064"/>
            <a:ext cx="457200" cy="457200"/>
          </a:xfrm>
          <a:prstGeom prst="rect">
            <a:avLst/>
          </a:prstGeom>
          <a:noFill/>
          <a:ln/>
        </p:spPr>
        <p:txBody>
          <a:bodyPr wrap="square" lIns="0" tIns="0" rIns="0" bIns="0" rtlCol="0" anchor="ctr"/>
          <a:lstStyle/>
          <a:p>
            <a:pPr marL="0" indent="0" algn="ctr">
              <a:buNone/>
            </a:pPr>
            <a:r>
              <a:rPr lang="en-US" sz="1300" b="1" dirty="0">
                <a:solidFill>
                  <a:srgbClr val="1E2761"/>
                </a:solidFill>
                <a:latin typeface="Cambria" pitchFamily="34" charset="0"/>
                <a:ea typeface="Cambria" pitchFamily="34" charset="-122"/>
                <a:cs typeface="Cambria" pitchFamily="34" charset="-120"/>
              </a:rPr>
              <a:t>07</a:t>
            </a:r>
            <a:endParaRPr lang="en-US" sz="1300" dirty="0"/>
          </a:p>
        </p:txBody>
      </p:sp>
      <p:sp>
        <p:nvSpPr>
          <p:cNvPr id="24" name="Text 22"/>
          <p:cNvSpPr/>
          <p:nvPr/>
        </p:nvSpPr>
        <p:spPr>
          <a:xfrm>
            <a:off x="1143000" y="3922776"/>
            <a:ext cx="4617720" cy="493776"/>
          </a:xfrm>
          <a:prstGeom prst="rect">
            <a:avLst/>
          </a:prstGeom>
          <a:noFill/>
          <a:ln/>
        </p:spPr>
        <p:txBody>
          <a:bodyPr wrap="square" lIns="0" tIns="0" rIns="0" bIns="0" rtlCol="0" anchor="ctr"/>
          <a:lstStyle/>
          <a:p>
            <a:pPr marL="0" indent="0" algn="l">
              <a:buNone/>
            </a:pPr>
            <a:r>
              <a:rPr lang="en-US" sz="1600" dirty="0">
                <a:solidFill>
                  <a:srgbClr val="3E465C"/>
                </a:solidFill>
                <a:latin typeface="Calibri" pitchFamily="34" charset="0"/>
                <a:ea typeface="Calibri" pitchFamily="34" charset="-122"/>
                <a:cs typeface="Calibri" pitchFamily="34" charset="-120"/>
              </a:rPr>
              <a:t>Technology Stack &amp; Architecture</a:t>
            </a:r>
            <a:endParaRPr lang="en-US" sz="1600" dirty="0"/>
          </a:p>
        </p:txBody>
      </p:sp>
      <p:sp>
        <p:nvSpPr>
          <p:cNvPr id="25" name="Shape 23"/>
          <p:cNvSpPr/>
          <p:nvPr/>
        </p:nvSpPr>
        <p:spPr>
          <a:xfrm>
            <a:off x="6309360" y="3941064"/>
            <a:ext cx="457200" cy="457200"/>
          </a:xfrm>
          <a:prstGeom prst="ellipse">
            <a:avLst/>
          </a:prstGeom>
          <a:solidFill>
            <a:srgbClr val="E3ECFB"/>
          </a:solidFill>
          <a:ln w="12700">
            <a:solidFill>
              <a:srgbClr val="1E2761"/>
            </a:solidFill>
            <a:prstDash val="solid"/>
          </a:ln>
        </p:spPr>
      </p:sp>
      <p:sp>
        <p:nvSpPr>
          <p:cNvPr id="26" name="Text 24"/>
          <p:cNvSpPr/>
          <p:nvPr/>
        </p:nvSpPr>
        <p:spPr>
          <a:xfrm>
            <a:off x="6309360" y="3941064"/>
            <a:ext cx="457200" cy="457200"/>
          </a:xfrm>
          <a:prstGeom prst="rect">
            <a:avLst/>
          </a:prstGeom>
          <a:noFill/>
          <a:ln/>
        </p:spPr>
        <p:txBody>
          <a:bodyPr wrap="square" lIns="0" tIns="0" rIns="0" bIns="0" rtlCol="0" anchor="ctr"/>
          <a:lstStyle/>
          <a:p>
            <a:pPr marL="0" indent="0" algn="ctr">
              <a:buNone/>
            </a:pPr>
            <a:r>
              <a:rPr lang="en-US" sz="1300" b="1" dirty="0">
                <a:solidFill>
                  <a:srgbClr val="1E2761"/>
                </a:solidFill>
                <a:latin typeface="Cambria" pitchFamily="34" charset="0"/>
                <a:ea typeface="Cambria" pitchFamily="34" charset="-122"/>
                <a:cs typeface="Cambria" pitchFamily="34" charset="-120"/>
              </a:rPr>
              <a:t>08</a:t>
            </a:r>
            <a:endParaRPr lang="en-US" sz="1300" dirty="0"/>
          </a:p>
        </p:txBody>
      </p:sp>
      <p:sp>
        <p:nvSpPr>
          <p:cNvPr id="27" name="Text 25"/>
          <p:cNvSpPr/>
          <p:nvPr/>
        </p:nvSpPr>
        <p:spPr>
          <a:xfrm>
            <a:off x="6903720" y="3922776"/>
            <a:ext cx="4617720" cy="493776"/>
          </a:xfrm>
          <a:prstGeom prst="rect">
            <a:avLst/>
          </a:prstGeom>
          <a:noFill/>
          <a:ln/>
        </p:spPr>
        <p:txBody>
          <a:bodyPr wrap="square" lIns="0" tIns="0" rIns="0" bIns="0" rtlCol="0" anchor="ctr"/>
          <a:lstStyle/>
          <a:p>
            <a:pPr marL="0" indent="0" algn="l">
              <a:buNone/>
            </a:pPr>
            <a:r>
              <a:rPr lang="en-US" sz="1600" dirty="0">
                <a:solidFill>
                  <a:srgbClr val="3E465C"/>
                </a:solidFill>
                <a:latin typeface="Calibri" pitchFamily="34" charset="0"/>
                <a:ea typeface="Calibri" pitchFamily="34" charset="-122"/>
                <a:cs typeface="Calibri" pitchFamily="34" charset="-120"/>
              </a:rPr>
              <a:t>Expected Outcome</a:t>
            </a:r>
            <a:endParaRPr lang="en-US" sz="1600" dirty="0"/>
          </a:p>
        </p:txBody>
      </p:sp>
      <p:sp>
        <p:nvSpPr>
          <p:cNvPr id="28" name="Shape 26"/>
          <p:cNvSpPr/>
          <p:nvPr/>
        </p:nvSpPr>
        <p:spPr>
          <a:xfrm>
            <a:off x="548640" y="4654296"/>
            <a:ext cx="457200" cy="457200"/>
          </a:xfrm>
          <a:prstGeom prst="ellipse">
            <a:avLst/>
          </a:prstGeom>
          <a:solidFill>
            <a:srgbClr val="E3ECFB"/>
          </a:solidFill>
          <a:ln w="12700">
            <a:solidFill>
              <a:srgbClr val="1E2761"/>
            </a:solidFill>
            <a:prstDash val="solid"/>
          </a:ln>
        </p:spPr>
      </p:sp>
      <p:sp>
        <p:nvSpPr>
          <p:cNvPr id="29" name="Text 27"/>
          <p:cNvSpPr/>
          <p:nvPr/>
        </p:nvSpPr>
        <p:spPr>
          <a:xfrm>
            <a:off x="548640" y="4654296"/>
            <a:ext cx="457200" cy="457200"/>
          </a:xfrm>
          <a:prstGeom prst="rect">
            <a:avLst/>
          </a:prstGeom>
          <a:noFill/>
          <a:ln/>
        </p:spPr>
        <p:txBody>
          <a:bodyPr wrap="square" lIns="0" tIns="0" rIns="0" bIns="0" rtlCol="0" anchor="ctr"/>
          <a:lstStyle/>
          <a:p>
            <a:pPr marL="0" indent="0" algn="ctr">
              <a:buNone/>
            </a:pPr>
            <a:r>
              <a:rPr lang="en-US" sz="1300" b="1" dirty="0">
                <a:solidFill>
                  <a:srgbClr val="1E2761"/>
                </a:solidFill>
                <a:latin typeface="Cambria" pitchFamily="34" charset="0"/>
                <a:ea typeface="Cambria" pitchFamily="34" charset="-122"/>
                <a:cs typeface="Cambria" pitchFamily="34" charset="-120"/>
              </a:rPr>
              <a:t>09</a:t>
            </a:r>
            <a:endParaRPr lang="en-US" sz="1300" dirty="0"/>
          </a:p>
        </p:txBody>
      </p:sp>
      <p:sp>
        <p:nvSpPr>
          <p:cNvPr id="30" name="Text 28"/>
          <p:cNvSpPr/>
          <p:nvPr/>
        </p:nvSpPr>
        <p:spPr>
          <a:xfrm>
            <a:off x="1143000" y="4636008"/>
            <a:ext cx="4617720" cy="493776"/>
          </a:xfrm>
          <a:prstGeom prst="rect">
            <a:avLst/>
          </a:prstGeom>
          <a:noFill/>
          <a:ln/>
        </p:spPr>
        <p:txBody>
          <a:bodyPr wrap="square" lIns="0" tIns="0" rIns="0" bIns="0" rtlCol="0" anchor="ctr"/>
          <a:lstStyle/>
          <a:p>
            <a:pPr marL="0" indent="0" algn="l">
              <a:buNone/>
            </a:pPr>
            <a:r>
              <a:rPr lang="en-US" sz="1600" dirty="0">
                <a:solidFill>
                  <a:srgbClr val="3E465C"/>
                </a:solidFill>
                <a:latin typeface="Calibri" pitchFamily="34" charset="0"/>
                <a:ea typeface="Calibri" pitchFamily="34" charset="-122"/>
                <a:cs typeface="Calibri" pitchFamily="34" charset="-120"/>
              </a:rPr>
              <a:t>Conclusion</a:t>
            </a:r>
            <a:endParaRPr lang="en-US" sz="1600" dirty="0"/>
          </a:p>
        </p:txBody>
      </p:sp>
      <p:sp>
        <p:nvSpPr>
          <p:cNvPr id="31" name="Text 29"/>
          <p:cNvSpPr/>
          <p:nvPr/>
        </p:nvSpPr>
        <p:spPr>
          <a:xfrm>
            <a:off x="457200" y="6547104"/>
            <a:ext cx="3657600" cy="274320"/>
          </a:xfrm>
          <a:prstGeom prst="rect">
            <a:avLst/>
          </a:prstGeom>
          <a:noFill/>
          <a:ln/>
        </p:spPr>
        <p:txBody>
          <a:bodyPr wrap="square" lIns="0" tIns="0" rIns="0" bIns="0" rtlCol="0" anchor="ctr"/>
          <a:lstStyle/>
          <a:p>
            <a:pPr marL="0" indent="0" algn="l">
              <a:buNone/>
            </a:pPr>
            <a:r>
              <a:rPr lang="en-US" sz="900" dirty="0">
                <a:solidFill>
                  <a:srgbClr val="6B7488"/>
                </a:solidFill>
                <a:latin typeface="Calibri" pitchFamily="34" charset="0"/>
                <a:ea typeface="Calibri" pitchFamily="34" charset="-122"/>
                <a:cs typeface="Calibri" pitchFamily="34" charset="-120"/>
              </a:rPr>
              <a:t>VENDORFLOW</a:t>
            </a:r>
            <a:endParaRPr lang="en-US" sz="900" dirty="0"/>
          </a:p>
        </p:txBody>
      </p:sp>
      <p:sp>
        <p:nvSpPr>
          <p:cNvPr id="32" name="Text 30"/>
          <p:cNvSpPr/>
          <p:nvPr/>
        </p:nvSpPr>
        <p:spPr>
          <a:xfrm>
            <a:off x="11274552" y="6547104"/>
            <a:ext cx="457200" cy="274320"/>
          </a:xfrm>
          <a:prstGeom prst="rect">
            <a:avLst/>
          </a:prstGeom>
          <a:noFill/>
          <a:ln/>
        </p:spPr>
        <p:txBody>
          <a:bodyPr wrap="square" lIns="0" tIns="0" rIns="0" bIns="0" rtlCol="0" anchor="ctr"/>
          <a:lstStyle/>
          <a:p>
            <a:pPr marL="0" indent="0" algn="r">
              <a:buNone/>
            </a:pPr>
            <a:r>
              <a:rPr lang="en-US" sz="900" dirty="0">
                <a:solidFill>
                  <a:srgbClr val="6B748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515600" cy="640080"/>
          </a:xfrm>
          <a:prstGeom prst="rect">
            <a:avLst/>
          </a:prstGeom>
          <a:noFill/>
          <a:ln/>
        </p:spPr>
        <p:txBody>
          <a:bodyPr wrap="square" lIns="0" tIns="0" rIns="0" bIns="0" rtlCol="0" anchor="ctr"/>
          <a:lstStyle/>
          <a:p>
            <a:pPr marL="0" indent="0" algn="l">
              <a:buNone/>
            </a:pPr>
            <a:r>
              <a:rPr lang="en-US" sz="3400" b="1" dirty="0">
                <a:solidFill>
                  <a:srgbClr val="1E2761"/>
                </a:solidFill>
                <a:latin typeface="Cambria" pitchFamily="34" charset="0"/>
                <a:ea typeface="Cambria" pitchFamily="34" charset="-122"/>
                <a:cs typeface="Cambria" pitchFamily="34" charset="-120"/>
              </a:rPr>
              <a:t>Abstract</a:t>
            </a:r>
            <a:endParaRPr lang="en-US" sz="3400" dirty="0"/>
          </a:p>
        </p:txBody>
      </p:sp>
      <p:sp>
        <p:nvSpPr>
          <p:cNvPr id="3" name="Text 1"/>
          <p:cNvSpPr/>
          <p:nvPr/>
        </p:nvSpPr>
        <p:spPr>
          <a:xfrm>
            <a:off x="548640" y="1417320"/>
            <a:ext cx="6400800" cy="4206240"/>
          </a:xfrm>
          <a:prstGeom prst="rect">
            <a:avLst/>
          </a:prstGeom>
          <a:noFill/>
          <a:ln/>
        </p:spPr>
        <p:txBody>
          <a:bodyPr wrap="square" lIns="0" tIns="0" rIns="0" bIns="0" rtlCol="0" anchor="t"/>
          <a:lstStyle/>
          <a:p>
            <a:pPr marL="0" indent="0" algn="l">
              <a:lnSpc>
                <a:spcPct val="135000"/>
              </a:lnSpc>
              <a:buNone/>
            </a:pPr>
            <a:r>
              <a:rPr lang="en-US" sz="1500" dirty="0">
                <a:solidFill>
                  <a:srgbClr val="3E465C"/>
                </a:solidFill>
                <a:latin typeface="Calibri" pitchFamily="34" charset="0"/>
                <a:ea typeface="Calibri" pitchFamily="34" charset="-122"/>
                <a:cs typeface="Calibri" pitchFamily="34" charset="-120"/>
              </a:rPr>
              <a:t>Organizations that work with multiple vendors typically manage onboarding paperwork, purchase orders, and performance records through emails, spreadsheets, and disconnected files. This makes it difficult to maintain consistent vendor data and track active orders.</a:t>
            </a:r>
            <a:endParaRPr lang="en-US" sz="1500" dirty="0"/>
          </a:p>
          <a:p>
            <a:pPr marL="0" indent="0" algn="l">
              <a:lnSpc>
                <a:spcPct val="135000"/>
              </a:lnSpc>
              <a:buNone/>
            </a:pPr>
            <a:endParaRPr lang="en-US" sz="1500" dirty="0"/>
          </a:p>
          <a:p>
            <a:pPr marL="0" indent="0" algn="l">
              <a:lnSpc>
                <a:spcPct val="135000"/>
              </a:lnSpc>
              <a:buNone/>
            </a:pPr>
            <a:r>
              <a:rPr lang="en-US" sz="1500" dirty="0">
                <a:solidFill>
                  <a:srgbClr val="3E465C"/>
                </a:solidFill>
                <a:latin typeface="Calibri" pitchFamily="34" charset="0"/>
                <a:ea typeface="Calibri" pitchFamily="34" charset="-122"/>
                <a:cs typeface="Calibri" pitchFamily="34" charset="-120"/>
              </a:rPr>
              <a:t>VENDORFLOW is a web-based Vendor Management System that centralizes this workflow. Vendors can register and submit details, procurement staff can raise and track purchase orders, and administrators can evaluate vendor performance using defined criteria — bringing onboarding, procurement, and performance tracking onto a single digital platform.</a:t>
            </a:r>
            <a:endParaRPr lang="en-US" sz="1500" dirty="0"/>
          </a:p>
        </p:txBody>
      </p:sp>
      <p:sp>
        <p:nvSpPr>
          <p:cNvPr id="4" name="Shape 2"/>
          <p:cNvSpPr/>
          <p:nvPr/>
        </p:nvSpPr>
        <p:spPr>
          <a:xfrm>
            <a:off x="7315200" y="1417320"/>
            <a:ext cx="4297680" cy="4572000"/>
          </a:xfrm>
          <a:prstGeom prst="rect">
            <a:avLst/>
          </a:prstGeom>
          <a:solidFill>
            <a:srgbClr val="EEF3FC"/>
          </a:solidFill>
          <a:ln/>
        </p:spPr>
      </p:sp>
      <p:sp>
        <p:nvSpPr>
          <p:cNvPr id="5" name="Text 3"/>
          <p:cNvSpPr/>
          <p:nvPr/>
        </p:nvSpPr>
        <p:spPr>
          <a:xfrm>
            <a:off x="7635240" y="1691640"/>
            <a:ext cx="3657600" cy="365760"/>
          </a:xfrm>
          <a:prstGeom prst="rect">
            <a:avLst/>
          </a:prstGeom>
          <a:noFill/>
          <a:ln/>
        </p:spPr>
        <p:txBody>
          <a:bodyPr wrap="square" lIns="0" tIns="0" rIns="0" bIns="0" rtlCol="0" anchor="ctr"/>
          <a:lstStyle/>
          <a:p>
            <a:pPr marL="0" indent="0">
              <a:buNone/>
            </a:pPr>
            <a:r>
              <a:rPr lang="en-US" sz="1300" b="1" kern="0" spc="100" dirty="0">
                <a:solidFill>
                  <a:srgbClr val="1E2761"/>
                </a:solidFill>
                <a:latin typeface="Calibri" pitchFamily="34" charset="0"/>
                <a:ea typeface="Calibri" pitchFamily="34" charset="-122"/>
                <a:cs typeface="Calibri" pitchFamily="34" charset="-120"/>
              </a:rPr>
              <a:t>WHY IT MATTERS</a:t>
            </a:r>
            <a:endParaRPr lang="en-US" sz="1300" dirty="0"/>
          </a:p>
        </p:txBody>
      </p:sp>
      <p:sp>
        <p:nvSpPr>
          <p:cNvPr id="6" name="Shape 4"/>
          <p:cNvSpPr/>
          <p:nvPr/>
        </p:nvSpPr>
        <p:spPr>
          <a:xfrm>
            <a:off x="7635240" y="2286000"/>
            <a:ext cx="502920" cy="502920"/>
          </a:xfrm>
          <a:prstGeom prst="ellipse">
            <a:avLst/>
          </a:prstGeom>
          <a:solidFill>
            <a:srgbClr val="1E2761"/>
          </a:solidFill>
          <a:ln/>
        </p:spPr>
      </p:sp>
      <p:pic>
        <p:nvPicPr>
          <p:cNvPr id="7" name="Image 0" descr="icons/boxes.png"/>
          <p:cNvPicPr>
            <a:picLocks noChangeAspect="1"/>
          </p:cNvPicPr>
          <p:nvPr/>
        </p:nvPicPr>
        <p:blipFill>
          <a:blip r:embed="rId3"/>
          <a:stretch>
            <a:fillRect/>
          </a:stretch>
        </p:blipFill>
        <p:spPr>
          <a:xfrm>
            <a:off x="7700620" y="2351380"/>
            <a:ext cx="372161" cy="372161"/>
          </a:xfrm>
          <a:prstGeom prst="rect">
            <a:avLst/>
          </a:prstGeom>
        </p:spPr>
      </p:pic>
      <p:sp>
        <p:nvSpPr>
          <p:cNvPr id="8" name="Text 5"/>
          <p:cNvSpPr/>
          <p:nvPr/>
        </p:nvSpPr>
        <p:spPr>
          <a:xfrm>
            <a:off x="8321040" y="2240280"/>
            <a:ext cx="2926080" cy="594360"/>
          </a:xfrm>
          <a:prstGeom prst="rect">
            <a:avLst/>
          </a:prstGeom>
          <a:noFill/>
          <a:ln/>
        </p:spPr>
        <p:txBody>
          <a:bodyPr wrap="square" lIns="0" tIns="0" rIns="0" bIns="0" rtlCol="0" anchor="ctr"/>
          <a:lstStyle/>
          <a:p>
            <a:pPr marL="0" indent="0" algn="l">
              <a:lnSpc>
                <a:spcPct val="110000"/>
              </a:lnSpc>
              <a:buNone/>
            </a:pPr>
            <a:r>
              <a:rPr lang="en-US" sz="1250" dirty="0">
                <a:solidFill>
                  <a:srgbClr val="3E465C"/>
                </a:solidFill>
                <a:latin typeface="Calibri" pitchFamily="34" charset="0"/>
                <a:ea typeface="Calibri" pitchFamily="34" charset="-122"/>
                <a:cs typeface="Calibri" pitchFamily="34" charset="-120"/>
              </a:rPr>
              <a:t>Multiple vendors with scattered, inconsistent records</a:t>
            </a:r>
            <a:endParaRPr lang="en-US" sz="1250" dirty="0"/>
          </a:p>
        </p:txBody>
      </p:sp>
      <p:sp>
        <p:nvSpPr>
          <p:cNvPr id="9" name="Shape 6"/>
          <p:cNvSpPr/>
          <p:nvPr/>
        </p:nvSpPr>
        <p:spPr>
          <a:xfrm>
            <a:off x="7635240" y="3200400"/>
            <a:ext cx="502920" cy="502920"/>
          </a:xfrm>
          <a:prstGeom prst="ellipse">
            <a:avLst/>
          </a:prstGeom>
          <a:solidFill>
            <a:srgbClr val="1E2761"/>
          </a:solidFill>
          <a:ln/>
        </p:spPr>
      </p:sp>
      <p:pic>
        <p:nvPicPr>
          <p:cNvPr id="10" name="Image 1" descr="icons/exclamation.png"/>
          <p:cNvPicPr>
            <a:picLocks noChangeAspect="1"/>
          </p:cNvPicPr>
          <p:nvPr/>
        </p:nvPicPr>
        <p:blipFill>
          <a:blip r:embed="rId4"/>
          <a:stretch>
            <a:fillRect/>
          </a:stretch>
        </p:blipFill>
        <p:spPr>
          <a:xfrm>
            <a:off x="7700620" y="3265780"/>
            <a:ext cx="372161" cy="372161"/>
          </a:xfrm>
          <a:prstGeom prst="rect">
            <a:avLst/>
          </a:prstGeom>
        </p:spPr>
      </p:pic>
      <p:sp>
        <p:nvSpPr>
          <p:cNvPr id="11" name="Text 7"/>
          <p:cNvSpPr/>
          <p:nvPr/>
        </p:nvSpPr>
        <p:spPr>
          <a:xfrm>
            <a:off x="8321040" y="3154680"/>
            <a:ext cx="2926080" cy="594360"/>
          </a:xfrm>
          <a:prstGeom prst="rect">
            <a:avLst/>
          </a:prstGeom>
          <a:noFill/>
          <a:ln/>
        </p:spPr>
        <p:txBody>
          <a:bodyPr wrap="square" lIns="0" tIns="0" rIns="0" bIns="0" rtlCol="0" anchor="ctr"/>
          <a:lstStyle/>
          <a:p>
            <a:pPr marL="0" indent="0" algn="l">
              <a:lnSpc>
                <a:spcPct val="110000"/>
              </a:lnSpc>
              <a:buNone/>
            </a:pPr>
            <a:r>
              <a:rPr lang="en-US" sz="1250" dirty="0">
                <a:solidFill>
                  <a:srgbClr val="3E465C"/>
                </a:solidFill>
                <a:latin typeface="Calibri" pitchFamily="34" charset="0"/>
                <a:ea typeface="Calibri" pitchFamily="34" charset="-122"/>
                <a:cs typeface="Calibri" pitchFamily="34" charset="-120"/>
              </a:rPr>
              <a:t>Manual processes slow down procurement</a:t>
            </a:r>
            <a:endParaRPr lang="en-US" sz="1250" dirty="0"/>
          </a:p>
        </p:txBody>
      </p:sp>
      <p:sp>
        <p:nvSpPr>
          <p:cNvPr id="12" name="Shape 8"/>
          <p:cNvSpPr/>
          <p:nvPr/>
        </p:nvSpPr>
        <p:spPr>
          <a:xfrm>
            <a:off x="7635240" y="4114800"/>
            <a:ext cx="502920" cy="502920"/>
          </a:xfrm>
          <a:prstGeom prst="ellipse">
            <a:avLst/>
          </a:prstGeom>
          <a:solidFill>
            <a:srgbClr val="1E2761"/>
          </a:solidFill>
          <a:ln/>
        </p:spPr>
      </p:sp>
      <p:pic>
        <p:nvPicPr>
          <p:cNvPr id="13" name="Image 2" descr="icons/checkcircle.png"/>
          <p:cNvPicPr>
            <a:picLocks noChangeAspect="1"/>
          </p:cNvPicPr>
          <p:nvPr/>
        </p:nvPicPr>
        <p:blipFill>
          <a:blip r:embed="rId5"/>
          <a:stretch>
            <a:fillRect/>
          </a:stretch>
        </p:blipFill>
        <p:spPr>
          <a:xfrm>
            <a:off x="7700620" y="4180180"/>
            <a:ext cx="372161" cy="372161"/>
          </a:xfrm>
          <a:prstGeom prst="rect">
            <a:avLst/>
          </a:prstGeom>
        </p:spPr>
      </p:pic>
      <p:sp>
        <p:nvSpPr>
          <p:cNvPr id="14" name="Text 9"/>
          <p:cNvSpPr/>
          <p:nvPr/>
        </p:nvSpPr>
        <p:spPr>
          <a:xfrm>
            <a:off x="8321040" y="4069080"/>
            <a:ext cx="2926080" cy="594360"/>
          </a:xfrm>
          <a:prstGeom prst="rect">
            <a:avLst/>
          </a:prstGeom>
          <a:noFill/>
          <a:ln/>
        </p:spPr>
        <p:txBody>
          <a:bodyPr wrap="square" lIns="0" tIns="0" rIns="0" bIns="0" rtlCol="0" anchor="ctr"/>
          <a:lstStyle/>
          <a:p>
            <a:pPr marL="0" indent="0" algn="l">
              <a:lnSpc>
                <a:spcPct val="110000"/>
              </a:lnSpc>
              <a:buNone/>
            </a:pPr>
            <a:r>
              <a:rPr lang="en-US" sz="1250" dirty="0">
                <a:solidFill>
                  <a:srgbClr val="3E465C"/>
                </a:solidFill>
                <a:latin typeface="Calibri" pitchFamily="34" charset="0"/>
                <a:ea typeface="Calibri" pitchFamily="34" charset="-122"/>
                <a:cs typeface="Calibri" pitchFamily="34" charset="-120"/>
              </a:rPr>
              <a:t>One centralized digital platform</a:t>
            </a:r>
            <a:endParaRPr lang="en-US" sz="1250" dirty="0"/>
          </a:p>
        </p:txBody>
      </p:sp>
      <p:sp>
        <p:nvSpPr>
          <p:cNvPr id="15" name="Shape 10"/>
          <p:cNvSpPr/>
          <p:nvPr/>
        </p:nvSpPr>
        <p:spPr>
          <a:xfrm>
            <a:off x="7635240" y="5029200"/>
            <a:ext cx="502920" cy="502920"/>
          </a:xfrm>
          <a:prstGeom prst="ellipse">
            <a:avLst/>
          </a:prstGeom>
          <a:solidFill>
            <a:srgbClr val="1E2761"/>
          </a:solidFill>
          <a:ln/>
        </p:spPr>
      </p:sp>
      <p:pic>
        <p:nvPicPr>
          <p:cNvPr id="16" name="Image 3" descr="icons/star.png"/>
          <p:cNvPicPr>
            <a:picLocks noChangeAspect="1"/>
          </p:cNvPicPr>
          <p:nvPr/>
        </p:nvPicPr>
        <p:blipFill>
          <a:blip r:embed="rId6"/>
          <a:stretch>
            <a:fillRect/>
          </a:stretch>
        </p:blipFill>
        <p:spPr>
          <a:xfrm>
            <a:off x="7700620" y="5094580"/>
            <a:ext cx="372161" cy="372161"/>
          </a:xfrm>
          <a:prstGeom prst="rect">
            <a:avLst/>
          </a:prstGeom>
        </p:spPr>
      </p:pic>
      <p:sp>
        <p:nvSpPr>
          <p:cNvPr id="17" name="Text 11"/>
          <p:cNvSpPr/>
          <p:nvPr/>
        </p:nvSpPr>
        <p:spPr>
          <a:xfrm>
            <a:off x="8321040" y="4983480"/>
            <a:ext cx="2926080" cy="594360"/>
          </a:xfrm>
          <a:prstGeom prst="rect">
            <a:avLst/>
          </a:prstGeom>
          <a:noFill/>
          <a:ln/>
        </p:spPr>
        <p:txBody>
          <a:bodyPr wrap="square" lIns="0" tIns="0" rIns="0" bIns="0" rtlCol="0" anchor="ctr"/>
          <a:lstStyle/>
          <a:p>
            <a:pPr marL="0" indent="0" algn="l">
              <a:lnSpc>
                <a:spcPct val="110000"/>
              </a:lnSpc>
              <a:buNone/>
            </a:pPr>
            <a:r>
              <a:rPr lang="en-US" sz="1250" dirty="0">
                <a:solidFill>
                  <a:srgbClr val="3E465C"/>
                </a:solidFill>
                <a:latin typeface="Calibri" pitchFamily="34" charset="0"/>
                <a:ea typeface="Calibri" pitchFamily="34" charset="-122"/>
                <a:cs typeface="Calibri" pitchFamily="34" charset="-120"/>
              </a:rPr>
              <a:t>Performance-based vendor evaluation</a:t>
            </a:r>
            <a:endParaRPr lang="en-US" sz="1250" dirty="0"/>
          </a:p>
        </p:txBody>
      </p:sp>
      <p:sp>
        <p:nvSpPr>
          <p:cNvPr id="18" name="Text 12"/>
          <p:cNvSpPr/>
          <p:nvPr/>
        </p:nvSpPr>
        <p:spPr>
          <a:xfrm>
            <a:off x="457200" y="6547104"/>
            <a:ext cx="3657600" cy="274320"/>
          </a:xfrm>
          <a:prstGeom prst="rect">
            <a:avLst/>
          </a:prstGeom>
          <a:noFill/>
          <a:ln/>
        </p:spPr>
        <p:txBody>
          <a:bodyPr wrap="square" lIns="0" tIns="0" rIns="0" bIns="0" rtlCol="0" anchor="ctr"/>
          <a:lstStyle/>
          <a:p>
            <a:pPr marL="0" indent="0" algn="l">
              <a:buNone/>
            </a:pPr>
            <a:r>
              <a:rPr lang="en-US" sz="900" dirty="0">
                <a:solidFill>
                  <a:srgbClr val="6B7488"/>
                </a:solidFill>
                <a:latin typeface="Calibri" pitchFamily="34" charset="0"/>
                <a:ea typeface="Calibri" pitchFamily="34" charset="-122"/>
                <a:cs typeface="Calibri" pitchFamily="34" charset="-120"/>
              </a:rPr>
              <a:t>VENDORFLOW</a:t>
            </a:r>
            <a:endParaRPr lang="en-US" sz="900" dirty="0"/>
          </a:p>
        </p:txBody>
      </p:sp>
      <p:sp>
        <p:nvSpPr>
          <p:cNvPr id="19" name="Text 13"/>
          <p:cNvSpPr/>
          <p:nvPr/>
        </p:nvSpPr>
        <p:spPr>
          <a:xfrm>
            <a:off x="11274552" y="6547104"/>
            <a:ext cx="457200" cy="274320"/>
          </a:xfrm>
          <a:prstGeom prst="rect">
            <a:avLst/>
          </a:prstGeom>
          <a:noFill/>
          <a:ln/>
        </p:spPr>
        <p:txBody>
          <a:bodyPr wrap="square" lIns="0" tIns="0" rIns="0" bIns="0" rtlCol="0" anchor="ctr"/>
          <a:lstStyle/>
          <a:p>
            <a:pPr marL="0" indent="0" algn="r">
              <a:buNone/>
            </a:pPr>
            <a:r>
              <a:rPr lang="en-US" sz="900" dirty="0">
                <a:solidFill>
                  <a:srgbClr val="6B748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515600" cy="640080"/>
          </a:xfrm>
          <a:prstGeom prst="rect">
            <a:avLst/>
          </a:prstGeom>
          <a:noFill/>
          <a:ln/>
        </p:spPr>
        <p:txBody>
          <a:bodyPr wrap="square" lIns="0" tIns="0" rIns="0" bIns="0" rtlCol="0" anchor="ctr"/>
          <a:lstStyle/>
          <a:p>
            <a:pPr marL="0" indent="0" algn="l">
              <a:buNone/>
            </a:pPr>
            <a:r>
              <a:rPr lang="en-US" sz="3400" b="1" dirty="0">
                <a:solidFill>
                  <a:srgbClr val="1E2761"/>
                </a:solidFill>
                <a:latin typeface="Cambria" pitchFamily="34" charset="0"/>
                <a:ea typeface="Cambria" pitchFamily="34" charset="-122"/>
                <a:cs typeface="Cambria" pitchFamily="34" charset="-120"/>
              </a:rPr>
              <a:t>Problem Statement</a:t>
            </a:r>
            <a:endParaRPr lang="en-US" sz="3400" dirty="0"/>
          </a:p>
        </p:txBody>
      </p:sp>
      <p:sp>
        <p:nvSpPr>
          <p:cNvPr id="3" name="Text 1"/>
          <p:cNvSpPr/>
          <p:nvPr/>
        </p:nvSpPr>
        <p:spPr>
          <a:xfrm>
            <a:off x="548640" y="1417320"/>
            <a:ext cx="6400800" cy="4206240"/>
          </a:xfrm>
          <a:prstGeom prst="rect">
            <a:avLst/>
          </a:prstGeom>
          <a:noFill/>
          <a:ln/>
        </p:spPr>
        <p:txBody>
          <a:bodyPr wrap="square" lIns="0" tIns="0" rIns="0" bIns="0" rtlCol="0" anchor="t"/>
          <a:lstStyle/>
          <a:p>
            <a:pPr marL="0" indent="0" algn="l">
              <a:lnSpc>
                <a:spcPct val="135000"/>
              </a:lnSpc>
              <a:buNone/>
            </a:pPr>
            <a:r>
              <a:rPr lang="en-US" sz="1500" dirty="0">
                <a:solidFill>
                  <a:srgbClr val="3E465C"/>
                </a:solidFill>
                <a:latin typeface="Calibri" pitchFamily="34" charset="0"/>
                <a:ea typeface="Calibri" pitchFamily="34" charset="-122"/>
                <a:cs typeface="Calibri" pitchFamily="34" charset="-120"/>
              </a:rPr>
              <a:t>Businesses working with several vendors need to manage onboarding documentation, raise purchase orders, track order status, and assess vendor reliability. This is commonly handled manually across emails, paper files, and spreadsheets maintained by different departments.</a:t>
            </a:r>
            <a:endParaRPr lang="en-US" sz="1500" dirty="0"/>
          </a:p>
          <a:p>
            <a:pPr marL="0" indent="0" algn="l">
              <a:lnSpc>
                <a:spcPct val="135000"/>
              </a:lnSpc>
              <a:buNone/>
            </a:pPr>
            <a:endParaRPr lang="en-US" sz="1500" dirty="0"/>
          </a:p>
          <a:p>
            <a:pPr marL="0" indent="0" algn="l">
              <a:lnSpc>
                <a:spcPct val="135000"/>
              </a:lnSpc>
              <a:buNone/>
            </a:pPr>
            <a:r>
              <a:rPr lang="en-US" sz="1500" dirty="0">
                <a:solidFill>
                  <a:srgbClr val="3E465C"/>
                </a:solidFill>
                <a:latin typeface="Calibri" pitchFamily="34" charset="0"/>
                <a:ea typeface="Calibri" pitchFamily="34" charset="-122"/>
                <a:cs typeface="Calibri" pitchFamily="34" charset="-120"/>
              </a:rPr>
              <a:t>This makes it difficult to maintain consistent vendor records, track active orders, and identify reliable vendors over time. A centralized digital system is needed to manage the vendor lifecycle — from registration to performance evaluation — with role-based access for vendors, procurement staff, and administrators.</a:t>
            </a:r>
            <a:endParaRPr lang="en-US" sz="1500" dirty="0"/>
          </a:p>
        </p:txBody>
      </p:sp>
      <p:sp>
        <p:nvSpPr>
          <p:cNvPr id="4" name="Shape 2"/>
          <p:cNvSpPr/>
          <p:nvPr/>
        </p:nvSpPr>
        <p:spPr>
          <a:xfrm>
            <a:off x="7315200" y="1417320"/>
            <a:ext cx="4297680" cy="4572000"/>
          </a:xfrm>
          <a:prstGeom prst="rect">
            <a:avLst/>
          </a:prstGeom>
          <a:solidFill>
            <a:srgbClr val="1E2761"/>
          </a:solidFill>
          <a:ln/>
        </p:spPr>
      </p:sp>
      <p:sp>
        <p:nvSpPr>
          <p:cNvPr id="5" name="Text 3"/>
          <p:cNvSpPr/>
          <p:nvPr/>
        </p:nvSpPr>
        <p:spPr>
          <a:xfrm>
            <a:off x="7635240" y="1691640"/>
            <a:ext cx="3657600" cy="457200"/>
          </a:xfrm>
          <a:prstGeom prst="rect">
            <a:avLst/>
          </a:prstGeom>
          <a:noFill/>
          <a:ln/>
        </p:spPr>
        <p:txBody>
          <a:bodyPr wrap="square" lIns="0" tIns="0" rIns="0" bIns="0" rtlCol="0" anchor="ctr"/>
          <a:lstStyle/>
          <a:p>
            <a:pPr marL="0" indent="0">
              <a:lnSpc>
                <a:spcPct val="110000"/>
              </a:lnSpc>
              <a:buNone/>
            </a:pPr>
            <a:r>
              <a:rPr lang="en-US" sz="1300" b="1" kern="0" spc="100" dirty="0">
                <a:solidFill>
                  <a:srgbClr val="FFFFFF"/>
                </a:solidFill>
                <a:latin typeface="Calibri" pitchFamily="34" charset="0"/>
                <a:ea typeface="Calibri" pitchFamily="34" charset="-122"/>
                <a:cs typeface="Calibri" pitchFamily="34" charset="-120"/>
              </a:rPr>
              <a:t>MANUAL WORKFLOW CHALLENGES</a:t>
            </a:r>
            <a:endParaRPr lang="en-US" sz="1300" dirty="0"/>
          </a:p>
        </p:txBody>
      </p:sp>
      <p:sp>
        <p:nvSpPr>
          <p:cNvPr id="6" name="Shape 4"/>
          <p:cNvSpPr/>
          <p:nvPr/>
        </p:nvSpPr>
        <p:spPr>
          <a:xfrm>
            <a:off x="7635240" y="2331720"/>
            <a:ext cx="502920" cy="502920"/>
          </a:xfrm>
          <a:prstGeom prst="ellipse">
            <a:avLst/>
          </a:prstGeom>
          <a:solidFill>
            <a:srgbClr val="B4571F"/>
          </a:solidFill>
          <a:ln/>
        </p:spPr>
      </p:sp>
      <p:pic>
        <p:nvPicPr>
          <p:cNvPr id="7" name="Image 0" descr="icons/filealt.png"/>
          <p:cNvPicPr>
            <a:picLocks noChangeAspect="1"/>
          </p:cNvPicPr>
          <p:nvPr/>
        </p:nvPicPr>
        <p:blipFill>
          <a:blip r:embed="rId3"/>
          <a:stretch>
            <a:fillRect/>
          </a:stretch>
        </p:blipFill>
        <p:spPr>
          <a:xfrm>
            <a:off x="7700620" y="2397100"/>
            <a:ext cx="372161" cy="372161"/>
          </a:xfrm>
          <a:prstGeom prst="rect">
            <a:avLst/>
          </a:prstGeom>
        </p:spPr>
      </p:pic>
      <p:sp>
        <p:nvSpPr>
          <p:cNvPr id="8" name="Text 5"/>
          <p:cNvSpPr/>
          <p:nvPr/>
        </p:nvSpPr>
        <p:spPr>
          <a:xfrm>
            <a:off x="8321040" y="2286000"/>
            <a:ext cx="2926080" cy="594360"/>
          </a:xfrm>
          <a:prstGeom prst="rect">
            <a:avLst/>
          </a:prstGeom>
          <a:noFill/>
          <a:ln/>
        </p:spPr>
        <p:txBody>
          <a:bodyPr wrap="square" lIns="0" tIns="0" rIns="0" bIns="0" rtlCol="0" anchor="ctr"/>
          <a:lstStyle/>
          <a:p>
            <a:pPr marL="0" indent="0" algn="l">
              <a:lnSpc>
                <a:spcPct val="110000"/>
              </a:lnSpc>
              <a:buNone/>
            </a:pPr>
            <a:r>
              <a:rPr lang="en-US" sz="1250" dirty="0">
                <a:solidFill>
                  <a:srgbClr val="E4E8F5"/>
                </a:solidFill>
                <a:latin typeface="Calibri" pitchFamily="34" charset="0"/>
                <a:ea typeface="Calibri" pitchFamily="34" charset="-122"/>
                <a:cs typeface="Calibri" pitchFamily="34" charset="-120"/>
              </a:rPr>
              <a:t>Scattered, paper-based vendor records</a:t>
            </a:r>
            <a:endParaRPr lang="en-US" sz="1250" dirty="0"/>
          </a:p>
        </p:txBody>
      </p:sp>
      <p:sp>
        <p:nvSpPr>
          <p:cNvPr id="9" name="Shape 6"/>
          <p:cNvSpPr/>
          <p:nvPr/>
        </p:nvSpPr>
        <p:spPr>
          <a:xfrm>
            <a:off x="7635240" y="3246120"/>
            <a:ext cx="502920" cy="502920"/>
          </a:xfrm>
          <a:prstGeom prst="ellipse">
            <a:avLst/>
          </a:prstGeom>
          <a:solidFill>
            <a:srgbClr val="B4571F"/>
          </a:solidFill>
          <a:ln/>
        </p:spPr>
      </p:sp>
      <p:pic>
        <p:nvPicPr>
          <p:cNvPr id="10" name="Image 1" descr="icons/clock.png"/>
          <p:cNvPicPr>
            <a:picLocks noChangeAspect="1"/>
          </p:cNvPicPr>
          <p:nvPr/>
        </p:nvPicPr>
        <p:blipFill>
          <a:blip r:embed="rId4"/>
          <a:stretch>
            <a:fillRect/>
          </a:stretch>
        </p:blipFill>
        <p:spPr>
          <a:xfrm>
            <a:off x="7700620" y="3311500"/>
            <a:ext cx="372161" cy="372161"/>
          </a:xfrm>
          <a:prstGeom prst="rect">
            <a:avLst/>
          </a:prstGeom>
        </p:spPr>
      </p:pic>
      <p:sp>
        <p:nvSpPr>
          <p:cNvPr id="11" name="Text 7"/>
          <p:cNvSpPr/>
          <p:nvPr/>
        </p:nvSpPr>
        <p:spPr>
          <a:xfrm>
            <a:off x="8321040" y="3200400"/>
            <a:ext cx="2926080" cy="594360"/>
          </a:xfrm>
          <a:prstGeom prst="rect">
            <a:avLst/>
          </a:prstGeom>
          <a:noFill/>
          <a:ln/>
        </p:spPr>
        <p:txBody>
          <a:bodyPr wrap="square" lIns="0" tIns="0" rIns="0" bIns="0" rtlCol="0" anchor="ctr"/>
          <a:lstStyle/>
          <a:p>
            <a:pPr marL="0" indent="0" algn="l">
              <a:lnSpc>
                <a:spcPct val="110000"/>
              </a:lnSpc>
              <a:buNone/>
            </a:pPr>
            <a:r>
              <a:rPr lang="en-US" sz="1250" dirty="0">
                <a:solidFill>
                  <a:srgbClr val="E4E8F5"/>
                </a:solidFill>
                <a:latin typeface="Calibri" pitchFamily="34" charset="0"/>
                <a:ea typeface="Calibri" pitchFamily="34" charset="-122"/>
                <a:cs typeface="Calibri" pitchFamily="34" charset="-120"/>
              </a:rPr>
              <a:t>Manual purchase-order tracking</a:t>
            </a:r>
            <a:endParaRPr lang="en-US" sz="1250" dirty="0"/>
          </a:p>
        </p:txBody>
      </p:sp>
      <p:sp>
        <p:nvSpPr>
          <p:cNvPr id="12" name="Shape 8"/>
          <p:cNvSpPr/>
          <p:nvPr/>
        </p:nvSpPr>
        <p:spPr>
          <a:xfrm>
            <a:off x="7635240" y="4160520"/>
            <a:ext cx="502920" cy="502920"/>
          </a:xfrm>
          <a:prstGeom prst="ellipse">
            <a:avLst/>
          </a:prstGeom>
          <a:solidFill>
            <a:srgbClr val="B4571F"/>
          </a:solidFill>
          <a:ln/>
        </p:spPr>
      </p:sp>
      <p:pic>
        <p:nvPicPr>
          <p:cNvPr id="13" name="Image 2" descr="icons/triangle.png"/>
          <p:cNvPicPr>
            <a:picLocks noChangeAspect="1"/>
          </p:cNvPicPr>
          <p:nvPr/>
        </p:nvPicPr>
        <p:blipFill>
          <a:blip r:embed="rId5"/>
          <a:stretch>
            <a:fillRect/>
          </a:stretch>
        </p:blipFill>
        <p:spPr>
          <a:xfrm>
            <a:off x="7700620" y="4225900"/>
            <a:ext cx="372161" cy="372161"/>
          </a:xfrm>
          <a:prstGeom prst="rect">
            <a:avLst/>
          </a:prstGeom>
        </p:spPr>
      </p:pic>
      <p:sp>
        <p:nvSpPr>
          <p:cNvPr id="14" name="Text 9"/>
          <p:cNvSpPr/>
          <p:nvPr/>
        </p:nvSpPr>
        <p:spPr>
          <a:xfrm>
            <a:off x="8321040" y="4114800"/>
            <a:ext cx="2926080" cy="594360"/>
          </a:xfrm>
          <a:prstGeom prst="rect">
            <a:avLst/>
          </a:prstGeom>
          <a:noFill/>
          <a:ln/>
        </p:spPr>
        <p:txBody>
          <a:bodyPr wrap="square" lIns="0" tIns="0" rIns="0" bIns="0" rtlCol="0" anchor="ctr"/>
          <a:lstStyle/>
          <a:p>
            <a:pPr marL="0" indent="0" algn="l">
              <a:lnSpc>
                <a:spcPct val="110000"/>
              </a:lnSpc>
              <a:buNone/>
            </a:pPr>
            <a:r>
              <a:rPr lang="en-US" sz="1250" dirty="0">
                <a:solidFill>
                  <a:srgbClr val="E4E8F5"/>
                </a:solidFill>
                <a:latin typeface="Calibri" pitchFamily="34" charset="0"/>
                <a:ea typeface="Calibri" pitchFamily="34" charset="-122"/>
                <a:cs typeface="Calibri" pitchFamily="34" charset="-120"/>
              </a:rPr>
              <a:t>No standard performance evaluation</a:t>
            </a:r>
            <a:endParaRPr lang="en-US" sz="1250" dirty="0"/>
          </a:p>
        </p:txBody>
      </p:sp>
      <p:sp>
        <p:nvSpPr>
          <p:cNvPr id="15" name="Shape 10"/>
          <p:cNvSpPr/>
          <p:nvPr/>
        </p:nvSpPr>
        <p:spPr>
          <a:xfrm>
            <a:off x="7635240" y="5074920"/>
            <a:ext cx="502920" cy="502920"/>
          </a:xfrm>
          <a:prstGeom prst="ellipse">
            <a:avLst/>
          </a:prstGeom>
          <a:solidFill>
            <a:srgbClr val="B4571F"/>
          </a:solidFill>
          <a:ln/>
        </p:spPr>
      </p:sp>
      <p:pic>
        <p:nvPicPr>
          <p:cNvPr id="16" name="Image 3" descr="icons/hourglass.png"/>
          <p:cNvPicPr>
            <a:picLocks noChangeAspect="1"/>
          </p:cNvPicPr>
          <p:nvPr/>
        </p:nvPicPr>
        <p:blipFill>
          <a:blip r:embed="rId6"/>
          <a:stretch>
            <a:fillRect/>
          </a:stretch>
        </p:blipFill>
        <p:spPr>
          <a:xfrm>
            <a:off x="7700620" y="5140300"/>
            <a:ext cx="372161" cy="372161"/>
          </a:xfrm>
          <a:prstGeom prst="rect">
            <a:avLst/>
          </a:prstGeom>
        </p:spPr>
      </p:pic>
      <p:sp>
        <p:nvSpPr>
          <p:cNvPr id="17" name="Text 11"/>
          <p:cNvSpPr/>
          <p:nvPr/>
        </p:nvSpPr>
        <p:spPr>
          <a:xfrm>
            <a:off x="8321040" y="5029200"/>
            <a:ext cx="2926080" cy="594360"/>
          </a:xfrm>
          <a:prstGeom prst="rect">
            <a:avLst/>
          </a:prstGeom>
          <a:noFill/>
          <a:ln/>
        </p:spPr>
        <p:txBody>
          <a:bodyPr wrap="square" lIns="0" tIns="0" rIns="0" bIns="0" rtlCol="0" anchor="ctr"/>
          <a:lstStyle/>
          <a:p>
            <a:pPr marL="0" indent="0" algn="l">
              <a:lnSpc>
                <a:spcPct val="110000"/>
              </a:lnSpc>
              <a:buNone/>
            </a:pPr>
            <a:r>
              <a:rPr lang="en-US" sz="1250" dirty="0">
                <a:solidFill>
                  <a:srgbClr val="E4E8F5"/>
                </a:solidFill>
                <a:latin typeface="Calibri" pitchFamily="34" charset="0"/>
                <a:ea typeface="Calibri" pitchFamily="34" charset="-122"/>
                <a:cs typeface="Calibri" pitchFamily="34" charset="-120"/>
              </a:rPr>
              <a:t>Delayed procurement decisions</a:t>
            </a:r>
            <a:endParaRPr lang="en-US" sz="1250" dirty="0"/>
          </a:p>
        </p:txBody>
      </p:sp>
      <p:sp>
        <p:nvSpPr>
          <p:cNvPr id="18" name="Text 12"/>
          <p:cNvSpPr/>
          <p:nvPr/>
        </p:nvSpPr>
        <p:spPr>
          <a:xfrm>
            <a:off x="457200" y="6547104"/>
            <a:ext cx="3657600" cy="274320"/>
          </a:xfrm>
          <a:prstGeom prst="rect">
            <a:avLst/>
          </a:prstGeom>
          <a:noFill/>
          <a:ln/>
        </p:spPr>
        <p:txBody>
          <a:bodyPr wrap="square" lIns="0" tIns="0" rIns="0" bIns="0" rtlCol="0" anchor="ctr"/>
          <a:lstStyle/>
          <a:p>
            <a:pPr marL="0" indent="0" algn="l">
              <a:buNone/>
            </a:pPr>
            <a:r>
              <a:rPr lang="en-US" sz="900" dirty="0">
                <a:solidFill>
                  <a:srgbClr val="6B7488"/>
                </a:solidFill>
                <a:latin typeface="Calibri" pitchFamily="34" charset="0"/>
                <a:ea typeface="Calibri" pitchFamily="34" charset="-122"/>
                <a:cs typeface="Calibri" pitchFamily="34" charset="-120"/>
              </a:rPr>
              <a:t>VENDORFLOW</a:t>
            </a:r>
            <a:endParaRPr lang="en-US" sz="900" dirty="0"/>
          </a:p>
        </p:txBody>
      </p:sp>
      <p:sp>
        <p:nvSpPr>
          <p:cNvPr id="19" name="Text 13"/>
          <p:cNvSpPr/>
          <p:nvPr/>
        </p:nvSpPr>
        <p:spPr>
          <a:xfrm>
            <a:off x="11274552" y="6547104"/>
            <a:ext cx="457200" cy="274320"/>
          </a:xfrm>
          <a:prstGeom prst="rect">
            <a:avLst/>
          </a:prstGeom>
          <a:noFill/>
          <a:ln/>
        </p:spPr>
        <p:txBody>
          <a:bodyPr wrap="square" lIns="0" tIns="0" rIns="0" bIns="0" rtlCol="0" anchor="ctr"/>
          <a:lstStyle/>
          <a:p>
            <a:pPr marL="0" indent="0" algn="r">
              <a:buNone/>
            </a:pPr>
            <a:r>
              <a:rPr lang="en-US" sz="900" dirty="0">
                <a:solidFill>
                  <a:srgbClr val="6B748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54864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VENDORFLOW — Proposed Solution</a:t>
            </a:r>
            <a:endParaRPr lang="en-US" sz="3000" dirty="0"/>
          </a:p>
        </p:txBody>
      </p:sp>
      <p:sp>
        <p:nvSpPr>
          <p:cNvPr id="3" name="Text 1"/>
          <p:cNvSpPr/>
          <p:nvPr/>
        </p:nvSpPr>
        <p:spPr>
          <a:xfrm>
            <a:off x="548640" y="960120"/>
            <a:ext cx="10881360" cy="502920"/>
          </a:xfrm>
          <a:prstGeom prst="rect">
            <a:avLst/>
          </a:prstGeom>
          <a:noFill/>
          <a:ln/>
        </p:spPr>
        <p:txBody>
          <a:bodyPr wrap="square" lIns="0" tIns="0" rIns="0" bIns="0" rtlCol="0" anchor="ctr"/>
          <a:lstStyle/>
          <a:p>
            <a:pPr marL="0" indent="0">
              <a:lnSpc>
                <a:spcPct val="120000"/>
              </a:lnSpc>
              <a:buNone/>
            </a:pPr>
            <a:r>
              <a:rPr lang="en-US" sz="1300" dirty="0">
                <a:solidFill>
                  <a:srgbClr val="6B7488"/>
                </a:solidFill>
                <a:latin typeface="Calibri" pitchFamily="34" charset="0"/>
                <a:ea typeface="Calibri" pitchFamily="34" charset="-122"/>
                <a:cs typeface="Calibri" pitchFamily="34" charset="-120"/>
              </a:rPr>
              <a:t>VENDORFLOW is a centralized web application connecting vendors, procurement staff, and administrators within a single platform, turning vendor onboarding and procurement into a structured, trackable process.</a:t>
            </a:r>
            <a:endParaRPr lang="en-US" sz="1300" dirty="0"/>
          </a:p>
        </p:txBody>
      </p:sp>
      <p:sp>
        <p:nvSpPr>
          <p:cNvPr id="4" name="Shape 2"/>
          <p:cNvSpPr/>
          <p:nvPr/>
        </p:nvSpPr>
        <p:spPr>
          <a:xfrm>
            <a:off x="548640" y="1645920"/>
            <a:ext cx="3520440" cy="1170432"/>
          </a:xfrm>
          <a:prstGeom prst="rect">
            <a:avLst/>
          </a:prstGeom>
          <a:solidFill>
            <a:srgbClr val="FFFFFF"/>
          </a:solidFill>
          <a:ln/>
          <a:effectLst>
            <a:outerShdw blurRad="76200" dist="25400" dir="5400000" algn="bl" rotWithShape="0">
              <a:srgbClr val="1E2761">
                <a:alpha val="12000"/>
              </a:srgbClr>
            </a:outerShdw>
          </a:effectLst>
        </p:spPr>
      </p:sp>
      <p:sp>
        <p:nvSpPr>
          <p:cNvPr id="5" name="Shape 3"/>
          <p:cNvSpPr/>
          <p:nvPr/>
        </p:nvSpPr>
        <p:spPr>
          <a:xfrm>
            <a:off x="749808" y="1920240"/>
            <a:ext cx="621792" cy="621792"/>
          </a:xfrm>
          <a:prstGeom prst="ellipse">
            <a:avLst/>
          </a:prstGeom>
          <a:solidFill>
            <a:srgbClr val="1E2761"/>
          </a:solidFill>
          <a:ln/>
        </p:spPr>
      </p:sp>
      <p:pic>
        <p:nvPicPr>
          <p:cNvPr id="6" name="Image 0" descr="icons/userplus.png"/>
          <p:cNvPicPr>
            <a:picLocks noChangeAspect="1"/>
          </p:cNvPicPr>
          <p:nvPr/>
        </p:nvPicPr>
        <p:blipFill>
          <a:blip r:embed="rId3"/>
          <a:stretch>
            <a:fillRect/>
          </a:stretch>
        </p:blipFill>
        <p:spPr>
          <a:xfrm>
            <a:off x="830641" y="2001073"/>
            <a:ext cx="460126" cy="460126"/>
          </a:xfrm>
          <a:prstGeom prst="rect">
            <a:avLst/>
          </a:prstGeom>
        </p:spPr>
      </p:pic>
      <p:sp>
        <p:nvSpPr>
          <p:cNvPr id="7" name="Text 4"/>
          <p:cNvSpPr/>
          <p:nvPr/>
        </p:nvSpPr>
        <p:spPr>
          <a:xfrm>
            <a:off x="1508760" y="1645920"/>
            <a:ext cx="2377440" cy="1170432"/>
          </a:xfrm>
          <a:prstGeom prst="rect">
            <a:avLst/>
          </a:prstGeom>
          <a:noFill/>
          <a:ln/>
        </p:spPr>
        <p:txBody>
          <a:bodyPr wrap="square" lIns="0" tIns="0" rIns="0" bIns="0" rtlCol="0" anchor="ctr"/>
          <a:lstStyle/>
          <a:p>
            <a:pPr marL="0" indent="0" algn="l">
              <a:lnSpc>
                <a:spcPct val="110000"/>
              </a:lnSpc>
              <a:buNone/>
            </a:pPr>
            <a:r>
              <a:rPr lang="en-US" sz="1300" b="1" dirty="0">
                <a:solidFill>
                  <a:srgbClr val="3E465C"/>
                </a:solidFill>
                <a:latin typeface="Calibri" pitchFamily="34" charset="0"/>
                <a:ea typeface="Calibri" pitchFamily="34" charset="-122"/>
                <a:cs typeface="Calibri" pitchFamily="34" charset="-120"/>
              </a:rPr>
              <a:t>Digital vendor</a:t>
            </a:r>
            <a:endParaRPr lang="en-US" sz="1300" dirty="0"/>
          </a:p>
          <a:p>
            <a:pPr marL="0" indent="0" algn="l">
              <a:lnSpc>
                <a:spcPct val="110000"/>
              </a:lnSpc>
              <a:buNone/>
            </a:pPr>
            <a:r>
              <a:rPr lang="en-US" sz="1300" b="1" dirty="0">
                <a:solidFill>
                  <a:srgbClr val="3E465C"/>
                </a:solidFill>
                <a:latin typeface="Calibri" pitchFamily="34" charset="0"/>
                <a:ea typeface="Calibri" pitchFamily="34" charset="-122"/>
                <a:cs typeface="Calibri" pitchFamily="34" charset="-120"/>
              </a:rPr>
              <a:t>registration</a:t>
            </a:r>
            <a:endParaRPr lang="en-US" sz="1300" dirty="0"/>
          </a:p>
        </p:txBody>
      </p:sp>
      <p:sp>
        <p:nvSpPr>
          <p:cNvPr id="8" name="Shape 5"/>
          <p:cNvSpPr/>
          <p:nvPr/>
        </p:nvSpPr>
        <p:spPr>
          <a:xfrm>
            <a:off x="4288536" y="1645920"/>
            <a:ext cx="3520440" cy="1170432"/>
          </a:xfrm>
          <a:prstGeom prst="rect">
            <a:avLst/>
          </a:prstGeom>
          <a:solidFill>
            <a:srgbClr val="FFFFFF"/>
          </a:solidFill>
          <a:ln/>
          <a:effectLst>
            <a:outerShdw blurRad="76200" dist="25400" dir="5400000" algn="bl" rotWithShape="0">
              <a:srgbClr val="1E2761">
                <a:alpha val="12000"/>
              </a:srgbClr>
            </a:outerShdw>
          </a:effectLst>
        </p:spPr>
      </p:sp>
      <p:sp>
        <p:nvSpPr>
          <p:cNvPr id="9" name="Shape 6"/>
          <p:cNvSpPr/>
          <p:nvPr/>
        </p:nvSpPr>
        <p:spPr>
          <a:xfrm>
            <a:off x="4489704" y="1920240"/>
            <a:ext cx="621792" cy="621792"/>
          </a:xfrm>
          <a:prstGeom prst="ellipse">
            <a:avLst/>
          </a:prstGeom>
          <a:solidFill>
            <a:srgbClr val="1E2761"/>
          </a:solidFill>
          <a:ln/>
        </p:spPr>
      </p:sp>
      <p:pic>
        <p:nvPicPr>
          <p:cNvPr id="10" name="Image 1" descr="icons/hashtag.png"/>
          <p:cNvPicPr>
            <a:picLocks noChangeAspect="1"/>
          </p:cNvPicPr>
          <p:nvPr/>
        </p:nvPicPr>
        <p:blipFill>
          <a:blip r:embed="rId4"/>
          <a:stretch>
            <a:fillRect/>
          </a:stretch>
        </p:blipFill>
        <p:spPr>
          <a:xfrm>
            <a:off x="4570537" y="2001073"/>
            <a:ext cx="460126" cy="460126"/>
          </a:xfrm>
          <a:prstGeom prst="rect">
            <a:avLst/>
          </a:prstGeom>
        </p:spPr>
      </p:pic>
      <p:sp>
        <p:nvSpPr>
          <p:cNvPr id="11" name="Text 7"/>
          <p:cNvSpPr/>
          <p:nvPr/>
        </p:nvSpPr>
        <p:spPr>
          <a:xfrm>
            <a:off x="5248656" y="1645920"/>
            <a:ext cx="2377440" cy="1170432"/>
          </a:xfrm>
          <a:prstGeom prst="rect">
            <a:avLst/>
          </a:prstGeom>
          <a:noFill/>
          <a:ln/>
        </p:spPr>
        <p:txBody>
          <a:bodyPr wrap="square" lIns="0" tIns="0" rIns="0" bIns="0" rtlCol="0" anchor="ctr"/>
          <a:lstStyle/>
          <a:p>
            <a:pPr marL="0" indent="0" algn="l">
              <a:lnSpc>
                <a:spcPct val="110000"/>
              </a:lnSpc>
              <a:buNone/>
            </a:pPr>
            <a:r>
              <a:rPr lang="en-US" sz="1300" b="1" dirty="0">
                <a:solidFill>
                  <a:srgbClr val="3E465C"/>
                </a:solidFill>
                <a:latin typeface="Calibri" pitchFamily="34" charset="0"/>
                <a:ea typeface="Calibri" pitchFamily="34" charset="-122"/>
                <a:cs typeface="Calibri" pitchFamily="34" charset="-120"/>
              </a:rPr>
              <a:t>Auto unique</a:t>
            </a:r>
            <a:endParaRPr lang="en-US" sz="1300" dirty="0"/>
          </a:p>
          <a:p>
            <a:pPr marL="0" indent="0" algn="l">
              <a:lnSpc>
                <a:spcPct val="110000"/>
              </a:lnSpc>
              <a:buNone/>
            </a:pPr>
            <a:r>
              <a:rPr lang="en-US" sz="1300" b="1" dirty="0">
                <a:solidFill>
                  <a:srgbClr val="3E465C"/>
                </a:solidFill>
                <a:latin typeface="Calibri" pitchFamily="34" charset="0"/>
                <a:ea typeface="Calibri" pitchFamily="34" charset="-122"/>
                <a:cs typeface="Calibri" pitchFamily="34" charset="-120"/>
              </a:rPr>
              <a:t>Vendor ID</a:t>
            </a:r>
            <a:endParaRPr lang="en-US" sz="1300" dirty="0"/>
          </a:p>
        </p:txBody>
      </p:sp>
      <p:sp>
        <p:nvSpPr>
          <p:cNvPr id="12" name="Shape 8"/>
          <p:cNvSpPr/>
          <p:nvPr/>
        </p:nvSpPr>
        <p:spPr>
          <a:xfrm>
            <a:off x="8028432" y="1645920"/>
            <a:ext cx="3520440" cy="1170432"/>
          </a:xfrm>
          <a:prstGeom prst="rect">
            <a:avLst/>
          </a:prstGeom>
          <a:solidFill>
            <a:srgbClr val="FFFFFF"/>
          </a:solidFill>
          <a:ln/>
          <a:effectLst>
            <a:outerShdw blurRad="76200" dist="25400" dir="5400000" algn="bl" rotWithShape="0">
              <a:srgbClr val="1E2761">
                <a:alpha val="12000"/>
              </a:srgbClr>
            </a:outerShdw>
          </a:effectLst>
        </p:spPr>
      </p:sp>
      <p:sp>
        <p:nvSpPr>
          <p:cNvPr id="13" name="Shape 9"/>
          <p:cNvSpPr/>
          <p:nvPr/>
        </p:nvSpPr>
        <p:spPr>
          <a:xfrm>
            <a:off x="8229600" y="1920240"/>
            <a:ext cx="621792" cy="621792"/>
          </a:xfrm>
          <a:prstGeom prst="ellipse">
            <a:avLst/>
          </a:prstGeom>
          <a:solidFill>
            <a:srgbClr val="1E2761"/>
          </a:solidFill>
          <a:ln/>
        </p:spPr>
      </p:sp>
      <p:pic>
        <p:nvPicPr>
          <p:cNvPr id="14" name="Image 2" descr="icons/usershield.png"/>
          <p:cNvPicPr>
            <a:picLocks noChangeAspect="1"/>
          </p:cNvPicPr>
          <p:nvPr/>
        </p:nvPicPr>
        <p:blipFill>
          <a:blip r:embed="rId5"/>
          <a:stretch>
            <a:fillRect/>
          </a:stretch>
        </p:blipFill>
        <p:spPr>
          <a:xfrm>
            <a:off x="8310433" y="2001073"/>
            <a:ext cx="460126" cy="460126"/>
          </a:xfrm>
          <a:prstGeom prst="rect">
            <a:avLst/>
          </a:prstGeom>
        </p:spPr>
      </p:pic>
      <p:sp>
        <p:nvSpPr>
          <p:cNvPr id="15" name="Text 10"/>
          <p:cNvSpPr/>
          <p:nvPr/>
        </p:nvSpPr>
        <p:spPr>
          <a:xfrm>
            <a:off x="8988552" y="1645920"/>
            <a:ext cx="2377440" cy="1170432"/>
          </a:xfrm>
          <a:prstGeom prst="rect">
            <a:avLst/>
          </a:prstGeom>
          <a:noFill/>
          <a:ln/>
        </p:spPr>
        <p:txBody>
          <a:bodyPr wrap="square" lIns="0" tIns="0" rIns="0" bIns="0" rtlCol="0" anchor="ctr"/>
          <a:lstStyle/>
          <a:p>
            <a:pPr marL="0" indent="0" algn="l">
              <a:lnSpc>
                <a:spcPct val="110000"/>
              </a:lnSpc>
              <a:buNone/>
            </a:pPr>
            <a:r>
              <a:rPr lang="en-US" sz="1300" b="1" dirty="0">
                <a:solidFill>
                  <a:srgbClr val="3E465C"/>
                </a:solidFill>
                <a:latin typeface="Calibri" pitchFamily="34" charset="0"/>
                <a:ea typeface="Calibri" pitchFamily="34" charset="-122"/>
                <a:cs typeface="Calibri" pitchFamily="34" charset="-120"/>
              </a:rPr>
              <a:t>Role-based</a:t>
            </a:r>
            <a:endParaRPr lang="en-US" sz="1300" dirty="0"/>
          </a:p>
          <a:p>
            <a:pPr marL="0" indent="0" algn="l">
              <a:lnSpc>
                <a:spcPct val="110000"/>
              </a:lnSpc>
              <a:buNone/>
            </a:pPr>
            <a:r>
              <a:rPr lang="en-US" sz="1300" b="1" dirty="0">
                <a:solidFill>
                  <a:srgbClr val="3E465C"/>
                </a:solidFill>
                <a:latin typeface="Calibri" pitchFamily="34" charset="0"/>
                <a:ea typeface="Calibri" pitchFamily="34" charset="-122"/>
                <a:cs typeface="Calibri" pitchFamily="34" charset="-120"/>
              </a:rPr>
              <a:t>access</a:t>
            </a:r>
            <a:endParaRPr lang="en-US" sz="1300" dirty="0"/>
          </a:p>
        </p:txBody>
      </p:sp>
      <p:sp>
        <p:nvSpPr>
          <p:cNvPr id="16" name="Shape 11"/>
          <p:cNvSpPr/>
          <p:nvPr/>
        </p:nvSpPr>
        <p:spPr>
          <a:xfrm>
            <a:off x="548640" y="2999232"/>
            <a:ext cx="3520440" cy="1170432"/>
          </a:xfrm>
          <a:prstGeom prst="rect">
            <a:avLst/>
          </a:prstGeom>
          <a:solidFill>
            <a:srgbClr val="FFFFFF"/>
          </a:solidFill>
          <a:ln/>
          <a:effectLst>
            <a:outerShdw blurRad="76200" dist="25400" dir="5400000" algn="bl" rotWithShape="0">
              <a:srgbClr val="1E2761">
                <a:alpha val="12000"/>
              </a:srgbClr>
            </a:outerShdw>
          </a:effectLst>
        </p:spPr>
      </p:sp>
      <p:sp>
        <p:nvSpPr>
          <p:cNvPr id="17" name="Shape 12"/>
          <p:cNvSpPr/>
          <p:nvPr/>
        </p:nvSpPr>
        <p:spPr>
          <a:xfrm>
            <a:off x="749808" y="3273552"/>
            <a:ext cx="621792" cy="621792"/>
          </a:xfrm>
          <a:prstGeom prst="ellipse">
            <a:avLst/>
          </a:prstGeom>
          <a:solidFill>
            <a:srgbClr val="1E2761"/>
          </a:solidFill>
          <a:ln/>
        </p:spPr>
      </p:sp>
      <p:pic>
        <p:nvPicPr>
          <p:cNvPr id="18" name="Image 3" descr="icons/clipboard.png"/>
          <p:cNvPicPr>
            <a:picLocks noChangeAspect="1"/>
          </p:cNvPicPr>
          <p:nvPr/>
        </p:nvPicPr>
        <p:blipFill>
          <a:blip r:embed="rId6"/>
          <a:stretch>
            <a:fillRect/>
          </a:stretch>
        </p:blipFill>
        <p:spPr>
          <a:xfrm>
            <a:off x="830641" y="3354385"/>
            <a:ext cx="460126" cy="460126"/>
          </a:xfrm>
          <a:prstGeom prst="rect">
            <a:avLst/>
          </a:prstGeom>
        </p:spPr>
      </p:pic>
      <p:sp>
        <p:nvSpPr>
          <p:cNvPr id="19" name="Text 13"/>
          <p:cNvSpPr/>
          <p:nvPr/>
        </p:nvSpPr>
        <p:spPr>
          <a:xfrm>
            <a:off x="1508760" y="2999232"/>
            <a:ext cx="2377440" cy="1170432"/>
          </a:xfrm>
          <a:prstGeom prst="rect">
            <a:avLst/>
          </a:prstGeom>
          <a:noFill/>
          <a:ln/>
        </p:spPr>
        <p:txBody>
          <a:bodyPr wrap="square" lIns="0" tIns="0" rIns="0" bIns="0" rtlCol="0" anchor="ctr"/>
          <a:lstStyle/>
          <a:p>
            <a:pPr marL="0" indent="0" algn="l">
              <a:lnSpc>
                <a:spcPct val="110000"/>
              </a:lnSpc>
              <a:buNone/>
            </a:pPr>
            <a:r>
              <a:rPr lang="en-US" sz="1300" b="1" dirty="0">
                <a:solidFill>
                  <a:srgbClr val="3E465C"/>
                </a:solidFill>
                <a:latin typeface="Calibri" pitchFamily="34" charset="0"/>
                <a:ea typeface="Calibri" pitchFamily="34" charset="-122"/>
                <a:cs typeface="Calibri" pitchFamily="34" charset="-120"/>
              </a:rPr>
              <a:t>Purchase order</a:t>
            </a:r>
            <a:endParaRPr lang="en-US" sz="1300" dirty="0"/>
          </a:p>
          <a:p>
            <a:pPr marL="0" indent="0" algn="l">
              <a:lnSpc>
                <a:spcPct val="110000"/>
              </a:lnSpc>
              <a:buNone/>
            </a:pPr>
            <a:r>
              <a:rPr lang="en-US" sz="1300" b="1" dirty="0">
                <a:solidFill>
                  <a:srgbClr val="3E465C"/>
                </a:solidFill>
                <a:latin typeface="Calibri" pitchFamily="34" charset="0"/>
                <a:ea typeface="Calibri" pitchFamily="34" charset="-122"/>
                <a:cs typeface="Calibri" pitchFamily="34" charset="-120"/>
              </a:rPr>
              <a:t>creation &amp; tracking</a:t>
            </a:r>
            <a:endParaRPr lang="en-US" sz="1300" dirty="0"/>
          </a:p>
        </p:txBody>
      </p:sp>
      <p:sp>
        <p:nvSpPr>
          <p:cNvPr id="20" name="Shape 14"/>
          <p:cNvSpPr/>
          <p:nvPr/>
        </p:nvSpPr>
        <p:spPr>
          <a:xfrm>
            <a:off x="4288536" y="2999232"/>
            <a:ext cx="3520440" cy="1170432"/>
          </a:xfrm>
          <a:prstGeom prst="rect">
            <a:avLst/>
          </a:prstGeom>
          <a:solidFill>
            <a:srgbClr val="FFFFFF"/>
          </a:solidFill>
          <a:ln/>
          <a:effectLst>
            <a:outerShdw blurRad="76200" dist="25400" dir="5400000" algn="bl" rotWithShape="0">
              <a:srgbClr val="1E2761">
                <a:alpha val="12000"/>
              </a:srgbClr>
            </a:outerShdw>
          </a:effectLst>
        </p:spPr>
      </p:sp>
      <p:sp>
        <p:nvSpPr>
          <p:cNvPr id="21" name="Shape 15"/>
          <p:cNvSpPr/>
          <p:nvPr/>
        </p:nvSpPr>
        <p:spPr>
          <a:xfrm>
            <a:off x="4489704" y="3273552"/>
            <a:ext cx="621792" cy="621792"/>
          </a:xfrm>
          <a:prstGeom prst="ellipse">
            <a:avLst/>
          </a:prstGeom>
          <a:solidFill>
            <a:srgbClr val="1E2761"/>
          </a:solidFill>
          <a:ln/>
        </p:spPr>
      </p:sp>
      <p:pic>
        <p:nvPicPr>
          <p:cNvPr id="22" name="Image 4" descr="icons/truck.png"/>
          <p:cNvPicPr>
            <a:picLocks noChangeAspect="1"/>
          </p:cNvPicPr>
          <p:nvPr/>
        </p:nvPicPr>
        <p:blipFill>
          <a:blip r:embed="rId7"/>
          <a:stretch>
            <a:fillRect/>
          </a:stretch>
        </p:blipFill>
        <p:spPr>
          <a:xfrm>
            <a:off x="4570537" y="3354385"/>
            <a:ext cx="460126" cy="460126"/>
          </a:xfrm>
          <a:prstGeom prst="rect">
            <a:avLst/>
          </a:prstGeom>
        </p:spPr>
      </p:pic>
      <p:sp>
        <p:nvSpPr>
          <p:cNvPr id="23" name="Text 16"/>
          <p:cNvSpPr/>
          <p:nvPr/>
        </p:nvSpPr>
        <p:spPr>
          <a:xfrm>
            <a:off x="5248656" y="2999232"/>
            <a:ext cx="2377440" cy="1170432"/>
          </a:xfrm>
          <a:prstGeom prst="rect">
            <a:avLst/>
          </a:prstGeom>
          <a:noFill/>
          <a:ln/>
        </p:spPr>
        <p:txBody>
          <a:bodyPr wrap="square" lIns="0" tIns="0" rIns="0" bIns="0" rtlCol="0" anchor="ctr"/>
          <a:lstStyle/>
          <a:p>
            <a:pPr marL="0" indent="0" algn="l">
              <a:lnSpc>
                <a:spcPct val="110000"/>
              </a:lnSpc>
              <a:buNone/>
            </a:pPr>
            <a:r>
              <a:rPr lang="en-US" sz="1300" b="1" dirty="0">
                <a:solidFill>
                  <a:srgbClr val="3E465C"/>
                </a:solidFill>
                <a:latin typeface="Calibri" pitchFamily="34" charset="0"/>
                <a:ea typeface="Calibri" pitchFamily="34" charset="-122"/>
                <a:cs typeface="Calibri" pitchFamily="34" charset="-120"/>
              </a:rPr>
              <a:t>Order status</a:t>
            </a:r>
            <a:endParaRPr lang="en-US" sz="1300" dirty="0"/>
          </a:p>
          <a:p>
            <a:pPr marL="0" indent="0" algn="l">
              <a:lnSpc>
                <a:spcPct val="110000"/>
              </a:lnSpc>
              <a:buNone/>
            </a:pPr>
            <a:r>
              <a:rPr lang="en-US" sz="1300" b="1" dirty="0">
                <a:solidFill>
                  <a:srgbClr val="3E465C"/>
                </a:solidFill>
                <a:latin typeface="Calibri" pitchFamily="34" charset="0"/>
                <a:ea typeface="Calibri" pitchFamily="34" charset="-122"/>
                <a:cs typeface="Calibri" pitchFamily="34" charset="-120"/>
              </a:rPr>
              <a:t>updates</a:t>
            </a:r>
            <a:endParaRPr lang="en-US" sz="1300" dirty="0"/>
          </a:p>
        </p:txBody>
      </p:sp>
      <p:sp>
        <p:nvSpPr>
          <p:cNvPr id="24" name="Shape 17"/>
          <p:cNvSpPr/>
          <p:nvPr/>
        </p:nvSpPr>
        <p:spPr>
          <a:xfrm>
            <a:off x="8028432" y="2999232"/>
            <a:ext cx="3520440" cy="1170432"/>
          </a:xfrm>
          <a:prstGeom prst="rect">
            <a:avLst/>
          </a:prstGeom>
          <a:solidFill>
            <a:srgbClr val="FFFFFF"/>
          </a:solidFill>
          <a:ln/>
          <a:effectLst>
            <a:outerShdw blurRad="76200" dist="25400" dir="5400000" algn="bl" rotWithShape="0">
              <a:srgbClr val="1E2761">
                <a:alpha val="12000"/>
              </a:srgbClr>
            </a:outerShdw>
          </a:effectLst>
        </p:spPr>
      </p:sp>
      <p:sp>
        <p:nvSpPr>
          <p:cNvPr id="25" name="Shape 18"/>
          <p:cNvSpPr/>
          <p:nvPr/>
        </p:nvSpPr>
        <p:spPr>
          <a:xfrm>
            <a:off x="8229600" y="3273552"/>
            <a:ext cx="621792" cy="621792"/>
          </a:xfrm>
          <a:prstGeom prst="ellipse">
            <a:avLst/>
          </a:prstGeom>
          <a:solidFill>
            <a:srgbClr val="1E2761"/>
          </a:solidFill>
          <a:ln/>
        </p:spPr>
      </p:sp>
      <p:pic>
        <p:nvPicPr>
          <p:cNvPr id="26" name="Image 5" descr="icons/star.png"/>
          <p:cNvPicPr>
            <a:picLocks noChangeAspect="1"/>
          </p:cNvPicPr>
          <p:nvPr/>
        </p:nvPicPr>
        <p:blipFill>
          <a:blip r:embed="rId8"/>
          <a:stretch>
            <a:fillRect/>
          </a:stretch>
        </p:blipFill>
        <p:spPr>
          <a:xfrm>
            <a:off x="8310433" y="3354385"/>
            <a:ext cx="460126" cy="460126"/>
          </a:xfrm>
          <a:prstGeom prst="rect">
            <a:avLst/>
          </a:prstGeom>
        </p:spPr>
      </p:pic>
      <p:sp>
        <p:nvSpPr>
          <p:cNvPr id="27" name="Text 19"/>
          <p:cNvSpPr/>
          <p:nvPr/>
        </p:nvSpPr>
        <p:spPr>
          <a:xfrm>
            <a:off x="8988552" y="2999232"/>
            <a:ext cx="2377440" cy="1170432"/>
          </a:xfrm>
          <a:prstGeom prst="rect">
            <a:avLst/>
          </a:prstGeom>
          <a:noFill/>
          <a:ln/>
        </p:spPr>
        <p:txBody>
          <a:bodyPr wrap="square" lIns="0" tIns="0" rIns="0" bIns="0" rtlCol="0" anchor="ctr"/>
          <a:lstStyle/>
          <a:p>
            <a:pPr marL="0" indent="0" algn="l">
              <a:lnSpc>
                <a:spcPct val="110000"/>
              </a:lnSpc>
              <a:buNone/>
            </a:pPr>
            <a:r>
              <a:rPr lang="en-US" sz="1300" b="1" dirty="0">
                <a:solidFill>
                  <a:srgbClr val="3E465C"/>
                </a:solidFill>
                <a:latin typeface="Calibri" pitchFamily="34" charset="0"/>
                <a:ea typeface="Calibri" pitchFamily="34" charset="-122"/>
                <a:cs typeface="Calibri" pitchFamily="34" charset="-120"/>
              </a:rPr>
              <a:t>Vendor performance</a:t>
            </a:r>
            <a:endParaRPr lang="en-US" sz="1300" dirty="0"/>
          </a:p>
          <a:p>
            <a:pPr marL="0" indent="0" algn="l">
              <a:lnSpc>
                <a:spcPct val="110000"/>
              </a:lnSpc>
              <a:buNone/>
            </a:pPr>
            <a:r>
              <a:rPr lang="en-US" sz="1300" b="1" dirty="0">
                <a:solidFill>
                  <a:srgbClr val="3E465C"/>
                </a:solidFill>
                <a:latin typeface="Calibri" pitchFamily="34" charset="0"/>
                <a:ea typeface="Calibri" pitchFamily="34" charset="-122"/>
                <a:cs typeface="Calibri" pitchFamily="34" charset="-120"/>
              </a:rPr>
              <a:t>scoring</a:t>
            </a:r>
            <a:endParaRPr lang="en-US" sz="1300" dirty="0"/>
          </a:p>
        </p:txBody>
      </p:sp>
      <p:sp>
        <p:nvSpPr>
          <p:cNvPr id="28" name="Shape 20"/>
          <p:cNvSpPr/>
          <p:nvPr/>
        </p:nvSpPr>
        <p:spPr>
          <a:xfrm>
            <a:off x="548640" y="4352544"/>
            <a:ext cx="3520440" cy="1170432"/>
          </a:xfrm>
          <a:prstGeom prst="rect">
            <a:avLst/>
          </a:prstGeom>
          <a:solidFill>
            <a:srgbClr val="FFFFFF"/>
          </a:solidFill>
          <a:ln/>
          <a:effectLst>
            <a:outerShdw blurRad="76200" dist="25400" dir="5400000" algn="bl" rotWithShape="0">
              <a:srgbClr val="1E2761">
                <a:alpha val="12000"/>
              </a:srgbClr>
            </a:outerShdw>
          </a:effectLst>
        </p:spPr>
      </p:sp>
      <p:sp>
        <p:nvSpPr>
          <p:cNvPr id="29" name="Shape 21"/>
          <p:cNvSpPr/>
          <p:nvPr/>
        </p:nvSpPr>
        <p:spPr>
          <a:xfrm>
            <a:off x="749808" y="4626864"/>
            <a:ext cx="621792" cy="621792"/>
          </a:xfrm>
          <a:prstGeom prst="ellipse">
            <a:avLst/>
          </a:prstGeom>
          <a:solidFill>
            <a:srgbClr val="1E2761"/>
          </a:solidFill>
          <a:ln/>
        </p:spPr>
      </p:sp>
      <p:pic>
        <p:nvPicPr>
          <p:cNvPr id="30" name="Image 6" descr="icons/search.png"/>
          <p:cNvPicPr>
            <a:picLocks noChangeAspect="1"/>
          </p:cNvPicPr>
          <p:nvPr/>
        </p:nvPicPr>
        <p:blipFill>
          <a:blip r:embed="rId9"/>
          <a:stretch>
            <a:fillRect/>
          </a:stretch>
        </p:blipFill>
        <p:spPr>
          <a:xfrm>
            <a:off x="830641" y="4707697"/>
            <a:ext cx="460126" cy="460126"/>
          </a:xfrm>
          <a:prstGeom prst="rect">
            <a:avLst/>
          </a:prstGeom>
        </p:spPr>
      </p:pic>
      <p:sp>
        <p:nvSpPr>
          <p:cNvPr id="31" name="Text 22"/>
          <p:cNvSpPr/>
          <p:nvPr/>
        </p:nvSpPr>
        <p:spPr>
          <a:xfrm>
            <a:off x="1508760" y="4352544"/>
            <a:ext cx="2377440" cy="1170432"/>
          </a:xfrm>
          <a:prstGeom prst="rect">
            <a:avLst/>
          </a:prstGeom>
          <a:noFill/>
          <a:ln/>
        </p:spPr>
        <p:txBody>
          <a:bodyPr wrap="square" lIns="0" tIns="0" rIns="0" bIns="0" rtlCol="0" anchor="ctr"/>
          <a:lstStyle/>
          <a:p>
            <a:pPr marL="0" indent="0" algn="l">
              <a:lnSpc>
                <a:spcPct val="110000"/>
              </a:lnSpc>
              <a:buNone/>
            </a:pPr>
            <a:r>
              <a:rPr lang="en-US" sz="1300" b="1" dirty="0">
                <a:solidFill>
                  <a:srgbClr val="3E465C"/>
                </a:solidFill>
                <a:latin typeface="Calibri" pitchFamily="34" charset="0"/>
                <a:ea typeface="Calibri" pitchFamily="34" charset="-122"/>
                <a:cs typeface="Calibri" pitchFamily="34" charset="-120"/>
              </a:rPr>
              <a:t>Vendor directory</a:t>
            </a:r>
            <a:endParaRPr lang="en-US" sz="1300" dirty="0"/>
          </a:p>
          <a:p>
            <a:pPr marL="0" indent="0" algn="l">
              <a:lnSpc>
                <a:spcPct val="110000"/>
              </a:lnSpc>
              <a:buNone/>
            </a:pPr>
            <a:r>
              <a:rPr lang="en-US" sz="1300" b="1" dirty="0">
                <a:solidFill>
                  <a:srgbClr val="3E465C"/>
                </a:solidFill>
                <a:latin typeface="Calibri" pitchFamily="34" charset="0"/>
                <a:ea typeface="Calibri" pitchFamily="34" charset="-122"/>
                <a:cs typeface="Calibri" pitchFamily="34" charset="-120"/>
              </a:rPr>
              <a:t>&amp; search</a:t>
            </a:r>
            <a:endParaRPr lang="en-US" sz="1300" dirty="0"/>
          </a:p>
        </p:txBody>
      </p:sp>
      <p:sp>
        <p:nvSpPr>
          <p:cNvPr id="32" name="Shape 23"/>
          <p:cNvSpPr/>
          <p:nvPr/>
        </p:nvSpPr>
        <p:spPr>
          <a:xfrm>
            <a:off x="4288536" y="4352544"/>
            <a:ext cx="3520440" cy="1170432"/>
          </a:xfrm>
          <a:prstGeom prst="rect">
            <a:avLst/>
          </a:prstGeom>
          <a:solidFill>
            <a:srgbClr val="FFFFFF"/>
          </a:solidFill>
          <a:ln/>
          <a:effectLst>
            <a:outerShdw blurRad="76200" dist="25400" dir="5400000" algn="bl" rotWithShape="0">
              <a:srgbClr val="1E2761">
                <a:alpha val="12000"/>
              </a:srgbClr>
            </a:outerShdw>
          </a:effectLst>
        </p:spPr>
      </p:sp>
      <p:sp>
        <p:nvSpPr>
          <p:cNvPr id="33" name="Shape 24"/>
          <p:cNvSpPr/>
          <p:nvPr/>
        </p:nvSpPr>
        <p:spPr>
          <a:xfrm>
            <a:off x="4489704" y="4626864"/>
            <a:ext cx="621792" cy="621792"/>
          </a:xfrm>
          <a:prstGeom prst="ellipse">
            <a:avLst/>
          </a:prstGeom>
          <a:solidFill>
            <a:srgbClr val="1E2761"/>
          </a:solidFill>
          <a:ln/>
        </p:spPr>
      </p:sp>
      <p:pic>
        <p:nvPicPr>
          <p:cNvPr id="34" name="Image 7" descr="icons/checkcircle.png"/>
          <p:cNvPicPr>
            <a:picLocks noChangeAspect="1"/>
          </p:cNvPicPr>
          <p:nvPr/>
        </p:nvPicPr>
        <p:blipFill>
          <a:blip r:embed="rId10"/>
          <a:stretch>
            <a:fillRect/>
          </a:stretch>
        </p:blipFill>
        <p:spPr>
          <a:xfrm>
            <a:off x="4570537" y="4707697"/>
            <a:ext cx="460126" cy="460126"/>
          </a:xfrm>
          <a:prstGeom prst="rect">
            <a:avLst/>
          </a:prstGeom>
        </p:spPr>
      </p:pic>
      <p:sp>
        <p:nvSpPr>
          <p:cNvPr id="35" name="Text 25"/>
          <p:cNvSpPr/>
          <p:nvPr/>
        </p:nvSpPr>
        <p:spPr>
          <a:xfrm>
            <a:off x="5248656" y="4352544"/>
            <a:ext cx="2377440" cy="1170432"/>
          </a:xfrm>
          <a:prstGeom prst="rect">
            <a:avLst/>
          </a:prstGeom>
          <a:noFill/>
          <a:ln/>
        </p:spPr>
        <p:txBody>
          <a:bodyPr wrap="square" lIns="0" tIns="0" rIns="0" bIns="0" rtlCol="0" anchor="ctr"/>
          <a:lstStyle/>
          <a:p>
            <a:pPr marL="0" indent="0" algn="l">
              <a:lnSpc>
                <a:spcPct val="110000"/>
              </a:lnSpc>
              <a:buNone/>
            </a:pPr>
            <a:r>
              <a:rPr lang="en-US" sz="1300" b="1" dirty="0">
                <a:solidFill>
                  <a:srgbClr val="3E465C"/>
                </a:solidFill>
                <a:latin typeface="Calibri" pitchFamily="34" charset="0"/>
                <a:ea typeface="Calibri" pitchFamily="34" charset="-122"/>
                <a:cs typeface="Calibri" pitchFamily="34" charset="-120"/>
              </a:rPr>
              <a:t>Approval</a:t>
            </a:r>
            <a:endParaRPr lang="en-US" sz="1300" dirty="0"/>
          </a:p>
          <a:p>
            <a:pPr marL="0" indent="0" algn="l">
              <a:lnSpc>
                <a:spcPct val="110000"/>
              </a:lnSpc>
              <a:buNone/>
            </a:pPr>
            <a:r>
              <a:rPr lang="en-US" sz="1300" b="1" dirty="0">
                <a:solidFill>
                  <a:srgbClr val="3E465C"/>
                </a:solidFill>
                <a:latin typeface="Calibri" pitchFamily="34" charset="0"/>
                <a:ea typeface="Calibri" pitchFamily="34" charset="-122"/>
                <a:cs typeface="Calibri" pitchFamily="34" charset="-120"/>
              </a:rPr>
              <a:t>workflow</a:t>
            </a:r>
            <a:endParaRPr lang="en-US" sz="1300" dirty="0"/>
          </a:p>
        </p:txBody>
      </p:sp>
      <p:sp>
        <p:nvSpPr>
          <p:cNvPr id="36" name="Shape 26"/>
          <p:cNvSpPr/>
          <p:nvPr/>
        </p:nvSpPr>
        <p:spPr>
          <a:xfrm>
            <a:off x="8028432" y="4352544"/>
            <a:ext cx="3520440" cy="1170432"/>
          </a:xfrm>
          <a:prstGeom prst="rect">
            <a:avLst/>
          </a:prstGeom>
          <a:solidFill>
            <a:srgbClr val="FFFFFF"/>
          </a:solidFill>
          <a:ln/>
          <a:effectLst>
            <a:outerShdw blurRad="76200" dist="25400" dir="5400000" algn="bl" rotWithShape="0">
              <a:srgbClr val="1E2761">
                <a:alpha val="12000"/>
              </a:srgbClr>
            </a:outerShdw>
          </a:effectLst>
        </p:spPr>
      </p:sp>
      <p:sp>
        <p:nvSpPr>
          <p:cNvPr id="37" name="Shape 27"/>
          <p:cNvSpPr/>
          <p:nvPr/>
        </p:nvSpPr>
        <p:spPr>
          <a:xfrm>
            <a:off x="8229600" y="4626864"/>
            <a:ext cx="621792" cy="621792"/>
          </a:xfrm>
          <a:prstGeom prst="ellipse">
            <a:avLst/>
          </a:prstGeom>
          <a:solidFill>
            <a:srgbClr val="1E2761"/>
          </a:solidFill>
          <a:ln/>
        </p:spPr>
      </p:sp>
      <p:pic>
        <p:nvPicPr>
          <p:cNvPr id="38" name="Image 8" descr="icons/chartline.png"/>
          <p:cNvPicPr>
            <a:picLocks noChangeAspect="1"/>
          </p:cNvPicPr>
          <p:nvPr/>
        </p:nvPicPr>
        <p:blipFill>
          <a:blip r:embed="rId11"/>
          <a:stretch>
            <a:fillRect/>
          </a:stretch>
        </p:blipFill>
        <p:spPr>
          <a:xfrm>
            <a:off x="8310433" y="4707697"/>
            <a:ext cx="460126" cy="460126"/>
          </a:xfrm>
          <a:prstGeom prst="rect">
            <a:avLst/>
          </a:prstGeom>
        </p:spPr>
      </p:pic>
      <p:sp>
        <p:nvSpPr>
          <p:cNvPr id="39" name="Text 28"/>
          <p:cNvSpPr/>
          <p:nvPr/>
        </p:nvSpPr>
        <p:spPr>
          <a:xfrm>
            <a:off x="8988552" y="4352544"/>
            <a:ext cx="2377440" cy="1170432"/>
          </a:xfrm>
          <a:prstGeom prst="rect">
            <a:avLst/>
          </a:prstGeom>
          <a:noFill/>
          <a:ln/>
        </p:spPr>
        <p:txBody>
          <a:bodyPr wrap="square" lIns="0" tIns="0" rIns="0" bIns="0" rtlCol="0" anchor="ctr"/>
          <a:lstStyle/>
          <a:p>
            <a:pPr marL="0" indent="0" algn="l">
              <a:lnSpc>
                <a:spcPct val="110000"/>
              </a:lnSpc>
              <a:buNone/>
            </a:pPr>
            <a:r>
              <a:rPr lang="en-US" sz="1300" b="1" dirty="0">
                <a:solidFill>
                  <a:srgbClr val="3E465C"/>
                </a:solidFill>
                <a:latin typeface="Calibri" pitchFamily="34" charset="0"/>
                <a:ea typeface="Calibri" pitchFamily="34" charset="-122"/>
                <a:cs typeface="Calibri" pitchFamily="34" charset="-120"/>
              </a:rPr>
              <a:t>Dashboard</a:t>
            </a:r>
            <a:endParaRPr lang="en-US" sz="1300" dirty="0"/>
          </a:p>
          <a:p>
            <a:pPr marL="0" indent="0" algn="l">
              <a:lnSpc>
                <a:spcPct val="110000"/>
              </a:lnSpc>
              <a:buNone/>
            </a:pPr>
            <a:r>
              <a:rPr lang="en-US" sz="1300" b="1" dirty="0">
                <a:solidFill>
                  <a:srgbClr val="3E465C"/>
                </a:solidFill>
                <a:latin typeface="Calibri" pitchFamily="34" charset="0"/>
                <a:ea typeface="Calibri" pitchFamily="34" charset="-122"/>
                <a:cs typeface="Calibri" pitchFamily="34" charset="-120"/>
              </a:rPr>
              <a:t>analytics</a:t>
            </a:r>
            <a:endParaRPr lang="en-US" sz="1300" dirty="0"/>
          </a:p>
        </p:txBody>
      </p:sp>
      <p:sp>
        <p:nvSpPr>
          <p:cNvPr id="40" name="Shape 29"/>
          <p:cNvSpPr/>
          <p:nvPr/>
        </p:nvSpPr>
        <p:spPr>
          <a:xfrm>
            <a:off x="548640" y="5815584"/>
            <a:ext cx="11091672" cy="566928"/>
          </a:xfrm>
          <a:prstGeom prst="rect">
            <a:avLst/>
          </a:prstGeom>
          <a:solidFill>
            <a:srgbClr val="1E2761"/>
          </a:solidFill>
          <a:ln/>
        </p:spPr>
      </p:sp>
      <p:sp>
        <p:nvSpPr>
          <p:cNvPr id="41" name="Text 30"/>
          <p:cNvSpPr/>
          <p:nvPr/>
        </p:nvSpPr>
        <p:spPr>
          <a:xfrm>
            <a:off x="548640" y="5815584"/>
            <a:ext cx="11091672" cy="566928"/>
          </a:xfrm>
          <a:prstGeom prst="rect">
            <a:avLst/>
          </a:prstGeom>
          <a:noFill/>
          <a:ln/>
        </p:spPr>
        <p:txBody>
          <a:bodyPr wrap="square" lIns="0" tIns="0" rIns="0" bIns="0" rtlCol="0" anchor="ctr"/>
          <a:lstStyle/>
          <a:p>
            <a:pPr marL="0" indent="0" algn="ctr">
              <a:buNone/>
            </a:pPr>
            <a:r>
              <a:rPr lang="en-US" sz="1700" b="1" kern="0" spc="100" dirty="0">
                <a:solidFill>
                  <a:srgbClr val="E8C77A"/>
                </a:solidFill>
                <a:latin typeface="Cambria" pitchFamily="34" charset="0"/>
                <a:ea typeface="Cambria" pitchFamily="34" charset="-122"/>
                <a:cs typeface="Cambria" pitchFamily="34" charset="-120"/>
              </a:rPr>
              <a:t>Register  ›  Verify  ›  Order  ›  Deliver  ›  Evaluate</a:t>
            </a:r>
            <a:endParaRPr lang="en-US" sz="1700" dirty="0"/>
          </a:p>
        </p:txBody>
      </p:sp>
      <p:sp>
        <p:nvSpPr>
          <p:cNvPr id="42" name="Text 31"/>
          <p:cNvSpPr/>
          <p:nvPr/>
        </p:nvSpPr>
        <p:spPr>
          <a:xfrm>
            <a:off x="457200" y="6547104"/>
            <a:ext cx="3657600" cy="274320"/>
          </a:xfrm>
          <a:prstGeom prst="rect">
            <a:avLst/>
          </a:prstGeom>
          <a:noFill/>
          <a:ln/>
        </p:spPr>
        <p:txBody>
          <a:bodyPr wrap="square" lIns="0" tIns="0" rIns="0" bIns="0" rtlCol="0" anchor="ctr"/>
          <a:lstStyle/>
          <a:p>
            <a:pPr marL="0" indent="0" algn="l">
              <a:buNone/>
            </a:pPr>
            <a:r>
              <a:rPr lang="en-US" sz="900" dirty="0">
                <a:solidFill>
                  <a:srgbClr val="6B7488"/>
                </a:solidFill>
                <a:latin typeface="Calibri" pitchFamily="34" charset="0"/>
                <a:ea typeface="Calibri" pitchFamily="34" charset="-122"/>
                <a:cs typeface="Calibri" pitchFamily="34" charset="-120"/>
              </a:rPr>
              <a:t>VENDORFLOW</a:t>
            </a:r>
            <a:endParaRPr lang="en-US" sz="900" dirty="0"/>
          </a:p>
        </p:txBody>
      </p:sp>
      <p:sp>
        <p:nvSpPr>
          <p:cNvPr id="43" name="Text 32"/>
          <p:cNvSpPr/>
          <p:nvPr/>
        </p:nvSpPr>
        <p:spPr>
          <a:xfrm>
            <a:off x="11274552" y="6547104"/>
            <a:ext cx="457200" cy="274320"/>
          </a:xfrm>
          <a:prstGeom prst="rect">
            <a:avLst/>
          </a:prstGeom>
          <a:noFill/>
          <a:ln/>
        </p:spPr>
        <p:txBody>
          <a:bodyPr wrap="square" lIns="0" tIns="0" rIns="0" bIns="0" rtlCol="0" anchor="ctr"/>
          <a:lstStyle/>
          <a:p>
            <a:pPr marL="0" indent="0" algn="r">
              <a:buNone/>
            </a:pPr>
            <a:r>
              <a:rPr lang="en-US" sz="900" dirty="0">
                <a:solidFill>
                  <a:srgbClr val="6B748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515600" cy="640080"/>
          </a:xfrm>
          <a:prstGeom prst="rect">
            <a:avLst/>
          </a:prstGeom>
          <a:noFill/>
          <a:ln/>
        </p:spPr>
        <p:txBody>
          <a:bodyPr wrap="square" lIns="0" tIns="0" rIns="0" bIns="0" rtlCol="0" anchor="ctr"/>
          <a:lstStyle/>
          <a:p>
            <a:pPr marL="0" indent="0" algn="l">
              <a:buNone/>
            </a:pPr>
            <a:r>
              <a:rPr lang="en-US" sz="3400" b="1" dirty="0">
                <a:solidFill>
                  <a:srgbClr val="1E2761"/>
                </a:solidFill>
                <a:latin typeface="Cambria" pitchFamily="34" charset="0"/>
                <a:ea typeface="Cambria" pitchFamily="34" charset="-122"/>
                <a:cs typeface="Cambria" pitchFamily="34" charset="-120"/>
              </a:rPr>
              <a:t>Project Objectives</a:t>
            </a:r>
            <a:endParaRPr lang="en-US" sz="3400" dirty="0"/>
          </a:p>
        </p:txBody>
      </p:sp>
      <p:sp>
        <p:nvSpPr>
          <p:cNvPr id="3" name="Shape 1"/>
          <p:cNvSpPr/>
          <p:nvPr/>
        </p:nvSpPr>
        <p:spPr>
          <a:xfrm>
            <a:off x="548640" y="1508760"/>
            <a:ext cx="502920" cy="502920"/>
          </a:xfrm>
          <a:prstGeom prst="ellipse">
            <a:avLst/>
          </a:prstGeom>
          <a:solidFill>
            <a:srgbClr val="1E2761"/>
          </a:solidFill>
          <a:ln/>
        </p:spPr>
      </p:sp>
      <p:sp>
        <p:nvSpPr>
          <p:cNvPr id="4" name="Text 2"/>
          <p:cNvSpPr/>
          <p:nvPr/>
        </p:nvSpPr>
        <p:spPr>
          <a:xfrm>
            <a:off x="548640" y="1508760"/>
            <a:ext cx="502920" cy="502920"/>
          </a:xfrm>
          <a:prstGeom prst="rect">
            <a:avLst/>
          </a:prstGeom>
          <a:noFill/>
          <a:ln/>
        </p:spPr>
        <p:txBody>
          <a:bodyPr wrap="square" lIns="0" tIns="0" rIns="0" bIns="0" rtlCol="0" anchor="ctr"/>
          <a:lstStyle/>
          <a:p>
            <a:pPr marL="0" indent="0" algn="ctr">
              <a:buNone/>
            </a:pPr>
            <a:r>
              <a:rPr lang="en-US" sz="1300" b="1" dirty="0">
                <a:solidFill>
                  <a:srgbClr val="E8C77A"/>
                </a:solidFill>
                <a:latin typeface="Cambria" pitchFamily="34" charset="0"/>
                <a:ea typeface="Cambria" pitchFamily="34" charset="-122"/>
                <a:cs typeface="Cambria" pitchFamily="34" charset="-120"/>
              </a:rPr>
              <a:t>01</a:t>
            </a:r>
            <a:endParaRPr lang="en-US" sz="1300" dirty="0"/>
          </a:p>
        </p:txBody>
      </p:sp>
      <p:sp>
        <p:nvSpPr>
          <p:cNvPr id="5" name="Text 3"/>
          <p:cNvSpPr/>
          <p:nvPr/>
        </p:nvSpPr>
        <p:spPr>
          <a:xfrm>
            <a:off x="1207008" y="1339596"/>
            <a:ext cx="4599432" cy="868680"/>
          </a:xfrm>
          <a:prstGeom prst="rect">
            <a:avLst/>
          </a:prstGeom>
          <a:noFill/>
          <a:ln/>
        </p:spPr>
        <p:txBody>
          <a:bodyPr wrap="square" lIns="0" tIns="0" rIns="0" bIns="0" rtlCol="0" anchor="ctr"/>
          <a:lstStyle/>
          <a:p>
            <a:pPr marL="0" indent="0" algn="l">
              <a:lnSpc>
                <a:spcPct val="120000"/>
              </a:lnSpc>
              <a:buNone/>
            </a:pPr>
            <a:r>
              <a:rPr lang="en-US" sz="1400" dirty="0">
                <a:solidFill>
                  <a:srgbClr val="3E465C"/>
                </a:solidFill>
                <a:latin typeface="Calibri" pitchFamily="34" charset="0"/>
                <a:ea typeface="Calibri" pitchFamily="34" charset="-122"/>
                <a:cs typeface="Calibri" pitchFamily="34" charset="-120"/>
              </a:rPr>
              <a:t>Digitalize the vendor registration and onboarding process.</a:t>
            </a:r>
            <a:endParaRPr lang="en-US" sz="1400" dirty="0"/>
          </a:p>
        </p:txBody>
      </p:sp>
      <p:sp>
        <p:nvSpPr>
          <p:cNvPr id="6" name="Shape 4"/>
          <p:cNvSpPr/>
          <p:nvPr/>
        </p:nvSpPr>
        <p:spPr>
          <a:xfrm>
            <a:off x="6309360" y="1508760"/>
            <a:ext cx="502920" cy="502920"/>
          </a:xfrm>
          <a:prstGeom prst="ellipse">
            <a:avLst/>
          </a:prstGeom>
          <a:solidFill>
            <a:srgbClr val="1E2761"/>
          </a:solidFill>
          <a:ln/>
        </p:spPr>
      </p:sp>
      <p:sp>
        <p:nvSpPr>
          <p:cNvPr id="7" name="Text 5"/>
          <p:cNvSpPr/>
          <p:nvPr/>
        </p:nvSpPr>
        <p:spPr>
          <a:xfrm>
            <a:off x="6309360" y="1508760"/>
            <a:ext cx="502920" cy="502920"/>
          </a:xfrm>
          <a:prstGeom prst="rect">
            <a:avLst/>
          </a:prstGeom>
          <a:noFill/>
          <a:ln/>
        </p:spPr>
        <p:txBody>
          <a:bodyPr wrap="square" lIns="0" tIns="0" rIns="0" bIns="0" rtlCol="0" anchor="ctr"/>
          <a:lstStyle/>
          <a:p>
            <a:pPr marL="0" indent="0" algn="ctr">
              <a:buNone/>
            </a:pPr>
            <a:r>
              <a:rPr lang="en-US" sz="1300" b="1" dirty="0">
                <a:solidFill>
                  <a:srgbClr val="E8C77A"/>
                </a:solidFill>
                <a:latin typeface="Cambria" pitchFamily="34" charset="0"/>
                <a:ea typeface="Cambria" pitchFamily="34" charset="-122"/>
                <a:cs typeface="Cambria" pitchFamily="34" charset="-120"/>
              </a:rPr>
              <a:t>02</a:t>
            </a:r>
            <a:endParaRPr lang="en-US" sz="1300" dirty="0"/>
          </a:p>
        </p:txBody>
      </p:sp>
      <p:sp>
        <p:nvSpPr>
          <p:cNvPr id="8" name="Text 6"/>
          <p:cNvSpPr/>
          <p:nvPr/>
        </p:nvSpPr>
        <p:spPr>
          <a:xfrm>
            <a:off x="6967728" y="1431036"/>
            <a:ext cx="4599432" cy="868680"/>
          </a:xfrm>
          <a:prstGeom prst="rect">
            <a:avLst/>
          </a:prstGeom>
          <a:noFill/>
          <a:ln/>
        </p:spPr>
        <p:txBody>
          <a:bodyPr wrap="square" lIns="0" tIns="0" rIns="0" bIns="0" rtlCol="0" anchor="ctr"/>
          <a:lstStyle/>
          <a:p>
            <a:pPr marL="0" indent="0" algn="l">
              <a:lnSpc>
                <a:spcPct val="120000"/>
              </a:lnSpc>
              <a:buNone/>
            </a:pPr>
            <a:r>
              <a:rPr lang="en-US" sz="1400" dirty="0">
                <a:solidFill>
                  <a:srgbClr val="3E465C"/>
                </a:solidFill>
                <a:latin typeface="Calibri" pitchFamily="34" charset="0"/>
                <a:ea typeface="Calibri" pitchFamily="34" charset="-122"/>
                <a:cs typeface="Calibri" pitchFamily="34" charset="-120"/>
              </a:rPr>
              <a:t>Generate a unique identification number for every registered vendor.</a:t>
            </a:r>
            <a:endParaRPr lang="en-US" sz="1400" dirty="0"/>
          </a:p>
        </p:txBody>
      </p:sp>
      <p:sp>
        <p:nvSpPr>
          <p:cNvPr id="9" name="Shape 7"/>
          <p:cNvSpPr/>
          <p:nvPr/>
        </p:nvSpPr>
        <p:spPr>
          <a:xfrm>
            <a:off x="548640" y="2679192"/>
            <a:ext cx="502920" cy="502920"/>
          </a:xfrm>
          <a:prstGeom prst="ellipse">
            <a:avLst/>
          </a:prstGeom>
          <a:solidFill>
            <a:srgbClr val="1E2761"/>
          </a:solidFill>
          <a:ln/>
        </p:spPr>
      </p:sp>
      <p:sp>
        <p:nvSpPr>
          <p:cNvPr id="10" name="Text 8"/>
          <p:cNvSpPr/>
          <p:nvPr/>
        </p:nvSpPr>
        <p:spPr>
          <a:xfrm>
            <a:off x="548640" y="2679192"/>
            <a:ext cx="502920" cy="502920"/>
          </a:xfrm>
          <a:prstGeom prst="rect">
            <a:avLst/>
          </a:prstGeom>
          <a:noFill/>
          <a:ln/>
        </p:spPr>
        <p:txBody>
          <a:bodyPr wrap="square" lIns="0" tIns="0" rIns="0" bIns="0" rtlCol="0" anchor="ctr"/>
          <a:lstStyle/>
          <a:p>
            <a:pPr marL="0" indent="0" algn="ctr">
              <a:buNone/>
            </a:pPr>
            <a:r>
              <a:rPr lang="en-US" sz="1300" b="1" dirty="0">
                <a:solidFill>
                  <a:srgbClr val="E8C77A"/>
                </a:solidFill>
                <a:latin typeface="Cambria" pitchFamily="34" charset="0"/>
                <a:ea typeface="Cambria" pitchFamily="34" charset="-122"/>
                <a:cs typeface="Cambria" pitchFamily="34" charset="-120"/>
              </a:rPr>
              <a:t>03</a:t>
            </a:r>
            <a:endParaRPr lang="en-US" sz="1300" dirty="0"/>
          </a:p>
        </p:txBody>
      </p:sp>
      <p:sp>
        <p:nvSpPr>
          <p:cNvPr id="11" name="Text 9"/>
          <p:cNvSpPr/>
          <p:nvPr/>
        </p:nvSpPr>
        <p:spPr>
          <a:xfrm>
            <a:off x="1207008" y="2569464"/>
            <a:ext cx="4599432" cy="868680"/>
          </a:xfrm>
          <a:prstGeom prst="rect">
            <a:avLst/>
          </a:prstGeom>
          <a:noFill/>
          <a:ln/>
        </p:spPr>
        <p:txBody>
          <a:bodyPr wrap="square" lIns="0" tIns="0" rIns="0" bIns="0" rtlCol="0" anchor="ctr"/>
          <a:lstStyle/>
          <a:p>
            <a:pPr marL="0" indent="0" algn="l">
              <a:lnSpc>
                <a:spcPct val="120000"/>
              </a:lnSpc>
              <a:buNone/>
            </a:pPr>
            <a:r>
              <a:rPr lang="en-US" sz="1400" dirty="0">
                <a:solidFill>
                  <a:srgbClr val="3E465C"/>
                </a:solidFill>
                <a:latin typeface="Calibri" pitchFamily="34" charset="0"/>
                <a:ea typeface="Calibri" pitchFamily="34" charset="-122"/>
                <a:cs typeface="Calibri" pitchFamily="34" charset="-120"/>
              </a:rPr>
              <a:t>Provide role-based access for Vendors, Procurement Staff &amp; Admins.</a:t>
            </a:r>
            <a:endParaRPr lang="en-US" sz="1400" dirty="0"/>
          </a:p>
        </p:txBody>
      </p:sp>
      <p:sp>
        <p:nvSpPr>
          <p:cNvPr id="12" name="Shape 10"/>
          <p:cNvSpPr/>
          <p:nvPr/>
        </p:nvSpPr>
        <p:spPr>
          <a:xfrm>
            <a:off x="6309360" y="2679192"/>
            <a:ext cx="502920" cy="502920"/>
          </a:xfrm>
          <a:prstGeom prst="ellipse">
            <a:avLst/>
          </a:prstGeom>
          <a:solidFill>
            <a:srgbClr val="1E2761"/>
          </a:solidFill>
          <a:ln/>
        </p:spPr>
      </p:sp>
      <p:sp>
        <p:nvSpPr>
          <p:cNvPr id="13" name="Text 11"/>
          <p:cNvSpPr/>
          <p:nvPr/>
        </p:nvSpPr>
        <p:spPr>
          <a:xfrm>
            <a:off x="6309360" y="2679192"/>
            <a:ext cx="502920" cy="502920"/>
          </a:xfrm>
          <a:prstGeom prst="rect">
            <a:avLst/>
          </a:prstGeom>
          <a:noFill/>
          <a:ln/>
        </p:spPr>
        <p:txBody>
          <a:bodyPr wrap="square" lIns="0" tIns="0" rIns="0" bIns="0" rtlCol="0" anchor="ctr"/>
          <a:lstStyle/>
          <a:p>
            <a:pPr marL="0" indent="0" algn="ctr">
              <a:buNone/>
            </a:pPr>
            <a:r>
              <a:rPr lang="en-US" sz="1300" b="1" dirty="0">
                <a:solidFill>
                  <a:srgbClr val="E8C77A"/>
                </a:solidFill>
                <a:latin typeface="Cambria" pitchFamily="34" charset="0"/>
                <a:ea typeface="Cambria" pitchFamily="34" charset="-122"/>
                <a:cs typeface="Cambria" pitchFamily="34" charset="-120"/>
              </a:rPr>
              <a:t>04</a:t>
            </a:r>
            <a:endParaRPr lang="en-US" sz="1300" dirty="0"/>
          </a:p>
        </p:txBody>
      </p:sp>
      <p:sp>
        <p:nvSpPr>
          <p:cNvPr id="14" name="Text 12"/>
          <p:cNvSpPr/>
          <p:nvPr/>
        </p:nvSpPr>
        <p:spPr>
          <a:xfrm>
            <a:off x="6967728" y="2450592"/>
            <a:ext cx="4599432" cy="868680"/>
          </a:xfrm>
          <a:prstGeom prst="rect">
            <a:avLst/>
          </a:prstGeom>
          <a:noFill/>
          <a:ln/>
        </p:spPr>
        <p:txBody>
          <a:bodyPr wrap="square" lIns="0" tIns="0" rIns="0" bIns="0" rtlCol="0" anchor="ctr"/>
          <a:lstStyle/>
          <a:p>
            <a:pPr marL="0" indent="0" algn="l">
              <a:lnSpc>
                <a:spcPct val="120000"/>
              </a:lnSpc>
              <a:buNone/>
            </a:pPr>
            <a:r>
              <a:rPr lang="en-US" sz="1400" dirty="0">
                <a:solidFill>
                  <a:srgbClr val="3E465C"/>
                </a:solidFill>
                <a:latin typeface="Calibri" pitchFamily="34" charset="0"/>
                <a:ea typeface="Calibri" pitchFamily="34" charset="-122"/>
                <a:cs typeface="Calibri" pitchFamily="34" charset="-120"/>
              </a:rPr>
              <a:t>Enable digital creation and tracking of purchase orders.</a:t>
            </a:r>
            <a:endParaRPr lang="en-US" sz="1400" dirty="0"/>
          </a:p>
        </p:txBody>
      </p:sp>
      <p:sp>
        <p:nvSpPr>
          <p:cNvPr id="15" name="Shape 13"/>
          <p:cNvSpPr/>
          <p:nvPr/>
        </p:nvSpPr>
        <p:spPr>
          <a:xfrm>
            <a:off x="548640" y="3849624"/>
            <a:ext cx="502920" cy="502920"/>
          </a:xfrm>
          <a:prstGeom prst="ellipse">
            <a:avLst/>
          </a:prstGeom>
          <a:solidFill>
            <a:srgbClr val="1E2761"/>
          </a:solidFill>
          <a:ln/>
        </p:spPr>
      </p:sp>
      <p:sp>
        <p:nvSpPr>
          <p:cNvPr id="16" name="Text 14"/>
          <p:cNvSpPr/>
          <p:nvPr/>
        </p:nvSpPr>
        <p:spPr>
          <a:xfrm>
            <a:off x="548640" y="3849624"/>
            <a:ext cx="502920" cy="502920"/>
          </a:xfrm>
          <a:prstGeom prst="rect">
            <a:avLst/>
          </a:prstGeom>
          <a:noFill/>
          <a:ln/>
        </p:spPr>
        <p:txBody>
          <a:bodyPr wrap="square" lIns="0" tIns="0" rIns="0" bIns="0" rtlCol="0" anchor="ctr"/>
          <a:lstStyle/>
          <a:p>
            <a:pPr marL="0" indent="0" algn="ctr">
              <a:buNone/>
            </a:pPr>
            <a:r>
              <a:rPr lang="en-US" sz="1300" b="1" dirty="0">
                <a:solidFill>
                  <a:srgbClr val="E8C77A"/>
                </a:solidFill>
                <a:latin typeface="Cambria" pitchFamily="34" charset="0"/>
                <a:ea typeface="Cambria" pitchFamily="34" charset="-122"/>
                <a:cs typeface="Cambria" pitchFamily="34" charset="-120"/>
              </a:rPr>
              <a:t>05</a:t>
            </a:r>
            <a:endParaRPr lang="en-US" sz="1300" dirty="0"/>
          </a:p>
        </p:txBody>
      </p:sp>
      <p:sp>
        <p:nvSpPr>
          <p:cNvPr id="17" name="Text 15"/>
          <p:cNvSpPr/>
          <p:nvPr/>
        </p:nvSpPr>
        <p:spPr>
          <a:xfrm>
            <a:off x="1207008" y="3666744"/>
            <a:ext cx="4599432" cy="868680"/>
          </a:xfrm>
          <a:prstGeom prst="rect">
            <a:avLst/>
          </a:prstGeom>
          <a:noFill/>
          <a:ln/>
        </p:spPr>
        <p:txBody>
          <a:bodyPr wrap="square" lIns="0" tIns="0" rIns="0" bIns="0" rtlCol="0" anchor="ctr"/>
          <a:lstStyle/>
          <a:p>
            <a:pPr marL="0" indent="0" algn="l">
              <a:lnSpc>
                <a:spcPct val="120000"/>
              </a:lnSpc>
              <a:buNone/>
            </a:pPr>
            <a:r>
              <a:rPr lang="en-US" sz="1400" dirty="0">
                <a:solidFill>
                  <a:srgbClr val="3E465C"/>
                </a:solidFill>
                <a:latin typeface="Calibri" pitchFamily="34" charset="0"/>
                <a:ea typeface="Calibri" pitchFamily="34" charset="-122"/>
                <a:cs typeface="Calibri" pitchFamily="34" charset="-120"/>
              </a:rPr>
              <a:t>Evaluate vendor performance using defined scoring criteria.</a:t>
            </a:r>
            <a:endParaRPr lang="en-US" sz="1400" dirty="0"/>
          </a:p>
        </p:txBody>
      </p:sp>
      <p:sp>
        <p:nvSpPr>
          <p:cNvPr id="18" name="Shape 16"/>
          <p:cNvSpPr/>
          <p:nvPr/>
        </p:nvSpPr>
        <p:spPr>
          <a:xfrm>
            <a:off x="6309360" y="3849624"/>
            <a:ext cx="502920" cy="502920"/>
          </a:xfrm>
          <a:prstGeom prst="ellipse">
            <a:avLst/>
          </a:prstGeom>
          <a:solidFill>
            <a:srgbClr val="1E2761"/>
          </a:solidFill>
          <a:ln/>
        </p:spPr>
      </p:sp>
      <p:sp>
        <p:nvSpPr>
          <p:cNvPr id="19" name="Text 17"/>
          <p:cNvSpPr/>
          <p:nvPr/>
        </p:nvSpPr>
        <p:spPr>
          <a:xfrm>
            <a:off x="6309360" y="3849624"/>
            <a:ext cx="502920" cy="502920"/>
          </a:xfrm>
          <a:prstGeom prst="rect">
            <a:avLst/>
          </a:prstGeom>
          <a:noFill/>
          <a:ln/>
        </p:spPr>
        <p:txBody>
          <a:bodyPr wrap="square" lIns="0" tIns="0" rIns="0" bIns="0" rtlCol="0" anchor="ctr"/>
          <a:lstStyle/>
          <a:p>
            <a:pPr marL="0" indent="0" algn="ctr">
              <a:buNone/>
            </a:pPr>
            <a:r>
              <a:rPr lang="en-US" sz="1300" b="1" dirty="0">
                <a:solidFill>
                  <a:srgbClr val="E8C77A"/>
                </a:solidFill>
                <a:latin typeface="Cambria" pitchFamily="34" charset="0"/>
                <a:ea typeface="Cambria" pitchFamily="34" charset="-122"/>
                <a:cs typeface="Cambria" pitchFamily="34" charset="-120"/>
              </a:rPr>
              <a:t>06</a:t>
            </a:r>
            <a:endParaRPr lang="en-US" sz="1300" dirty="0"/>
          </a:p>
        </p:txBody>
      </p:sp>
      <p:sp>
        <p:nvSpPr>
          <p:cNvPr id="20" name="Text 18"/>
          <p:cNvSpPr/>
          <p:nvPr/>
        </p:nvSpPr>
        <p:spPr>
          <a:xfrm>
            <a:off x="6967728" y="3666744"/>
            <a:ext cx="4599432" cy="868680"/>
          </a:xfrm>
          <a:prstGeom prst="rect">
            <a:avLst/>
          </a:prstGeom>
          <a:noFill/>
          <a:ln/>
        </p:spPr>
        <p:txBody>
          <a:bodyPr wrap="square" lIns="0" tIns="0" rIns="0" bIns="0" rtlCol="0" anchor="ctr"/>
          <a:lstStyle/>
          <a:p>
            <a:pPr marL="0" indent="0" algn="l">
              <a:lnSpc>
                <a:spcPct val="120000"/>
              </a:lnSpc>
              <a:buNone/>
            </a:pPr>
            <a:r>
              <a:rPr lang="en-US" sz="1400" dirty="0">
                <a:solidFill>
                  <a:srgbClr val="3E465C"/>
                </a:solidFill>
                <a:latin typeface="Calibri" pitchFamily="34" charset="0"/>
                <a:ea typeface="Calibri" pitchFamily="34" charset="-122"/>
                <a:cs typeface="Calibri" pitchFamily="34" charset="-120"/>
              </a:rPr>
              <a:t>Improve transparency in vendor selection and procurement.</a:t>
            </a:r>
            <a:endParaRPr lang="en-US" sz="1400" dirty="0"/>
          </a:p>
        </p:txBody>
      </p:sp>
      <p:sp>
        <p:nvSpPr>
          <p:cNvPr id="21" name="Shape 19"/>
          <p:cNvSpPr/>
          <p:nvPr/>
        </p:nvSpPr>
        <p:spPr>
          <a:xfrm>
            <a:off x="548640" y="5020056"/>
            <a:ext cx="502920" cy="502920"/>
          </a:xfrm>
          <a:prstGeom prst="ellipse">
            <a:avLst/>
          </a:prstGeom>
          <a:solidFill>
            <a:srgbClr val="1E2761"/>
          </a:solidFill>
          <a:ln/>
        </p:spPr>
      </p:sp>
      <p:sp>
        <p:nvSpPr>
          <p:cNvPr id="22" name="Text 20"/>
          <p:cNvSpPr/>
          <p:nvPr/>
        </p:nvSpPr>
        <p:spPr>
          <a:xfrm>
            <a:off x="548640" y="5020056"/>
            <a:ext cx="502920" cy="502920"/>
          </a:xfrm>
          <a:prstGeom prst="rect">
            <a:avLst/>
          </a:prstGeom>
          <a:noFill/>
          <a:ln/>
        </p:spPr>
        <p:txBody>
          <a:bodyPr wrap="square" lIns="0" tIns="0" rIns="0" bIns="0" rtlCol="0" anchor="ctr"/>
          <a:lstStyle/>
          <a:p>
            <a:pPr marL="0" indent="0" algn="ctr">
              <a:buNone/>
            </a:pPr>
            <a:r>
              <a:rPr lang="en-US" sz="1300" b="1" dirty="0">
                <a:solidFill>
                  <a:srgbClr val="E8C77A"/>
                </a:solidFill>
                <a:latin typeface="Cambria" pitchFamily="34" charset="0"/>
                <a:ea typeface="Cambria" pitchFamily="34" charset="-122"/>
                <a:cs typeface="Cambria" pitchFamily="34" charset="-120"/>
              </a:rPr>
              <a:t>07</a:t>
            </a:r>
            <a:endParaRPr lang="en-US" sz="1300" dirty="0"/>
          </a:p>
        </p:txBody>
      </p:sp>
      <p:sp>
        <p:nvSpPr>
          <p:cNvPr id="23" name="Text 21"/>
          <p:cNvSpPr/>
          <p:nvPr/>
        </p:nvSpPr>
        <p:spPr>
          <a:xfrm>
            <a:off x="1207008" y="4764024"/>
            <a:ext cx="4599432" cy="868680"/>
          </a:xfrm>
          <a:prstGeom prst="rect">
            <a:avLst/>
          </a:prstGeom>
          <a:noFill/>
          <a:ln/>
        </p:spPr>
        <p:txBody>
          <a:bodyPr wrap="square" lIns="0" tIns="0" rIns="0" bIns="0" rtlCol="0" anchor="ctr"/>
          <a:lstStyle/>
          <a:p>
            <a:pPr marL="0" indent="0" algn="l">
              <a:lnSpc>
                <a:spcPct val="120000"/>
              </a:lnSpc>
              <a:buNone/>
            </a:pPr>
            <a:r>
              <a:rPr lang="en-US" sz="1400" dirty="0">
                <a:solidFill>
                  <a:srgbClr val="3E465C"/>
                </a:solidFill>
                <a:latin typeface="Calibri" pitchFamily="34" charset="0"/>
                <a:ea typeface="Calibri" pitchFamily="34" charset="-122"/>
                <a:cs typeface="Calibri" pitchFamily="34" charset="-120"/>
              </a:rPr>
              <a:t>Reduce manual paperwork and minimize procurement delays.</a:t>
            </a:r>
            <a:endParaRPr lang="en-US" sz="1400" dirty="0"/>
          </a:p>
        </p:txBody>
      </p:sp>
      <p:sp>
        <p:nvSpPr>
          <p:cNvPr id="24" name="Text 22"/>
          <p:cNvSpPr/>
          <p:nvPr/>
        </p:nvSpPr>
        <p:spPr>
          <a:xfrm>
            <a:off x="457200" y="6547104"/>
            <a:ext cx="3657600" cy="274320"/>
          </a:xfrm>
          <a:prstGeom prst="rect">
            <a:avLst/>
          </a:prstGeom>
          <a:noFill/>
          <a:ln/>
        </p:spPr>
        <p:txBody>
          <a:bodyPr wrap="square" lIns="0" tIns="0" rIns="0" bIns="0" rtlCol="0" anchor="ctr"/>
          <a:lstStyle/>
          <a:p>
            <a:pPr marL="0" indent="0" algn="l">
              <a:buNone/>
            </a:pPr>
            <a:r>
              <a:rPr lang="en-US" sz="900" dirty="0">
                <a:solidFill>
                  <a:srgbClr val="6B7488"/>
                </a:solidFill>
                <a:latin typeface="Calibri" pitchFamily="34" charset="0"/>
                <a:ea typeface="Calibri" pitchFamily="34" charset="-122"/>
                <a:cs typeface="Calibri" pitchFamily="34" charset="-120"/>
              </a:rPr>
              <a:t>VENDORFLOW</a:t>
            </a:r>
            <a:endParaRPr lang="en-US" sz="900" dirty="0"/>
          </a:p>
        </p:txBody>
      </p:sp>
      <p:sp>
        <p:nvSpPr>
          <p:cNvPr id="25" name="Text 23"/>
          <p:cNvSpPr/>
          <p:nvPr/>
        </p:nvSpPr>
        <p:spPr>
          <a:xfrm>
            <a:off x="11274552" y="6547104"/>
            <a:ext cx="457200" cy="274320"/>
          </a:xfrm>
          <a:prstGeom prst="rect">
            <a:avLst/>
          </a:prstGeom>
          <a:noFill/>
          <a:ln/>
        </p:spPr>
        <p:txBody>
          <a:bodyPr wrap="square" lIns="0" tIns="0" rIns="0" bIns="0" rtlCol="0" anchor="ctr"/>
          <a:lstStyle/>
          <a:p>
            <a:pPr marL="0" indent="0" algn="r">
              <a:buNone/>
            </a:pPr>
            <a:r>
              <a:rPr lang="en-US" sz="900" dirty="0">
                <a:solidFill>
                  <a:srgbClr val="6B748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3FC"/>
        </a:solidFill>
        <a:effectLst/>
      </p:bgPr>
    </p:bg>
    <p:spTree>
      <p:nvGrpSpPr>
        <p:cNvPr id="1" name=""/>
        <p:cNvGrpSpPr/>
        <p:nvPr/>
      </p:nvGrpSpPr>
      <p:grpSpPr>
        <a:xfrm>
          <a:off x="0" y="0"/>
          <a:ext cx="0" cy="0"/>
          <a:chOff x="0" y="0"/>
          <a:chExt cx="0" cy="0"/>
        </a:xfrm>
      </p:grpSpPr>
      <p:sp>
        <p:nvSpPr>
          <p:cNvPr id="2" name="Text 0"/>
          <p:cNvSpPr/>
          <p:nvPr/>
        </p:nvSpPr>
        <p:spPr>
          <a:xfrm>
            <a:off x="548640" y="411480"/>
            <a:ext cx="10515600" cy="640080"/>
          </a:xfrm>
          <a:prstGeom prst="rect">
            <a:avLst/>
          </a:prstGeom>
          <a:noFill/>
          <a:ln/>
        </p:spPr>
        <p:txBody>
          <a:bodyPr wrap="square" lIns="0" tIns="0" rIns="0" bIns="0" rtlCol="0" anchor="ctr"/>
          <a:lstStyle/>
          <a:p>
            <a:pPr marL="0" indent="0" algn="l">
              <a:buNone/>
            </a:pPr>
            <a:r>
              <a:rPr lang="en-US" sz="3400" b="1" dirty="0">
                <a:solidFill>
                  <a:srgbClr val="1E2761"/>
                </a:solidFill>
                <a:latin typeface="Cambria" pitchFamily="34" charset="0"/>
                <a:ea typeface="Cambria" pitchFamily="34" charset="-122"/>
                <a:cs typeface="Cambria" pitchFamily="34" charset="-120"/>
              </a:rPr>
              <a:t>Main System Modules</a:t>
            </a:r>
            <a:endParaRPr lang="en-US" sz="3400" dirty="0"/>
          </a:p>
        </p:txBody>
      </p:sp>
      <p:sp>
        <p:nvSpPr>
          <p:cNvPr id="3" name="Shape 1"/>
          <p:cNvSpPr/>
          <p:nvPr/>
        </p:nvSpPr>
        <p:spPr>
          <a:xfrm>
            <a:off x="548640" y="1508760"/>
            <a:ext cx="5257800" cy="2057400"/>
          </a:xfrm>
          <a:prstGeom prst="rect">
            <a:avLst/>
          </a:prstGeom>
          <a:solidFill>
            <a:srgbClr val="FFFFFF"/>
          </a:solidFill>
          <a:ln/>
          <a:effectLst>
            <a:outerShdw blurRad="76200" dist="25400" dir="5400000" algn="bl" rotWithShape="0">
              <a:srgbClr val="1E2761">
                <a:alpha val="12000"/>
              </a:srgbClr>
            </a:outerShdw>
          </a:effectLst>
        </p:spPr>
      </p:sp>
      <p:sp>
        <p:nvSpPr>
          <p:cNvPr id="4" name="Shape 2"/>
          <p:cNvSpPr/>
          <p:nvPr/>
        </p:nvSpPr>
        <p:spPr>
          <a:xfrm>
            <a:off x="822960" y="1783080"/>
            <a:ext cx="640080" cy="640080"/>
          </a:xfrm>
          <a:prstGeom prst="ellipse">
            <a:avLst/>
          </a:prstGeom>
          <a:solidFill>
            <a:srgbClr val="1E2761"/>
          </a:solidFill>
          <a:ln/>
        </p:spPr>
      </p:sp>
      <p:pic>
        <p:nvPicPr>
          <p:cNvPr id="5" name="Image 0" descr="icons/store.png"/>
          <p:cNvPicPr>
            <a:picLocks noChangeAspect="1"/>
          </p:cNvPicPr>
          <p:nvPr/>
        </p:nvPicPr>
        <p:blipFill>
          <a:blip r:embed="rId3"/>
          <a:stretch>
            <a:fillRect/>
          </a:stretch>
        </p:blipFill>
        <p:spPr>
          <a:xfrm>
            <a:off x="906170" y="1866290"/>
            <a:ext cx="473659" cy="473659"/>
          </a:xfrm>
          <a:prstGeom prst="rect">
            <a:avLst/>
          </a:prstGeom>
        </p:spPr>
      </p:pic>
      <p:sp>
        <p:nvSpPr>
          <p:cNvPr id="6" name="Text 3"/>
          <p:cNvSpPr/>
          <p:nvPr/>
        </p:nvSpPr>
        <p:spPr>
          <a:xfrm>
            <a:off x="1691640" y="1764792"/>
            <a:ext cx="3886200" cy="45720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Vendor Module</a:t>
            </a:r>
            <a:endParaRPr lang="en-US" sz="1600" dirty="0"/>
          </a:p>
        </p:txBody>
      </p:sp>
      <p:sp>
        <p:nvSpPr>
          <p:cNvPr id="7" name="Text 4"/>
          <p:cNvSpPr/>
          <p:nvPr/>
        </p:nvSpPr>
        <p:spPr>
          <a:xfrm>
            <a:off x="868680" y="2468880"/>
            <a:ext cx="4617720" cy="960120"/>
          </a:xfrm>
          <a:prstGeom prst="rect">
            <a:avLst/>
          </a:prstGeom>
          <a:noFill/>
          <a:ln/>
        </p:spPr>
        <p:txBody>
          <a:bodyPr wrap="square" lIns="0" tIns="0" rIns="0" bIns="0" rtlCol="0" anchor="t"/>
          <a:lstStyle/>
          <a:p>
            <a:pPr marL="0" indent="0" algn="l">
              <a:lnSpc>
                <a:spcPct val="125000"/>
              </a:lnSpc>
              <a:buNone/>
            </a:pPr>
            <a:r>
              <a:rPr lang="en-US" sz="1250" dirty="0">
                <a:solidFill>
                  <a:srgbClr val="3E465C"/>
                </a:solidFill>
                <a:latin typeface="Calibri" pitchFamily="34" charset="0"/>
                <a:ea typeface="Calibri" pitchFamily="34" charset="-122"/>
                <a:cs typeface="Calibri" pitchFamily="34" charset="-120"/>
              </a:rPr>
              <a:t>Register, submit onboarding details, view purchase orders and performance ratings.</a:t>
            </a:r>
            <a:endParaRPr lang="en-US" sz="1250" dirty="0"/>
          </a:p>
        </p:txBody>
      </p:sp>
      <p:sp>
        <p:nvSpPr>
          <p:cNvPr id="8" name="Shape 5"/>
          <p:cNvSpPr/>
          <p:nvPr/>
        </p:nvSpPr>
        <p:spPr>
          <a:xfrm>
            <a:off x="6309360" y="1508760"/>
            <a:ext cx="5257800" cy="2057400"/>
          </a:xfrm>
          <a:prstGeom prst="rect">
            <a:avLst/>
          </a:prstGeom>
          <a:solidFill>
            <a:srgbClr val="FFFFFF"/>
          </a:solidFill>
          <a:ln/>
          <a:effectLst>
            <a:outerShdw blurRad="76200" dist="25400" dir="5400000" algn="bl" rotWithShape="0">
              <a:srgbClr val="1E2761">
                <a:alpha val="12000"/>
              </a:srgbClr>
            </a:outerShdw>
          </a:effectLst>
        </p:spPr>
      </p:sp>
      <p:sp>
        <p:nvSpPr>
          <p:cNvPr id="9" name="Shape 6"/>
          <p:cNvSpPr/>
          <p:nvPr/>
        </p:nvSpPr>
        <p:spPr>
          <a:xfrm>
            <a:off x="6583680" y="1783080"/>
            <a:ext cx="640080" cy="640080"/>
          </a:xfrm>
          <a:prstGeom prst="ellipse">
            <a:avLst/>
          </a:prstGeom>
          <a:solidFill>
            <a:srgbClr val="1E2761"/>
          </a:solidFill>
          <a:ln/>
        </p:spPr>
      </p:sp>
      <p:pic>
        <p:nvPicPr>
          <p:cNvPr id="10" name="Image 1" descr="icons/cart.png"/>
          <p:cNvPicPr>
            <a:picLocks noChangeAspect="1"/>
          </p:cNvPicPr>
          <p:nvPr/>
        </p:nvPicPr>
        <p:blipFill>
          <a:blip r:embed="rId4"/>
          <a:stretch>
            <a:fillRect/>
          </a:stretch>
        </p:blipFill>
        <p:spPr>
          <a:xfrm>
            <a:off x="6666890" y="1866290"/>
            <a:ext cx="473659" cy="473659"/>
          </a:xfrm>
          <a:prstGeom prst="rect">
            <a:avLst/>
          </a:prstGeom>
        </p:spPr>
      </p:pic>
      <p:sp>
        <p:nvSpPr>
          <p:cNvPr id="11" name="Text 7"/>
          <p:cNvSpPr/>
          <p:nvPr/>
        </p:nvSpPr>
        <p:spPr>
          <a:xfrm>
            <a:off x="7452360" y="1764792"/>
            <a:ext cx="3886200" cy="45720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Procurement Module</a:t>
            </a:r>
            <a:endParaRPr lang="en-US" sz="1600" dirty="0"/>
          </a:p>
        </p:txBody>
      </p:sp>
      <p:sp>
        <p:nvSpPr>
          <p:cNvPr id="12" name="Text 8"/>
          <p:cNvSpPr/>
          <p:nvPr/>
        </p:nvSpPr>
        <p:spPr>
          <a:xfrm>
            <a:off x="6629400" y="2468880"/>
            <a:ext cx="4617720" cy="960120"/>
          </a:xfrm>
          <a:prstGeom prst="rect">
            <a:avLst/>
          </a:prstGeom>
          <a:noFill/>
          <a:ln/>
        </p:spPr>
        <p:txBody>
          <a:bodyPr wrap="square" lIns="0" tIns="0" rIns="0" bIns="0" rtlCol="0" anchor="t"/>
          <a:lstStyle/>
          <a:p>
            <a:pPr marL="0" indent="0" algn="l">
              <a:lnSpc>
                <a:spcPct val="125000"/>
              </a:lnSpc>
              <a:buNone/>
            </a:pPr>
            <a:r>
              <a:rPr lang="en-US" sz="1250" dirty="0">
                <a:solidFill>
                  <a:srgbClr val="3E465C"/>
                </a:solidFill>
                <a:latin typeface="Calibri" pitchFamily="34" charset="0"/>
                <a:ea typeface="Calibri" pitchFamily="34" charset="-122"/>
                <a:cs typeface="Calibri" pitchFamily="34" charset="-120"/>
              </a:rPr>
              <a:t>Create purchase orders, assign vendors, and track order status through fulfillment.</a:t>
            </a:r>
            <a:endParaRPr lang="en-US" sz="1250" dirty="0"/>
          </a:p>
        </p:txBody>
      </p:sp>
      <p:sp>
        <p:nvSpPr>
          <p:cNvPr id="13" name="Shape 9"/>
          <p:cNvSpPr/>
          <p:nvPr/>
        </p:nvSpPr>
        <p:spPr>
          <a:xfrm>
            <a:off x="548640" y="3886200"/>
            <a:ext cx="5257800" cy="2057400"/>
          </a:xfrm>
          <a:prstGeom prst="rect">
            <a:avLst/>
          </a:prstGeom>
          <a:solidFill>
            <a:srgbClr val="FFFFFF"/>
          </a:solidFill>
          <a:ln/>
          <a:effectLst>
            <a:outerShdw blurRad="76200" dist="25400" dir="5400000" algn="bl" rotWithShape="0">
              <a:srgbClr val="1E2761">
                <a:alpha val="12000"/>
              </a:srgbClr>
            </a:outerShdw>
          </a:effectLst>
        </p:spPr>
      </p:sp>
      <p:sp>
        <p:nvSpPr>
          <p:cNvPr id="14" name="Shape 10"/>
          <p:cNvSpPr/>
          <p:nvPr/>
        </p:nvSpPr>
        <p:spPr>
          <a:xfrm>
            <a:off x="822960" y="4160520"/>
            <a:ext cx="640080" cy="640080"/>
          </a:xfrm>
          <a:prstGeom prst="ellipse">
            <a:avLst/>
          </a:prstGeom>
          <a:solidFill>
            <a:srgbClr val="C9932B"/>
          </a:solidFill>
          <a:ln/>
        </p:spPr>
      </p:sp>
      <p:pic>
        <p:nvPicPr>
          <p:cNvPr id="15" name="Image 2" descr="icons/usertie.png"/>
          <p:cNvPicPr>
            <a:picLocks noChangeAspect="1"/>
          </p:cNvPicPr>
          <p:nvPr/>
        </p:nvPicPr>
        <p:blipFill>
          <a:blip r:embed="rId5"/>
          <a:stretch>
            <a:fillRect/>
          </a:stretch>
        </p:blipFill>
        <p:spPr>
          <a:xfrm>
            <a:off x="906170" y="4243730"/>
            <a:ext cx="473659" cy="473659"/>
          </a:xfrm>
          <a:prstGeom prst="rect">
            <a:avLst/>
          </a:prstGeom>
        </p:spPr>
      </p:pic>
      <p:sp>
        <p:nvSpPr>
          <p:cNvPr id="16" name="Text 11"/>
          <p:cNvSpPr/>
          <p:nvPr/>
        </p:nvSpPr>
        <p:spPr>
          <a:xfrm>
            <a:off x="1691640" y="4142232"/>
            <a:ext cx="3886200" cy="45720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Admin Module</a:t>
            </a:r>
            <a:endParaRPr lang="en-US" sz="1600" dirty="0"/>
          </a:p>
        </p:txBody>
      </p:sp>
      <p:sp>
        <p:nvSpPr>
          <p:cNvPr id="17" name="Text 12"/>
          <p:cNvSpPr/>
          <p:nvPr/>
        </p:nvSpPr>
        <p:spPr>
          <a:xfrm>
            <a:off x="868680" y="4846320"/>
            <a:ext cx="4617720" cy="960120"/>
          </a:xfrm>
          <a:prstGeom prst="rect">
            <a:avLst/>
          </a:prstGeom>
          <a:noFill/>
          <a:ln/>
        </p:spPr>
        <p:txBody>
          <a:bodyPr wrap="square" lIns="0" tIns="0" rIns="0" bIns="0" rtlCol="0" anchor="t"/>
          <a:lstStyle/>
          <a:p>
            <a:pPr marL="0" indent="0" algn="l">
              <a:lnSpc>
                <a:spcPct val="125000"/>
              </a:lnSpc>
              <a:buNone/>
            </a:pPr>
            <a:r>
              <a:rPr lang="en-US" sz="1250" dirty="0">
                <a:solidFill>
                  <a:srgbClr val="3E465C"/>
                </a:solidFill>
                <a:latin typeface="Calibri" pitchFamily="34" charset="0"/>
                <a:ea typeface="Calibri" pitchFamily="34" charset="-122"/>
                <a:cs typeface="Calibri" pitchFamily="34" charset="-120"/>
              </a:rPr>
              <a:t>Verify vendor registrations, approve purchase orders, and manage platform users.</a:t>
            </a:r>
            <a:endParaRPr lang="en-US" sz="1250" dirty="0"/>
          </a:p>
        </p:txBody>
      </p:sp>
      <p:sp>
        <p:nvSpPr>
          <p:cNvPr id="18" name="Shape 13"/>
          <p:cNvSpPr/>
          <p:nvPr/>
        </p:nvSpPr>
        <p:spPr>
          <a:xfrm>
            <a:off x="6309360" y="3886200"/>
            <a:ext cx="5257800" cy="2057400"/>
          </a:xfrm>
          <a:prstGeom prst="rect">
            <a:avLst/>
          </a:prstGeom>
          <a:solidFill>
            <a:srgbClr val="FFFFFF"/>
          </a:solidFill>
          <a:ln/>
          <a:effectLst>
            <a:outerShdw blurRad="76200" dist="25400" dir="5400000" algn="bl" rotWithShape="0">
              <a:srgbClr val="1E2761">
                <a:alpha val="12000"/>
              </a:srgbClr>
            </a:outerShdw>
          </a:effectLst>
        </p:spPr>
      </p:sp>
      <p:sp>
        <p:nvSpPr>
          <p:cNvPr id="19" name="Shape 14"/>
          <p:cNvSpPr/>
          <p:nvPr/>
        </p:nvSpPr>
        <p:spPr>
          <a:xfrm>
            <a:off x="6583680" y="4160520"/>
            <a:ext cx="640080" cy="640080"/>
          </a:xfrm>
          <a:prstGeom prst="ellipse">
            <a:avLst/>
          </a:prstGeom>
          <a:solidFill>
            <a:srgbClr val="C9932B"/>
          </a:solidFill>
          <a:ln/>
        </p:spPr>
      </p:sp>
      <p:pic>
        <p:nvPicPr>
          <p:cNvPr id="20" name="Image 3" descr="icons/scale.png"/>
          <p:cNvPicPr>
            <a:picLocks noChangeAspect="1"/>
          </p:cNvPicPr>
          <p:nvPr/>
        </p:nvPicPr>
        <p:blipFill>
          <a:blip r:embed="rId6"/>
          <a:stretch>
            <a:fillRect/>
          </a:stretch>
        </p:blipFill>
        <p:spPr>
          <a:xfrm>
            <a:off x="6666890" y="4243730"/>
            <a:ext cx="473659" cy="473659"/>
          </a:xfrm>
          <a:prstGeom prst="rect">
            <a:avLst/>
          </a:prstGeom>
        </p:spPr>
      </p:pic>
      <p:sp>
        <p:nvSpPr>
          <p:cNvPr id="21" name="Text 15"/>
          <p:cNvSpPr/>
          <p:nvPr/>
        </p:nvSpPr>
        <p:spPr>
          <a:xfrm>
            <a:off x="7452360" y="4142232"/>
            <a:ext cx="3886200" cy="45720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Performance Evaluation Module</a:t>
            </a:r>
            <a:endParaRPr lang="en-US" sz="1600" dirty="0"/>
          </a:p>
        </p:txBody>
      </p:sp>
      <p:sp>
        <p:nvSpPr>
          <p:cNvPr id="22" name="Text 16"/>
          <p:cNvSpPr/>
          <p:nvPr/>
        </p:nvSpPr>
        <p:spPr>
          <a:xfrm>
            <a:off x="6629400" y="4846320"/>
            <a:ext cx="4617720" cy="960120"/>
          </a:xfrm>
          <a:prstGeom prst="rect">
            <a:avLst/>
          </a:prstGeom>
          <a:noFill/>
          <a:ln/>
        </p:spPr>
        <p:txBody>
          <a:bodyPr wrap="square" lIns="0" tIns="0" rIns="0" bIns="0" rtlCol="0" anchor="t"/>
          <a:lstStyle/>
          <a:p>
            <a:pPr marL="0" indent="0" algn="l">
              <a:lnSpc>
                <a:spcPct val="125000"/>
              </a:lnSpc>
              <a:buNone/>
            </a:pPr>
            <a:r>
              <a:rPr lang="en-US" sz="1250" dirty="0">
                <a:solidFill>
                  <a:srgbClr val="3E465C"/>
                </a:solidFill>
                <a:latin typeface="Calibri" pitchFamily="34" charset="0"/>
                <a:ea typeface="Calibri" pitchFamily="34" charset="-122"/>
                <a:cs typeface="Calibri" pitchFamily="34" charset="-120"/>
              </a:rPr>
              <a:t>Score vendors on delivery timeliness, quality, and reliability after order completion.</a:t>
            </a:r>
            <a:endParaRPr lang="en-US" sz="1250" dirty="0"/>
          </a:p>
        </p:txBody>
      </p:sp>
      <p:sp>
        <p:nvSpPr>
          <p:cNvPr id="23" name="Text 17"/>
          <p:cNvSpPr/>
          <p:nvPr/>
        </p:nvSpPr>
        <p:spPr>
          <a:xfrm>
            <a:off x="457200" y="6547104"/>
            <a:ext cx="3657600" cy="274320"/>
          </a:xfrm>
          <a:prstGeom prst="rect">
            <a:avLst/>
          </a:prstGeom>
          <a:noFill/>
          <a:ln/>
        </p:spPr>
        <p:txBody>
          <a:bodyPr wrap="square" lIns="0" tIns="0" rIns="0" bIns="0" rtlCol="0" anchor="ctr"/>
          <a:lstStyle/>
          <a:p>
            <a:pPr marL="0" indent="0" algn="l">
              <a:buNone/>
            </a:pPr>
            <a:r>
              <a:rPr lang="en-US" sz="900" dirty="0">
                <a:solidFill>
                  <a:srgbClr val="6B7488"/>
                </a:solidFill>
                <a:latin typeface="Calibri" pitchFamily="34" charset="0"/>
                <a:ea typeface="Calibri" pitchFamily="34" charset="-122"/>
                <a:cs typeface="Calibri" pitchFamily="34" charset="-120"/>
              </a:rPr>
              <a:t>VENDORFLOW</a:t>
            </a:r>
            <a:endParaRPr lang="en-US" sz="900" dirty="0"/>
          </a:p>
        </p:txBody>
      </p:sp>
      <p:sp>
        <p:nvSpPr>
          <p:cNvPr id="24" name="Text 18"/>
          <p:cNvSpPr/>
          <p:nvPr/>
        </p:nvSpPr>
        <p:spPr>
          <a:xfrm>
            <a:off x="11274552" y="6547104"/>
            <a:ext cx="457200" cy="274320"/>
          </a:xfrm>
          <a:prstGeom prst="rect">
            <a:avLst/>
          </a:prstGeom>
          <a:noFill/>
          <a:ln/>
        </p:spPr>
        <p:txBody>
          <a:bodyPr wrap="square" lIns="0" tIns="0" rIns="0" bIns="0" rtlCol="0" anchor="ctr"/>
          <a:lstStyle/>
          <a:p>
            <a:pPr marL="0" indent="0" algn="r">
              <a:buNone/>
            </a:pPr>
            <a:r>
              <a:rPr lang="en-US" sz="900" dirty="0">
                <a:solidFill>
                  <a:srgbClr val="6B748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515600" cy="640080"/>
          </a:xfrm>
          <a:prstGeom prst="rect">
            <a:avLst/>
          </a:prstGeom>
          <a:noFill/>
          <a:ln/>
        </p:spPr>
        <p:txBody>
          <a:bodyPr wrap="square" lIns="0" tIns="0" rIns="0" bIns="0" rtlCol="0" anchor="ctr"/>
          <a:lstStyle/>
          <a:p>
            <a:pPr marL="0" indent="0" algn="l">
              <a:buNone/>
            </a:pPr>
            <a:r>
              <a:rPr lang="en-US" sz="3400" b="1" dirty="0">
                <a:solidFill>
                  <a:srgbClr val="1E2761"/>
                </a:solidFill>
                <a:latin typeface="Cambria" pitchFamily="34" charset="0"/>
                <a:ea typeface="Cambria" pitchFamily="34" charset="-122"/>
                <a:cs typeface="Cambria" pitchFamily="34" charset="-120"/>
              </a:rPr>
              <a:t>System Workflow</a:t>
            </a:r>
            <a:endParaRPr lang="en-US" sz="3400" dirty="0"/>
          </a:p>
        </p:txBody>
      </p:sp>
      <p:sp>
        <p:nvSpPr>
          <p:cNvPr id="3" name="Text 1"/>
          <p:cNvSpPr/>
          <p:nvPr/>
        </p:nvSpPr>
        <p:spPr>
          <a:xfrm>
            <a:off x="548640" y="1024128"/>
            <a:ext cx="10881360" cy="457200"/>
          </a:xfrm>
          <a:prstGeom prst="rect">
            <a:avLst/>
          </a:prstGeom>
          <a:noFill/>
          <a:ln/>
        </p:spPr>
        <p:txBody>
          <a:bodyPr wrap="square" lIns="0" tIns="0" rIns="0" bIns="0" rtlCol="0" anchor="ctr"/>
          <a:lstStyle/>
          <a:p>
            <a:pPr marL="0" indent="0">
              <a:lnSpc>
                <a:spcPct val="120000"/>
              </a:lnSpc>
              <a:buNone/>
            </a:pPr>
            <a:r>
              <a:rPr lang="en-US" sz="1300" dirty="0">
                <a:solidFill>
                  <a:srgbClr val="6B7488"/>
                </a:solidFill>
                <a:latin typeface="Calibri" pitchFamily="34" charset="0"/>
                <a:ea typeface="Calibri" pitchFamily="34" charset="-122"/>
                <a:cs typeface="Calibri" pitchFamily="34" charset="-120"/>
              </a:rPr>
              <a:t>Every vendor engagement moves through a fixed sequence of stages, giving administrators full visibility from initial registration through to final performance evaluation.</a:t>
            </a:r>
            <a:endParaRPr lang="en-US" sz="1300" dirty="0"/>
          </a:p>
        </p:txBody>
      </p:sp>
      <p:sp>
        <p:nvSpPr>
          <p:cNvPr id="4" name="Shape 2"/>
          <p:cNvSpPr/>
          <p:nvPr/>
        </p:nvSpPr>
        <p:spPr>
          <a:xfrm>
            <a:off x="548640" y="2834640"/>
            <a:ext cx="1938528" cy="1554480"/>
          </a:xfrm>
          <a:prstGeom prst="roundRect">
            <a:avLst>
              <a:gd name="adj" fmla="val 5882"/>
            </a:avLst>
          </a:prstGeom>
          <a:solidFill>
            <a:srgbClr val="1E2761"/>
          </a:solidFill>
          <a:ln/>
        </p:spPr>
      </p:sp>
      <p:sp>
        <p:nvSpPr>
          <p:cNvPr id="5" name="Text 3"/>
          <p:cNvSpPr/>
          <p:nvPr/>
        </p:nvSpPr>
        <p:spPr>
          <a:xfrm>
            <a:off x="548640" y="2834640"/>
            <a:ext cx="1938528" cy="1554480"/>
          </a:xfrm>
          <a:prstGeom prst="rect">
            <a:avLst/>
          </a:prstGeom>
          <a:noFill/>
          <a:ln/>
        </p:spPr>
        <p:txBody>
          <a:bodyPr wrap="square" lIns="0" tIns="0" rIns="0" bIns="0" rtlCol="0" anchor="ctr"/>
          <a:lstStyle/>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Vendor</a:t>
            </a:r>
            <a:endParaRPr lang="en-US" sz="1300" dirty="0"/>
          </a:p>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Registration</a:t>
            </a:r>
            <a:endParaRPr lang="en-US" sz="1300" dirty="0"/>
          </a:p>
        </p:txBody>
      </p:sp>
      <p:sp>
        <p:nvSpPr>
          <p:cNvPr id="6" name="Text 4"/>
          <p:cNvSpPr/>
          <p:nvPr/>
        </p:nvSpPr>
        <p:spPr>
          <a:xfrm>
            <a:off x="2487168" y="2834640"/>
            <a:ext cx="349758" cy="1554480"/>
          </a:xfrm>
          <a:prstGeom prst="rect">
            <a:avLst/>
          </a:prstGeom>
          <a:noFill/>
          <a:ln/>
        </p:spPr>
        <p:txBody>
          <a:bodyPr wrap="square" lIns="0" tIns="0" rIns="0" bIns="0" rtlCol="0" anchor="ctr"/>
          <a:lstStyle/>
          <a:p>
            <a:pPr marL="0" indent="0" algn="ctr">
              <a:buNone/>
            </a:pPr>
            <a:r>
              <a:rPr lang="en-US" sz="2600" b="1" dirty="0">
                <a:solidFill>
                  <a:srgbClr val="6B7488"/>
                </a:solidFill>
                <a:latin typeface="Cambria" pitchFamily="34" charset="0"/>
                <a:ea typeface="Cambria" pitchFamily="34" charset="-122"/>
                <a:cs typeface="Cambria" pitchFamily="34" charset="-120"/>
              </a:rPr>
              <a:t>›</a:t>
            </a:r>
            <a:endParaRPr lang="en-US" sz="2600" dirty="0"/>
          </a:p>
        </p:txBody>
      </p:sp>
      <p:sp>
        <p:nvSpPr>
          <p:cNvPr id="7" name="Shape 5"/>
          <p:cNvSpPr/>
          <p:nvPr/>
        </p:nvSpPr>
        <p:spPr>
          <a:xfrm>
            <a:off x="2836926" y="2834640"/>
            <a:ext cx="1938528" cy="1554480"/>
          </a:xfrm>
          <a:prstGeom prst="roundRect">
            <a:avLst>
              <a:gd name="adj" fmla="val 5882"/>
            </a:avLst>
          </a:prstGeom>
          <a:solidFill>
            <a:srgbClr val="C9932B"/>
          </a:solidFill>
          <a:ln/>
        </p:spPr>
      </p:sp>
      <p:sp>
        <p:nvSpPr>
          <p:cNvPr id="8" name="Text 6"/>
          <p:cNvSpPr/>
          <p:nvPr/>
        </p:nvSpPr>
        <p:spPr>
          <a:xfrm>
            <a:off x="2836926" y="2834640"/>
            <a:ext cx="1938528" cy="1554480"/>
          </a:xfrm>
          <a:prstGeom prst="rect">
            <a:avLst/>
          </a:prstGeom>
          <a:noFill/>
          <a:ln/>
        </p:spPr>
        <p:txBody>
          <a:bodyPr wrap="square" lIns="0" tIns="0" rIns="0" bIns="0" rtlCol="0" anchor="ctr"/>
          <a:lstStyle/>
          <a:p>
            <a:pPr marL="0" indent="0" algn="ctr">
              <a:lnSpc>
                <a:spcPct val="115000"/>
              </a:lnSpc>
              <a:buNone/>
            </a:pPr>
            <a:r>
              <a:rPr lang="en-US" sz="1300" b="1" dirty="0">
                <a:solidFill>
                  <a:srgbClr val="12173E"/>
                </a:solidFill>
                <a:latin typeface="Calibri" pitchFamily="34" charset="0"/>
                <a:ea typeface="Calibri" pitchFamily="34" charset="-122"/>
                <a:cs typeface="Calibri" pitchFamily="34" charset="-120"/>
              </a:rPr>
              <a:t>Verification &amp;</a:t>
            </a:r>
            <a:endParaRPr lang="en-US" sz="1300" dirty="0"/>
          </a:p>
          <a:p>
            <a:pPr marL="0" indent="0" algn="ctr">
              <a:lnSpc>
                <a:spcPct val="115000"/>
              </a:lnSpc>
              <a:buNone/>
            </a:pPr>
            <a:r>
              <a:rPr lang="en-US" sz="1300" b="1" dirty="0">
                <a:solidFill>
                  <a:srgbClr val="12173E"/>
                </a:solidFill>
                <a:latin typeface="Calibri" pitchFamily="34" charset="0"/>
                <a:ea typeface="Calibri" pitchFamily="34" charset="-122"/>
                <a:cs typeface="Calibri" pitchFamily="34" charset="-120"/>
              </a:rPr>
              <a:t>Approval</a:t>
            </a:r>
            <a:endParaRPr lang="en-US" sz="1300" dirty="0"/>
          </a:p>
        </p:txBody>
      </p:sp>
      <p:sp>
        <p:nvSpPr>
          <p:cNvPr id="9" name="Text 7"/>
          <p:cNvSpPr/>
          <p:nvPr/>
        </p:nvSpPr>
        <p:spPr>
          <a:xfrm>
            <a:off x="4775454" y="2834640"/>
            <a:ext cx="349758" cy="1554480"/>
          </a:xfrm>
          <a:prstGeom prst="rect">
            <a:avLst/>
          </a:prstGeom>
          <a:noFill/>
          <a:ln/>
        </p:spPr>
        <p:txBody>
          <a:bodyPr wrap="square" lIns="0" tIns="0" rIns="0" bIns="0" rtlCol="0" anchor="ctr"/>
          <a:lstStyle/>
          <a:p>
            <a:pPr marL="0" indent="0" algn="ctr">
              <a:buNone/>
            </a:pPr>
            <a:r>
              <a:rPr lang="en-US" sz="2600" b="1" dirty="0">
                <a:solidFill>
                  <a:srgbClr val="6B7488"/>
                </a:solidFill>
                <a:latin typeface="Cambria" pitchFamily="34" charset="0"/>
                <a:ea typeface="Cambria" pitchFamily="34" charset="-122"/>
                <a:cs typeface="Cambria" pitchFamily="34" charset="-120"/>
              </a:rPr>
              <a:t>›</a:t>
            </a:r>
            <a:endParaRPr lang="en-US" sz="2600" dirty="0"/>
          </a:p>
        </p:txBody>
      </p:sp>
      <p:sp>
        <p:nvSpPr>
          <p:cNvPr id="10" name="Shape 8"/>
          <p:cNvSpPr/>
          <p:nvPr/>
        </p:nvSpPr>
        <p:spPr>
          <a:xfrm>
            <a:off x="5125212" y="2834640"/>
            <a:ext cx="1938528" cy="1554480"/>
          </a:xfrm>
          <a:prstGeom prst="roundRect">
            <a:avLst>
              <a:gd name="adj" fmla="val 5882"/>
            </a:avLst>
          </a:prstGeom>
          <a:solidFill>
            <a:srgbClr val="1E2761"/>
          </a:solidFill>
          <a:ln/>
        </p:spPr>
      </p:sp>
      <p:sp>
        <p:nvSpPr>
          <p:cNvPr id="11" name="Text 9"/>
          <p:cNvSpPr/>
          <p:nvPr/>
        </p:nvSpPr>
        <p:spPr>
          <a:xfrm>
            <a:off x="5125212" y="2834640"/>
            <a:ext cx="1938528" cy="1554480"/>
          </a:xfrm>
          <a:prstGeom prst="rect">
            <a:avLst/>
          </a:prstGeom>
          <a:noFill/>
          <a:ln/>
        </p:spPr>
        <p:txBody>
          <a:bodyPr wrap="square" lIns="0" tIns="0" rIns="0" bIns="0" rtlCol="0" anchor="ctr"/>
          <a:lstStyle/>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Purchase Order</a:t>
            </a:r>
            <a:endParaRPr lang="en-US" sz="1300" dirty="0"/>
          </a:p>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Creation</a:t>
            </a:r>
            <a:endParaRPr lang="en-US" sz="1300" dirty="0"/>
          </a:p>
        </p:txBody>
      </p:sp>
      <p:sp>
        <p:nvSpPr>
          <p:cNvPr id="12" name="Text 10"/>
          <p:cNvSpPr/>
          <p:nvPr/>
        </p:nvSpPr>
        <p:spPr>
          <a:xfrm>
            <a:off x="7063740" y="2834640"/>
            <a:ext cx="349758" cy="1554480"/>
          </a:xfrm>
          <a:prstGeom prst="rect">
            <a:avLst/>
          </a:prstGeom>
          <a:noFill/>
          <a:ln/>
        </p:spPr>
        <p:txBody>
          <a:bodyPr wrap="square" lIns="0" tIns="0" rIns="0" bIns="0" rtlCol="0" anchor="ctr"/>
          <a:lstStyle/>
          <a:p>
            <a:pPr marL="0" indent="0" algn="ctr">
              <a:buNone/>
            </a:pPr>
            <a:r>
              <a:rPr lang="en-US" sz="2600" b="1" dirty="0">
                <a:solidFill>
                  <a:srgbClr val="6B7488"/>
                </a:solidFill>
                <a:latin typeface="Cambria" pitchFamily="34" charset="0"/>
                <a:ea typeface="Cambria" pitchFamily="34" charset="-122"/>
                <a:cs typeface="Cambria" pitchFamily="34" charset="-120"/>
              </a:rPr>
              <a:t>›</a:t>
            </a:r>
            <a:endParaRPr lang="en-US" sz="2600" dirty="0"/>
          </a:p>
        </p:txBody>
      </p:sp>
      <p:sp>
        <p:nvSpPr>
          <p:cNvPr id="13" name="Shape 11"/>
          <p:cNvSpPr/>
          <p:nvPr/>
        </p:nvSpPr>
        <p:spPr>
          <a:xfrm>
            <a:off x="7413498" y="2834640"/>
            <a:ext cx="1938528" cy="1554480"/>
          </a:xfrm>
          <a:prstGeom prst="roundRect">
            <a:avLst>
              <a:gd name="adj" fmla="val 5882"/>
            </a:avLst>
          </a:prstGeom>
          <a:solidFill>
            <a:srgbClr val="C9932B"/>
          </a:solidFill>
          <a:ln/>
        </p:spPr>
      </p:sp>
      <p:sp>
        <p:nvSpPr>
          <p:cNvPr id="14" name="Text 12"/>
          <p:cNvSpPr/>
          <p:nvPr/>
        </p:nvSpPr>
        <p:spPr>
          <a:xfrm>
            <a:off x="7413498" y="2834640"/>
            <a:ext cx="1938528" cy="1554480"/>
          </a:xfrm>
          <a:prstGeom prst="rect">
            <a:avLst/>
          </a:prstGeom>
          <a:noFill/>
          <a:ln/>
        </p:spPr>
        <p:txBody>
          <a:bodyPr wrap="square" lIns="0" tIns="0" rIns="0" bIns="0" rtlCol="0" anchor="ctr"/>
          <a:lstStyle/>
          <a:p>
            <a:pPr marL="0" indent="0" algn="ctr">
              <a:lnSpc>
                <a:spcPct val="115000"/>
              </a:lnSpc>
              <a:buNone/>
            </a:pPr>
            <a:r>
              <a:rPr lang="en-US" sz="1300" b="1" dirty="0">
                <a:solidFill>
                  <a:srgbClr val="12173E"/>
                </a:solidFill>
                <a:latin typeface="Calibri" pitchFamily="34" charset="0"/>
                <a:ea typeface="Calibri" pitchFamily="34" charset="-122"/>
                <a:cs typeface="Calibri" pitchFamily="34" charset="-120"/>
              </a:rPr>
              <a:t>Order Fulfillment &amp;</a:t>
            </a:r>
            <a:endParaRPr lang="en-US" sz="1300" dirty="0"/>
          </a:p>
          <a:p>
            <a:pPr marL="0" indent="0" algn="ctr">
              <a:lnSpc>
                <a:spcPct val="115000"/>
              </a:lnSpc>
              <a:buNone/>
            </a:pPr>
            <a:r>
              <a:rPr lang="en-US" sz="1300" b="1" dirty="0">
                <a:solidFill>
                  <a:srgbClr val="12173E"/>
                </a:solidFill>
                <a:latin typeface="Calibri" pitchFamily="34" charset="0"/>
                <a:ea typeface="Calibri" pitchFamily="34" charset="-122"/>
                <a:cs typeface="Calibri" pitchFamily="34" charset="-120"/>
              </a:rPr>
              <a:t>Delivery</a:t>
            </a:r>
            <a:endParaRPr lang="en-US" sz="1300" dirty="0"/>
          </a:p>
        </p:txBody>
      </p:sp>
      <p:sp>
        <p:nvSpPr>
          <p:cNvPr id="15" name="Text 13"/>
          <p:cNvSpPr/>
          <p:nvPr/>
        </p:nvSpPr>
        <p:spPr>
          <a:xfrm>
            <a:off x="9352026" y="2834640"/>
            <a:ext cx="349758" cy="1554480"/>
          </a:xfrm>
          <a:prstGeom prst="rect">
            <a:avLst/>
          </a:prstGeom>
          <a:noFill/>
          <a:ln/>
        </p:spPr>
        <p:txBody>
          <a:bodyPr wrap="square" lIns="0" tIns="0" rIns="0" bIns="0" rtlCol="0" anchor="ctr"/>
          <a:lstStyle/>
          <a:p>
            <a:pPr marL="0" indent="0" algn="ctr">
              <a:buNone/>
            </a:pPr>
            <a:r>
              <a:rPr lang="en-US" sz="2600" b="1" dirty="0">
                <a:solidFill>
                  <a:srgbClr val="6B7488"/>
                </a:solidFill>
                <a:latin typeface="Cambria" pitchFamily="34" charset="0"/>
                <a:ea typeface="Cambria" pitchFamily="34" charset="-122"/>
                <a:cs typeface="Cambria" pitchFamily="34" charset="-120"/>
              </a:rPr>
              <a:t>›</a:t>
            </a:r>
            <a:endParaRPr lang="en-US" sz="2600" dirty="0"/>
          </a:p>
        </p:txBody>
      </p:sp>
      <p:sp>
        <p:nvSpPr>
          <p:cNvPr id="16" name="Shape 14"/>
          <p:cNvSpPr/>
          <p:nvPr/>
        </p:nvSpPr>
        <p:spPr>
          <a:xfrm>
            <a:off x="9701784" y="2834640"/>
            <a:ext cx="1938528" cy="1554480"/>
          </a:xfrm>
          <a:prstGeom prst="roundRect">
            <a:avLst>
              <a:gd name="adj" fmla="val 5882"/>
            </a:avLst>
          </a:prstGeom>
          <a:solidFill>
            <a:srgbClr val="1E2761"/>
          </a:solidFill>
          <a:ln/>
        </p:spPr>
      </p:sp>
      <p:sp>
        <p:nvSpPr>
          <p:cNvPr id="17" name="Text 15"/>
          <p:cNvSpPr/>
          <p:nvPr/>
        </p:nvSpPr>
        <p:spPr>
          <a:xfrm>
            <a:off x="9701784" y="2834640"/>
            <a:ext cx="1938528" cy="1554480"/>
          </a:xfrm>
          <a:prstGeom prst="rect">
            <a:avLst/>
          </a:prstGeom>
          <a:noFill/>
          <a:ln/>
        </p:spPr>
        <p:txBody>
          <a:bodyPr wrap="square" lIns="0" tIns="0" rIns="0" bIns="0" rtlCol="0" anchor="ctr"/>
          <a:lstStyle/>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Performance</a:t>
            </a:r>
            <a:endParaRPr lang="en-US" sz="1300" dirty="0"/>
          </a:p>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Evaluation</a:t>
            </a:r>
            <a:endParaRPr lang="en-US" sz="1300" dirty="0"/>
          </a:p>
        </p:txBody>
      </p:sp>
      <p:sp>
        <p:nvSpPr>
          <p:cNvPr id="18" name="Text 16"/>
          <p:cNvSpPr/>
          <p:nvPr/>
        </p:nvSpPr>
        <p:spPr>
          <a:xfrm>
            <a:off x="548640" y="4892040"/>
            <a:ext cx="11091672" cy="457200"/>
          </a:xfrm>
          <a:prstGeom prst="rect">
            <a:avLst/>
          </a:prstGeom>
          <a:noFill/>
          <a:ln/>
        </p:spPr>
        <p:txBody>
          <a:bodyPr wrap="square" lIns="0" tIns="0" rIns="0" bIns="0" rtlCol="0" anchor="ctr"/>
          <a:lstStyle/>
          <a:p>
            <a:pPr marL="0" indent="0" algn="ctr">
              <a:buNone/>
            </a:pPr>
            <a:r>
              <a:rPr lang="en-US" sz="1400" i="1" dirty="0">
                <a:solidFill>
                  <a:srgbClr val="6B7488"/>
                </a:solidFill>
                <a:latin typeface="Calibri" pitchFamily="34" charset="0"/>
                <a:ea typeface="Calibri" pitchFamily="34" charset="-122"/>
                <a:cs typeface="Calibri" pitchFamily="34" charset="-120"/>
              </a:rPr>
              <a:t>Vendor Lifecycle — From Registration to Performance Evaluation, Fully Digital and Tracked</a:t>
            </a:r>
            <a:endParaRPr lang="en-US" sz="1400" dirty="0"/>
          </a:p>
        </p:txBody>
      </p:sp>
      <p:sp>
        <p:nvSpPr>
          <p:cNvPr id="19" name="Text 17"/>
          <p:cNvSpPr/>
          <p:nvPr/>
        </p:nvSpPr>
        <p:spPr>
          <a:xfrm>
            <a:off x="457200" y="6547104"/>
            <a:ext cx="3657600" cy="274320"/>
          </a:xfrm>
          <a:prstGeom prst="rect">
            <a:avLst/>
          </a:prstGeom>
          <a:noFill/>
          <a:ln/>
        </p:spPr>
        <p:txBody>
          <a:bodyPr wrap="square" lIns="0" tIns="0" rIns="0" bIns="0" rtlCol="0" anchor="ctr"/>
          <a:lstStyle/>
          <a:p>
            <a:pPr marL="0" indent="0" algn="l">
              <a:buNone/>
            </a:pPr>
            <a:r>
              <a:rPr lang="en-US" sz="900" dirty="0">
                <a:solidFill>
                  <a:srgbClr val="6B7488"/>
                </a:solidFill>
                <a:latin typeface="Calibri" pitchFamily="34" charset="0"/>
                <a:ea typeface="Calibri" pitchFamily="34" charset="-122"/>
                <a:cs typeface="Calibri" pitchFamily="34" charset="-120"/>
              </a:rPr>
              <a:t>VENDORFLOW</a:t>
            </a:r>
            <a:endParaRPr lang="en-US" sz="900" dirty="0"/>
          </a:p>
        </p:txBody>
      </p:sp>
      <p:sp>
        <p:nvSpPr>
          <p:cNvPr id="20" name="Text 18"/>
          <p:cNvSpPr/>
          <p:nvPr/>
        </p:nvSpPr>
        <p:spPr>
          <a:xfrm>
            <a:off x="11274552" y="6547104"/>
            <a:ext cx="457200" cy="274320"/>
          </a:xfrm>
          <a:prstGeom prst="rect">
            <a:avLst/>
          </a:prstGeom>
          <a:noFill/>
          <a:ln/>
        </p:spPr>
        <p:txBody>
          <a:bodyPr wrap="square" lIns="0" tIns="0" rIns="0" bIns="0" rtlCol="0" anchor="ctr"/>
          <a:lstStyle/>
          <a:p>
            <a:pPr marL="0" indent="0" algn="r">
              <a:buNone/>
            </a:pPr>
            <a:r>
              <a:rPr lang="en-US" sz="900" dirty="0">
                <a:solidFill>
                  <a:srgbClr val="6B748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515600" cy="640080"/>
          </a:xfrm>
          <a:prstGeom prst="rect">
            <a:avLst/>
          </a:prstGeom>
          <a:noFill/>
          <a:ln/>
        </p:spPr>
        <p:txBody>
          <a:bodyPr wrap="square" lIns="0" tIns="0" rIns="0" bIns="0" rtlCol="0" anchor="ctr"/>
          <a:lstStyle/>
          <a:p>
            <a:pPr marL="0" indent="0" algn="l">
              <a:buNone/>
            </a:pPr>
            <a:r>
              <a:rPr lang="en-US" sz="3400" b="1" dirty="0">
                <a:solidFill>
                  <a:srgbClr val="1E2761"/>
                </a:solidFill>
                <a:latin typeface="Cambria" pitchFamily="34" charset="0"/>
                <a:ea typeface="Cambria" pitchFamily="34" charset="-122"/>
                <a:cs typeface="Cambria" pitchFamily="34" charset="-120"/>
              </a:rPr>
              <a:t>Technology Stack &amp; System Architecture</a:t>
            </a:r>
            <a:endParaRPr lang="en-US" sz="3400" dirty="0"/>
          </a:p>
        </p:txBody>
      </p:sp>
      <p:sp>
        <p:nvSpPr>
          <p:cNvPr id="3" name="Text 1"/>
          <p:cNvSpPr/>
          <p:nvPr/>
        </p:nvSpPr>
        <p:spPr>
          <a:xfrm>
            <a:off x="548640" y="1234440"/>
            <a:ext cx="5303520" cy="320040"/>
          </a:xfrm>
          <a:prstGeom prst="rect">
            <a:avLst/>
          </a:prstGeom>
          <a:noFill/>
          <a:ln/>
        </p:spPr>
        <p:txBody>
          <a:bodyPr wrap="square" lIns="0" tIns="0" rIns="0" bIns="0" rtlCol="0" anchor="ctr"/>
          <a:lstStyle/>
          <a:p>
            <a:pPr marL="0" indent="0">
              <a:buNone/>
            </a:pPr>
            <a:r>
              <a:rPr lang="en-US" sz="1200" b="1" kern="0" spc="100" dirty="0">
                <a:solidFill>
                  <a:srgbClr val="1E2761"/>
                </a:solidFill>
                <a:latin typeface="Calibri" pitchFamily="34" charset="0"/>
                <a:ea typeface="Calibri" pitchFamily="34" charset="-122"/>
                <a:cs typeface="Calibri" pitchFamily="34" charset="-120"/>
              </a:rPr>
              <a:t>TECHNOLOGY STACK</a:t>
            </a:r>
            <a:endParaRPr lang="en-US" sz="1200" dirty="0"/>
          </a:p>
        </p:txBody>
      </p:sp>
      <p:sp>
        <p:nvSpPr>
          <p:cNvPr id="4" name="Shape 2"/>
          <p:cNvSpPr/>
          <p:nvPr/>
        </p:nvSpPr>
        <p:spPr>
          <a:xfrm>
            <a:off x="548640" y="1691640"/>
            <a:ext cx="548640" cy="548640"/>
          </a:xfrm>
          <a:prstGeom prst="ellipse">
            <a:avLst/>
          </a:prstGeom>
          <a:solidFill>
            <a:srgbClr val="1E2761"/>
          </a:solidFill>
          <a:ln/>
        </p:spPr>
      </p:sp>
      <p:pic>
        <p:nvPicPr>
          <p:cNvPr id="5" name="Image 0" descr="icons/react.png"/>
          <p:cNvPicPr>
            <a:picLocks noChangeAspect="1"/>
          </p:cNvPicPr>
          <p:nvPr/>
        </p:nvPicPr>
        <p:blipFill>
          <a:blip r:embed="rId3"/>
          <a:stretch>
            <a:fillRect/>
          </a:stretch>
        </p:blipFill>
        <p:spPr>
          <a:xfrm>
            <a:off x="619963" y="1762963"/>
            <a:ext cx="405994" cy="405994"/>
          </a:xfrm>
          <a:prstGeom prst="rect">
            <a:avLst/>
          </a:prstGeom>
        </p:spPr>
      </p:pic>
      <p:sp>
        <p:nvSpPr>
          <p:cNvPr id="6" name="Text 3"/>
          <p:cNvSpPr/>
          <p:nvPr/>
        </p:nvSpPr>
        <p:spPr>
          <a:xfrm>
            <a:off x="1280160" y="1664208"/>
            <a:ext cx="4480560" cy="320040"/>
          </a:xfrm>
          <a:prstGeom prst="rect">
            <a:avLst/>
          </a:prstGeom>
          <a:noFill/>
          <a:ln/>
        </p:spPr>
        <p:txBody>
          <a:bodyPr wrap="square" lIns="0" tIns="0" rIns="0" bIns="0" rtlCol="0" anchor="ctr"/>
          <a:lstStyle/>
          <a:p>
            <a:pPr marL="0" indent="0">
              <a:buNone/>
            </a:pPr>
            <a:r>
              <a:rPr lang="en-US" sz="1400" b="1" dirty="0">
                <a:solidFill>
                  <a:srgbClr val="3E465C"/>
                </a:solidFill>
                <a:latin typeface="Calibri" pitchFamily="34" charset="0"/>
                <a:ea typeface="Calibri" pitchFamily="34" charset="-122"/>
                <a:cs typeface="Calibri" pitchFamily="34" charset="-120"/>
              </a:rPr>
              <a:t>React.js — Frontend</a:t>
            </a:r>
            <a:endParaRPr lang="en-US" sz="1400" dirty="0"/>
          </a:p>
        </p:txBody>
      </p:sp>
      <p:sp>
        <p:nvSpPr>
          <p:cNvPr id="7" name="Text 4"/>
          <p:cNvSpPr/>
          <p:nvPr/>
        </p:nvSpPr>
        <p:spPr>
          <a:xfrm>
            <a:off x="1280160" y="1984248"/>
            <a:ext cx="4480560" cy="640080"/>
          </a:xfrm>
          <a:prstGeom prst="rect">
            <a:avLst/>
          </a:prstGeom>
          <a:noFill/>
          <a:ln/>
        </p:spPr>
        <p:txBody>
          <a:bodyPr wrap="square" lIns="0" tIns="0" rIns="0" bIns="0" rtlCol="0" anchor="ctr"/>
          <a:lstStyle/>
          <a:p>
            <a:pPr marL="0" indent="0">
              <a:lnSpc>
                <a:spcPct val="120000"/>
              </a:lnSpc>
              <a:buNone/>
            </a:pPr>
            <a:r>
              <a:rPr lang="en-US" sz="1150" dirty="0">
                <a:solidFill>
                  <a:srgbClr val="6B7488"/>
                </a:solidFill>
                <a:latin typeface="Calibri" pitchFamily="34" charset="0"/>
                <a:ea typeface="Calibri" pitchFamily="34" charset="-122"/>
                <a:cs typeface="Calibri" pitchFamily="34" charset="-120"/>
              </a:rPr>
              <a:t>Vendor forms, procurement dashboards, and performance views.</a:t>
            </a:r>
            <a:endParaRPr lang="en-US" sz="1150" dirty="0"/>
          </a:p>
        </p:txBody>
      </p:sp>
      <p:sp>
        <p:nvSpPr>
          <p:cNvPr id="8" name="Shape 5"/>
          <p:cNvSpPr/>
          <p:nvPr/>
        </p:nvSpPr>
        <p:spPr>
          <a:xfrm>
            <a:off x="548640" y="2926080"/>
            <a:ext cx="548640" cy="548640"/>
          </a:xfrm>
          <a:prstGeom prst="ellipse">
            <a:avLst/>
          </a:prstGeom>
          <a:solidFill>
            <a:srgbClr val="1E2761"/>
          </a:solidFill>
          <a:ln/>
        </p:spPr>
      </p:sp>
      <p:pic>
        <p:nvPicPr>
          <p:cNvPr id="9" name="Image 1" descr="icons/node.png"/>
          <p:cNvPicPr>
            <a:picLocks noChangeAspect="1"/>
          </p:cNvPicPr>
          <p:nvPr/>
        </p:nvPicPr>
        <p:blipFill>
          <a:blip r:embed="rId4"/>
          <a:stretch>
            <a:fillRect/>
          </a:stretch>
        </p:blipFill>
        <p:spPr>
          <a:xfrm>
            <a:off x="619963" y="2997403"/>
            <a:ext cx="405994" cy="405994"/>
          </a:xfrm>
          <a:prstGeom prst="rect">
            <a:avLst/>
          </a:prstGeom>
        </p:spPr>
      </p:pic>
      <p:sp>
        <p:nvSpPr>
          <p:cNvPr id="10" name="Text 6"/>
          <p:cNvSpPr/>
          <p:nvPr/>
        </p:nvSpPr>
        <p:spPr>
          <a:xfrm>
            <a:off x="1280160" y="2898648"/>
            <a:ext cx="4480560" cy="320040"/>
          </a:xfrm>
          <a:prstGeom prst="rect">
            <a:avLst/>
          </a:prstGeom>
          <a:noFill/>
          <a:ln/>
        </p:spPr>
        <p:txBody>
          <a:bodyPr wrap="square" lIns="0" tIns="0" rIns="0" bIns="0" rtlCol="0" anchor="ctr"/>
          <a:lstStyle/>
          <a:p>
            <a:pPr marL="0" indent="0">
              <a:buNone/>
            </a:pPr>
            <a:r>
              <a:rPr lang="en-US" sz="1400" b="1" dirty="0">
                <a:solidFill>
                  <a:srgbClr val="3E465C"/>
                </a:solidFill>
                <a:latin typeface="Calibri" pitchFamily="34" charset="0"/>
                <a:ea typeface="Calibri" pitchFamily="34" charset="-122"/>
                <a:cs typeface="Calibri" pitchFamily="34" charset="-120"/>
              </a:rPr>
              <a:t>Node.js + Express.js — Backend</a:t>
            </a:r>
            <a:endParaRPr lang="en-US" sz="1400" dirty="0"/>
          </a:p>
        </p:txBody>
      </p:sp>
      <p:sp>
        <p:nvSpPr>
          <p:cNvPr id="11" name="Text 7"/>
          <p:cNvSpPr/>
          <p:nvPr/>
        </p:nvSpPr>
        <p:spPr>
          <a:xfrm>
            <a:off x="1280160" y="3218688"/>
            <a:ext cx="4480560" cy="640080"/>
          </a:xfrm>
          <a:prstGeom prst="rect">
            <a:avLst/>
          </a:prstGeom>
          <a:noFill/>
          <a:ln/>
        </p:spPr>
        <p:txBody>
          <a:bodyPr wrap="square" lIns="0" tIns="0" rIns="0" bIns="0" rtlCol="0" anchor="ctr"/>
          <a:lstStyle/>
          <a:p>
            <a:pPr marL="0" indent="0">
              <a:lnSpc>
                <a:spcPct val="120000"/>
              </a:lnSpc>
              <a:buNone/>
            </a:pPr>
            <a:r>
              <a:rPr lang="en-US" sz="1150" dirty="0">
                <a:solidFill>
                  <a:srgbClr val="6B7488"/>
                </a:solidFill>
                <a:latin typeface="Calibri" pitchFamily="34" charset="0"/>
                <a:ea typeface="Calibri" pitchFamily="34" charset="-122"/>
                <a:cs typeface="Calibri" pitchFamily="34" charset="-120"/>
              </a:rPr>
              <a:t>REST APIs, authentication, business logic and scoring calculations.</a:t>
            </a:r>
            <a:endParaRPr lang="en-US" sz="1150" dirty="0"/>
          </a:p>
        </p:txBody>
      </p:sp>
      <p:sp>
        <p:nvSpPr>
          <p:cNvPr id="12" name="Shape 8"/>
          <p:cNvSpPr/>
          <p:nvPr/>
        </p:nvSpPr>
        <p:spPr>
          <a:xfrm>
            <a:off x="548640" y="4160520"/>
            <a:ext cx="548640" cy="548640"/>
          </a:xfrm>
          <a:prstGeom prst="ellipse">
            <a:avLst/>
          </a:prstGeom>
          <a:solidFill>
            <a:srgbClr val="1E2761"/>
          </a:solidFill>
          <a:ln/>
        </p:spPr>
      </p:sp>
      <p:pic>
        <p:nvPicPr>
          <p:cNvPr id="13" name="Image 2" descr="icons/mongo.png"/>
          <p:cNvPicPr>
            <a:picLocks noChangeAspect="1"/>
          </p:cNvPicPr>
          <p:nvPr/>
        </p:nvPicPr>
        <p:blipFill>
          <a:blip r:embed="rId5"/>
          <a:stretch>
            <a:fillRect/>
          </a:stretch>
        </p:blipFill>
        <p:spPr>
          <a:xfrm>
            <a:off x="619963" y="4231843"/>
            <a:ext cx="405994" cy="405994"/>
          </a:xfrm>
          <a:prstGeom prst="rect">
            <a:avLst/>
          </a:prstGeom>
        </p:spPr>
      </p:pic>
      <p:sp>
        <p:nvSpPr>
          <p:cNvPr id="14" name="Text 9"/>
          <p:cNvSpPr/>
          <p:nvPr/>
        </p:nvSpPr>
        <p:spPr>
          <a:xfrm>
            <a:off x="1280160" y="4133088"/>
            <a:ext cx="4480560" cy="320040"/>
          </a:xfrm>
          <a:prstGeom prst="rect">
            <a:avLst/>
          </a:prstGeom>
          <a:noFill/>
          <a:ln/>
        </p:spPr>
        <p:txBody>
          <a:bodyPr wrap="square" lIns="0" tIns="0" rIns="0" bIns="0" rtlCol="0" anchor="ctr"/>
          <a:lstStyle/>
          <a:p>
            <a:pPr marL="0" indent="0">
              <a:buNone/>
            </a:pPr>
            <a:r>
              <a:rPr lang="en-US" sz="1400" b="1" dirty="0">
                <a:solidFill>
                  <a:srgbClr val="3E465C"/>
                </a:solidFill>
                <a:latin typeface="Calibri" pitchFamily="34" charset="0"/>
                <a:ea typeface="Calibri" pitchFamily="34" charset="-122"/>
                <a:cs typeface="Calibri" pitchFamily="34" charset="-120"/>
              </a:rPr>
              <a:t>MongoDB — Database</a:t>
            </a:r>
            <a:endParaRPr lang="en-US" sz="1400" dirty="0"/>
          </a:p>
        </p:txBody>
      </p:sp>
      <p:sp>
        <p:nvSpPr>
          <p:cNvPr id="15" name="Text 10"/>
          <p:cNvSpPr/>
          <p:nvPr/>
        </p:nvSpPr>
        <p:spPr>
          <a:xfrm>
            <a:off x="1280160" y="4453128"/>
            <a:ext cx="4480560" cy="640080"/>
          </a:xfrm>
          <a:prstGeom prst="rect">
            <a:avLst/>
          </a:prstGeom>
          <a:noFill/>
          <a:ln/>
        </p:spPr>
        <p:txBody>
          <a:bodyPr wrap="square" lIns="0" tIns="0" rIns="0" bIns="0" rtlCol="0" anchor="ctr"/>
          <a:lstStyle/>
          <a:p>
            <a:pPr marL="0" indent="0">
              <a:lnSpc>
                <a:spcPct val="120000"/>
              </a:lnSpc>
              <a:buNone/>
            </a:pPr>
            <a:r>
              <a:rPr lang="en-US" sz="1150" dirty="0">
                <a:solidFill>
                  <a:srgbClr val="6B7488"/>
                </a:solidFill>
                <a:latin typeface="Calibri" pitchFamily="34" charset="0"/>
                <a:ea typeface="Calibri" pitchFamily="34" charset="-122"/>
                <a:cs typeface="Calibri" pitchFamily="34" charset="-120"/>
              </a:rPr>
              <a:t>Stores vendors, purchase orders, evaluations, and user data.</a:t>
            </a:r>
            <a:endParaRPr lang="en-US" sz="1150" dirty="0"/>
          </a:p>
        </p:txBody>
      </p:sp>
      <p:sp>
        <p:nvSpPr>
          <p:cNvPr id="16" name="Text 11"/>
          <p:cNvSpPr/>
          <p:nvPr/>
        </p:nvSpPr>
        <p:spPr>
          <a:xfrm>
            <a:off x="6492240" y="1234440"/>
            <a:ext cx="5120640" cy="320040"/>
          </a:xfrm>
          <a:prstGeom prst="rect">
            <a:avLst/>
          </a:prstGeom>
          <a:noFill/>
          <a:ln/>
        </p:spPr>
        <p:txBody>
          <a:bodyPr wrap="square" lIns="0" tIns="0" rIns="0" bIns="0" rtlCol="0" anchor="ctr"/>
          <a:lstStyle/>
          <a:p>
            <a:pPr marL="0" indent="0">
              <a:buNone/>
            </a:pPr>
            <a:r>
              <a:rPr lang="en-US" sz="1200" b="1" kern="0" spc="100" dirty="0">
                <a:solidFill>
                  <a:srgbClr val="1E2761"/>
                </a:solidFill>
                <a:latin typeface="Calibri" pitchFamily="34" charset="0"/>
                <a:ea typeface="Calibri" pitchFamily="34" charset="-122"/>
                <a:cs typeface="Calibri" pitchFamily="34" charset="-120"/>
              </a:rPr>
              <a:t>SYSTEM ARCHITECTURE</a:t>
            </a:r>
            <a:endParaRPr lang="en-US" sz="1200" dirty="0"/>
          </a:p>
        </p:txBody>
      </p:sp>
      <p:sp>
        <p:nvSpPr>
          <p:cNvPr id="17" name="Shape 12"/>
          <p:cNvSpPr/>
          <p:nvPr/>
        </p:nvSpPr>
        <p:spPr>
          <a:xfrm>
            <a:off x="6492240" y="1691640"/>
            <a:ext cx="5120640" cy="566928"/>
          </a:xfrm>
          <a:prstGeom prst="rect">
            <a:avLst/>
          </a:prstGeom>
          <a:solidFill>
            <a:srgbClr val="1E2761"/>
          </a:solidFill>
          <a:ln/>
        </p:spPr>
      </p:sp>
      <p:sp>
        <p:nvSpPr>
          <p:cNvPr id="18" name="Text 13"/>
          <p:cNvSpPr/>
          <p:nvPr/>
        </p:nvSpPr>
        <p:spPr>
          <a:xfrm>
            <a:off x="6492240" y="1691640"/>
            <a:ext cx="5120640"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React.js Frontend</a:t>
            </a:r>
            <a:endParaRPr lang="en-US" sz="1300" dirty="0"/>
          </a:p>
        </p:txBody>
      </p:sp>
      <p:sp>
        <p:nvSpPr>
          <p:cNvPr id="19" name="Text 14"/>
          <p:cNvSpPr/>
          <p:nvPr/>
        </p:nvSpPr>
        <p:spPr>
          <a:xfrm>
            <a:off x="6492240" y="2258568"/>
            <a:ext cx="5120640" cy="274320"/>
          </a:xfrm>
          <a:prstGeom prst="rect">
            <a:avLst/>
          </a:prstGeom>
          <a:noFill/>
          <a:ln/>
        </p:spPr>
        <p:txBody>
          <a:bodyPr wrap="square" lIns="0" tIns="0" rIns="0" bIns="0" rtlCol="0" anchor="ctr"/>
          <a:lstStyle/>
          <a:p>
            <a:pPr marL="0" indent="0" algn="ctr">
              <a:buNone/>
            </a:pPr>
            <a:r>
              <a:rPr lang="en-US" sz="1400" dirty="0">
                <a:solidFill>
                  <a:srgbClr val="6B7488"/>
                </a:solidFill>
                <a:latin typeface="Calibri" pitchFamily="34" charset="0"/>
                <a:ea typeface="Calibri" pitchFamily="34" charset="-122"/>
                <a:cs typeface="Calibri" pitchFamily="34" charset="-120"/>
              </a:rPr>
              <a:t>↓</a:t>
            </a:r>
            <a:endParaRPr lang="en-US" sz="1400" dirty="0"/>
          </a:p>
        </p:txBody>
      </p:sp>
      <p:sp>
        <p:nvSpPr>
          <p:cNvPr id="20" name="Shape 15"/>
          <p:cNvSpPr/>
          <p:nvPr/>
        </p:nvSpPr>
        <p:spPr>
          <a:xfrm>
            <a:off x="6492240" y="2532888"/>
            <a:ext cx="5120640" cy="566928"/>
          </a:xfrm>
          <a:prstGeom prst="rect">
            <a:avLst/>
          </a:prstGeom>
          <a:solidFill>
            <a:srgbClr val="EEF3FC"/>
          </a:solidFill>
          <a:ln w="12700">
            <a:solidFill>
              <a:srgbClr val="B9C6E8"/>
            </a:solidFill>
            <a:prstDash val="solid"/>
          </a:ln>
        </p:spPr>
      </p:sp>
      <p:sp>
        <p:nvSpPr>
          <p:cNvPr id="21" name="Text 16"/>
          <p:cNvSpPr/>
          <p:nvPr/>
        </p:nvSpPr>
        <p:spPr>
          <a:xfrm>
            <a:off x="6492240" y="2532888"/>
            <a:ext cx="5120640" cy="566928"/>
          </a:xfrm>
          <a:prstGeom prst="rect">
            <a:avLst/>
          </a:prstGeom>
          <a:noFill/>
          <a:ln/>
        </p:spPr>
        <p:txBody>
          <a:bodyPr wrap="square" lIns="0" tIns="0" rIns="0" bIns="0" rtlCol="0" anchor="ctr"/>
          <a:lstStyle/>
          <a:p>
            <a:pPr marL="0" indent="0" algn="ctr">
              <a:buNone/>
            </a:pPr>
            <a:r>
              <a:rPr lang="en-US" sz="1200" dirty="0">
                <a:solidFill>
                  <a:srgbClr val="1E2761"/>
                </a:solidFill>
                <a:latin typeface="Calibri" pitchFamily="34" charset="0"/>
                <a:ea typeface="Calibri" pitchFamily="34" charset="-122"/>
                <a:cs typeface="Calibri" pitchFamily="34" charset="-120"/>
              </a:rPr>
              <a:t>REST API</a:t>
            </a:r>
            <a:endParaRPr lang="en-US" sz="1200" dirty="0"/>
          </a:p>
        </p:txBody>
      </p:sp>
      <p:sp>
        <p:nvSpPr>
          <p:cNvPr id="22" name="Text 17"/>
          <p:cNvSpPr/>
          <p:nvPr/>
        </p:nvSpPr>
        <p:spPr>
          <a:xfrm>
            <a:off x="6492240" y="3099816"/>
            <a:ext cx="5120640" cy="274320"/>
          </a:xfrm>
          <a:prstGeom prst="rect">
            <a:avLst/>
          </a:prstGeom>
          <a:noFill/>
          <a:ln/>
        </p:spPr>
        <p:txBody>
          <a:bodyPr wrap="square" lIns="0" tIns="0" rIns="0" bIns="0" rtlCol="0" anchor="ctr"/>
          <a:lstStyle/>
          <a:p>
            <a:pPr marL="0" indent="0" algn="ctr">
              <a:buNone/>
            </a:pPr>
            <a:r>
              <a:rPr lang="en-US" sz="1400" dirty="0">
                <a:solidFill>
                  <a:srgbClr val="6B7488"/>
                </a:solidFill>
                <a:latin typeface="Calibri" pitchFamily="34" charset="0"/>
                <a:ea typeface="Calibri" pitchFamily="34" charset="-122"/>
                <a:cs typeface="Calibri" pitchFamily="34" charset="-120"/>
              </a:rPr>
              <a:t>↓</a:t>
            </a:r>
            <a:endParaRPr lang="en-US" sz="1400" dirty="0"/>
          </a:p>
        </p:txBody>
      </p:sp>
      <p:sp>
        <p:nvSpPr>
          <p:cNvPr id="23" name="Shape 18"/>
          <p:cNvSpPr/>
          <p:nvPr/>
        </p:nvSpPr>
        <p:spPr>
          <a:xfrm>
            <a:off x="6492240" y="3374136"/>
            <a:ext cx="5120640" cy="566928"/>
          </a:xfrm>
          <a:prstGeom prst="rect">
            <a:avLst/>
          </a:prstGeom>
          <a:solidFill>
            <a:srgbClr val="1E2761"/>
          </a:solidFill>
          <a:ln/>
        </p:spPr>
      </p:sp>
      <p:sp>
        <p:nvSpPr>
          <p:cNvPr id="24" name="Text 19"/>
          <p:cNvSpPr/>
          <p:nvPr/>
        </p:nvSpPr>
        <p:spPr>
          <a:xfrm>
            <a:off x="6492240" y="3374136"/>
            <a:ext cx="5120640"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Node.js + Express.js Backend</a:t>
            </a:r>
            <a:endParaRPr lang="en-US" sz="1300" dirty="0"/>
          </a:p>
        </p:txBody>
      </p:sp>
      <p:sp>
        <p:nvSpPr>
          <p:cNvPr id="25" name="Text 20"/>
          <p:cNvSpPr/>
          <p:nvPr/>
        </p:nvSpPr>
        <p:spPr>
          <a:xfrm>
            <a:off x="6492240" y="3941064"/>
            <a:ext cx="5120640" cy="274320"/>
          </a:xfrm>
          <a:prstGeom prst="rect">
            <a:avLst/>
          </a:prstGeom>
          <a:noFill/>
          <a:ln/>
        </p:spPr>
        <p:txBody>
          <a:bodyPr wrap="square" lIns="0" tIns="0" rIns="0" bIns="0" rtlCol="0" anchor="ctr"/>
          <a:lstStyle/>
          <a:p>
            <a:pPr marL="0" indent="0" algn="ctr">
              <a:buNone/>
            </a:pPr>
            <a:r>
              <a:rPr lang="en-US" sz="1400" dirty="0">
                <a:solidFill>
                  <a:srgbClr val="6B7488"/>
                </a:solidFill>
                <a:latin typeface="Calibri" pitchFamily="34" charset="0"/>
                <a:ea typeface="Calibri" pitchFamily="34" charset="-122"/>
                <a:cs typeface="Calibri" pitchFamily="34" charset="-120"/>
              </a:rPr>
              <a:t>↓</a:t>
            </a:r>
            <a:endParaRPr lang="en-US" sz="1400" dirty="0"/>
          </a:p>
        </p:txBody>
      </p:sp>
      <p:sp>
        <p:nvSpPr>
          <p:cNvPr id="26" name="Shape 21"/>
          <p:cNvSpPr/>
          <p:nvPr/>
        </p:nvSpPr>
        <p:spPr>
          <a:xfrm>
            <a:off x="6492240" y="4215384"/>
            <a:ext cx="5120640" cy="566928"/>
          </a:xfrm>
          <a:prstGeom prst="rect">
            <a:avLst/>
          </a:prstGeom>
          <a:solidFill>
            <a:srgbClr val="EEF3FC"/>
          </a:solidFill>
          <a:ln w="12700">
            <a:solidFill>
              <a:srgbClr val="B9C6E8"/>
            </a:solidFill>
            <a:prstDash val="solid"/>
          </a:ln>
        </p:spPr>
      </p:sp>
      <p:sp>
        <p:nvSpPr>
          <p:cNvPr id="27" name="Text 22"/>
          <p:cNvSpPr/>
          <p:nvPr/>
        </p:nvSpPr>
        <p:spPr>
          <a:xfrm>
            <a:off x="6492240" y="4215384"/>
            <a:ext cx="5120640" cy="566928"/>
          </a:xfrm>
          <a:prstGeom prst="rect">
            <a:avLst/>
          </a:prstGeom>
          <a:noFill/>
          <a:ln/>
        </p:spPr>
        <p:txBody>
          <a:bodyPr wrap="square" lIns="0" tIns="0" rIns="0" bIns="0" rtlCol="0" anchor="ctr"/>
          <a:lstStyle/>
          <a:p>
            <a:pPr marL="0" indent="0" algn="ctr">
              <a:buNone/>
            </a:pPr>
            <a:r>
              <a:rPr lang="en-US" sz="1200" dirty="0">
                <a:solidFill>
                  <a:srgbClr val="1E2761"/>
                </a:solidFill>
                <a:latin typeface="Calibri" pitchFamily="34" charset="0"/>
                <a:ea typeface="Calibri" pitchFamily="34" charset="-122"/>
                <a:cs typeface="Calibri" pitchFamily="34" charset="-120"/>
              </a:rPr>
              <a:t>Mongoose</a:t>
            </a:r>
            <a:endParaRPr lang="en-US" sz="1200" dirty="0"/>
          </a:p>
        </p:txBody>
      </p:sp>
      <p:sp>
        <p:nvSpPr>
          <p:cNvPr id="28" name="Text 23"/>
          <p:cNvSpPr/>
          <p:nvPr/>
        </p:nvSpPr>
        <p:spPr>
          <a:xfrm>
            <a:off x="6492240" y="4782312"/>
            <a:ext cx="5120640" cy="274320"/>
          </a:xfrm>
          <a:prstGeom prst="rect">
            <a:avLst/>
          </a:prstGeom>
          <a:noFill/>
          <a:ln/>
        </p:spPr>
        <p:txBody>
          <a:bodyPr wrap="square" lIns="0" tIns="0" rIns="0" bIns="0" rtlCol="0" anchor="ctr"/>
          <a:lstStyle/>
          <a:p>
            <a:pPr marL="0" indent="0" algn="ctr">
              <a:buNone/>
            </a:pPr>
            <a:r>
              <a:rPr lang="en-US" sz="1400" dirty="0">
                <a:solidFill>
                  <a:srgbClr val="6B7488"/>
                </a:solidFill>
                <a:latin typeface="Calibri" pitchFamily="34" charset="0"/>
                <a:ea typeface="Calibri" pitchFamily="34" charset="-122"/>
                <a:cs typeface="Calibri" pitchFamily="34" charset="-120"/>
              </a:rPr>
              <a:t>↓</a:t>
            </a:r>
            <a:endParaRPr lang="en-US" sz="1400" dirty="0"/>
          </a:p>
        </p:txBody>
      </p:sp>
      <p:sp>
        <p:nvSpPr>
          <p:cNvPr id="29" name="Shape 24"/>
          <p:cNvSpPr/>
          <p:nvPr/>
        </p:nvSpPr>
        <p:spPr>
          <a:xfrm>
            <a:off x="6492240" y="5056632"/>
            <a:ext cx="5120640" cy="566928"/>
          </a:xfrm>
          <a:prstGeom prst="rect">
            <a:avLst/>
          </a:prstGeom>
          <a:solidFill>
            <a:srgbClr val="1E2761"/>
          </a:solidFill>
          <a:ln/>
        </p:spPr>
      </p:sp>
      <p:sp>
        <p:nvSpPr>
          <p:cNvPr id="30" name="Text 25"/>
          <p:cNvSpPr/>
          <p:nvPr/>
        </p:nvSpPr>
        <p:spPr>
          <a:xfrm>
            <a:off x="6492240" y="5056632"/>
            <a:ext cx="5120640"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MongoDB Database</a:t>
            </a:r>
            <a:endParaRPr lang="en-US" sz="1300" dirty="0"/>
          </a:p>
        </p:txBody>
      </p:sp>
      <p:sp>
        <p:nvSpPr>
          <p:cNvPr id="31" name="Text 26"/>
          <p:cNvSpPr/>
          <p:nvPr/>
        </p:nvSpPr>
        <p:spPr>
          <a:xfrm>
            <a:off x="548640" y="5989320"/>
            <a:ext cx="11091672" cy="365760"/>
          </a:xfrm>
          <a:prstGeom prst="rect">
            <a:avLst/>
          </a:prstGeom>
          <a:noFill/>
          <a:ln/>
        </p:spPr>
        <p:txBody>
          <a:bodyPr wrap="square" lIns="0" tIns="0" rIns="0" bIns="0" rtlCol="0" anchor="ctr"/>
          <a:lstStyle/>
          <a:p>
            <a:pPr marL="0" indent="0">
              <a:buNone/>
            </a:pPr>
            <a:r>
              <a:rPr lang="en-US" sz="1050" i="1" dirty="0">
                <a:solidFill>
                  <a:srgbClr val="6B7488"/>
                </a:solidFill>
                <a:latin typeface="Calibri" pitchFamily="34" charset="0"/>
                <a:ea typeface="Calibri" pitchFamily="34" charset="-122"/>
                <a:cs typeface="Calibri" pitchFamily="34" charset="-120"/>
              </a:rPr>
              <a:t>Assumption: the platform follows the MERN stack (MongoDB, Express.js, React.js, Node.js), consistent with the department's full-stack project guidelines.</a:t>
            </a:r>
            <a:endParaRPr lang="en-US" sz="1050" dirty="0"/>
          </a:p>
        </p:txBody>
      </p:sp>
      <p:sp>
        <p:nvSpPr>
          <p:cNvPr id="32" name="Text 27"/>
          <p:cNvSpPr/>
          <p:nvPr/>
        </p:nvSpPr>
        <p:spPr>
          <a:xfrm>
            <a:off x="457200" y="6547104"/>
            <a:ext cx="3657600" cy="274320"/>
          </a:xfrm>
          <a:prstGeom prst="rect">
            <a:avLst/>
          </a:prstGeom>
          <a:noFill/>
          <a:ln/>
        </p:spPr>
        <p:txBody>
          <a:bodyPr wrap="square" lIns="0" tIns="0" rIns="0" bIns="0" rtlCol="0" anchor="ctr"/>
          <a:lstStyle/>
          <a:p>
            <a:pPr marL="0" indent="0" algn="l">
              <a:buNone/>
            </a:pPr>
            <a:r>
              <a:rPr lang="en-US" sz="900" dirty="0">
                <a:solidFill>
                  <a:srgbClr val="6B7488"/>
                </a:solidFill>
                <a:latin typeface="Calibri" pitchFamily="34" charset="0"/>
                <a:ea typeface="Calibri" pitchFamily="34" charset="-122"/>
                <a:cs typeface="Calibri" pitchFamily="34" charset="-120"/>
              </a:rPr>
              <a:t>VENDORFLOW</a:t>
            </a:r>
            <a:endParaRPr lang="en-US" sz="900" dirty="0"/>
          </a:p>
        </p:txBody>
      </p:sp>
      <p:sp>
        <p:nvSpPr>
          <p:cNvPr id="33" name="Text 28"/>
          <p:cNvSpPr/>
          <p:nvPr/>
        </p:nvSpPr>
        <p:spPr>
          <a:xfrm>
            <a:off x="11274552" y="6547104"/>
            <a:ext cx="457200" cy="274320"/>
          </a:xfrm>
          <a:prstGeom prst="rect">
            <a:avLst/>
          </a:prstGeom>
          <a:noFill/>
          <a:ln/>
        </p:spPr>
        <p:txBody>
          <a:bodyPr wrap="square" lIns="0" tIns="0" rIns="0" bIns="0" rtlCol="0" anchor="ctr"/>
          <a:lstStyle/>
          <a:p>
            <a:pPr marL="0" indent="0" algn="r">
              <a:buNone/>
            </a:pPr>
            <a:r>
              <a:rPr lang="en-US" sz="900" dirty="0">
                <a:solidFill>
                  <a:srgbClr val="6B748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463040" y="-1645920"/>
            <a:ext cx="3840480" cy="3840480"/>
          </a:xfrm>
          <a:prstGeom prst="ellipse">
            <a:avLst/>
          </a:prstGeom>
          <a:solidFill>
            <a:srgbClr val="12173E"/>
          </a:solidFill>
          <a:ln/>
        </p:spPr>
      </p:sp>
      <p:sp>
        <p:nvSpPr>
          <p:cNvPr id="3" name="Shape 1"/>
          <p:cNvSpPr/>
          <p:nvPr/>
        </p:nvSpPr>
        <p:spPr>
          <a:xfrm>
            <a:off x="9875520" y="5120640"/>
            <a:ext cx="3108960" cy="3108960"/>
          </a:xfrm>
          <a:prstGeom prst="ellipse">
            <a:avLst/>
          </a:prstGeom>
          <a:solidFill>
            <a:srgbClr val="12173E"/>
          </a:solidFill>
          <a:ln/>
        </p:spPr>
      </p:sp>
      <p:sp>
        <p:nvSpPr>
          <p:cNvPr id="4" name="Text 2"/>
          <p:cNvSpPr/>
          <p:nvPr/>
        </p:nvSpPr>
        <p:spPr>
          <a:xfrm>
            <a:off x="548640" y="457200"/>
            <a:ext cx="105156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Expected Outcome &amp; Conclusion</a:t>
            </a:r>
            <a:endParaRPr lang="en-US" sz="3200" dirty="0"/>
          </a:p>
        </p:txBody>
      </p:sp>
      <p:sp>
        <p:nvSpPr>
          <p:cNvPr id="5" name="Text 3"/>
          <p:cNvSpPr/>
          <p:nvPr/>
        </p:nvSpPr>
        <p:spPr>
          <a:xfrm>
            <a:off x="548640" y="1417320"/>
            <a:ext cx="10881360" cy="320040"/>
          </a:xfrm>
          <a:prstGeom prst="rect">
            <a:avLst/>
          </a:prstGeom>
          <a:noFill/>
          <a:ln/>
        </p:spPr>
        <p:txBody>
          <a:bodyPr wrap="square" lIns="0" tIns="0" rIns="0" bIns="0" rtlCol="0" anchor="ctr"/>
          <a:lstStyle/>
          <a:p>
            <a:pPr marL="0" indent="0">
              <a:buNone/>
            </a:pPr>
            <a:r>
              <a:rPr lang="en-US" sz="1300" b="1" kern="0" spc="100" dirty="0">
                <a:solidFill>
                  <a:srgbClr val="E8C77A"/>
                </a:solidFill>
                <a:latin typeface="Calibri" pitchFamily="34" charset="0"/>
                <a:ea typeface="Calibri" pitchFamily="34" charset="-122"/>
                <a:cs typeface="Calibri" pitchFamily="34" charset="-120"/>
              </a:rPr>
              <a:t>EXPECTED OUTCOME</a:t>
            </a:r>
            <a:endParaRPr lang="en-US" sz="1300" dirty="0"/>
          </a:p>
        </p:txBody>
      </p:sp>
      <p:sp>
        <p:nvSpPr>
          <p:cNvPr id="6" name="Text 4"/>
          <p:cNvSpPr/>
          <p:nvPr/>
        </p:nvSpPr>
        <p:spPr>
          <a:xfrm>
            <a:off x="548640" y="1783080"/>
            <a:ext cx="10881360" cy="1371600"/>
          </a:xfrm>
          <a:prstGeom prst="rect">
            <a:avLst/>
          </a:prstGeom>
          <a:noFill/>
          <a:ln/>
        </p:spPr>
        <p:txBody>
          <a:bodyPr wrap="square" lIns="0" tIns="0" rIns="0" bIns="0" rtlCol="0" anchor="ctr"/>
          <a:lstStyle/>
          <a:p>
            <a:pPr marL="0" indent="0">
              <a:lnSpc>
                <a:spcPct val="135000"/>
              </a:lnSpc>
              <a:buNone/>
            </a:pPr>
            <a:r>
              <a:rPr lang="en-US" sz="1450" dirty="0">
                <a:solidFill>
                  <a:srgbClr val="D9DEF2"/>
                </a:solidFill>
                <a:latin typeface="Calibri" pitchFamily="34" charset="0"/>
                <a:ea typeface="Calibri" pitchFamily="34" charset="-122"/>
                <a:cs typeface="Calibri" pitchFamily="34" charset="-120"/>
              </a:rPr>
              <a:t>VENDORFLOW is expected to provide a structured digital platform for managing vendor onboarding, procurement, and performance evaluation. It will enable faster vendor verification, streamlined purchase order tracking, and objective performance assessment — reducing manual effort while improving transparency.</a:t>
            </a:r>
            <a:endParaRPr lang="en-US" sz="1450" dirty="0"/>
          </a:p>
        </p:txBody>
      </p:sp>
      <p:sp>
        <p:nvSpPr>
          <p:cNvPr id="7" name="Text 5"/>
          <p:cNvSpPr/>
          <p:nvPr/>
        </p:nvSpPr>
        <p:spPr>
          <a:xfrm>
            <a:off x="548640" y="3337560"/>
            <a:ext cx="10881360" cy="320040"/>
          </a:xfrm>
          <a:prstGeom prst="rect">
            <a:avLst/>
          </a:prstGeom>
          <a:noFill/>
          <a:ln/>
        </p:spPr>
        <p:txBody>
          <a:bodyPr wrap="square" lIns="0" tIns="0" rIns="0" bIns="0" rtlCol="0" anchor="ctr"/>
          <a:lstStyle/>
          <a:p>
            <a:pPr marL="0" indent="0">
              <a:buNone/>
            </a:pPr>
            <a:r>
              <a:rPr lang="en-US" sz="1300" b="1" kern="0" spc="100" dirty="0">
                <a:solidFill>
                  <a:srgbClr val="E8C77A"/>
                </a:solidFill>
                <a:latin typeface="Calibri" pitchFamily="34" charset="0"/>
                <a:ea typeface="Calibri" pitchFamily="34" charset="-122"/>
                <a:cs typeface="Calibri" pitchFamily="34" charset="-120"/>
              </a:rPr>
              <a:t>CONCLUSION</a:t>
            </a:r>
            <a:endParaRPr lang="en-US" sz="1300" dirty="0"/>
          </a:p>
        </p:txBody>
      </p:sp>
      <p:sp>
        <p:nvSpPr>
          <p:cNvPr id="8" name="Text 6"/>
          <p:cNvSpPr/>
          <p:nvPr/>
        </p:nvSpPr>
        <p:spPr>
          <a:xfrm>
            <a:off x="548640" y="3703320"/>
            <a:ext cx="10881360" cy="1371600"/>
          </a:xfrm>
          <a:prstGeom prst="rect">
            <a:avLst/>
          </a:prstGeom>
          <a:noFill/>
          <a:ln/>
        </p:spPr>
        <p:txBody>
          <a:bodyPr wrap="square" lIns="0" tIns="0" rIns="0" bIns="0" rtlCol="0" anchor="ctr"/>
          <a:lstStyle/>
          <a:p>
            <a:pPr marL="0" indent="0">
              <a:lnSpc>
                <a:spcPct val="135000"/>
              </a:lnSpc>
              <a:buNone/>
            </a:pPr>
            <a:r>
              <a:rPr lang="en-US" sz="1450" dirty="0">
                <a:solidFill>
                  <a:srgbClr val="D9DEF2"/>
                </a:solidFill>
                <a:latin typeface="Calibri" pitchFamily="34" charset="0"/>
                <a:ea typeface="Calibri" pitchFamily="34" charset="-122"/>
                <a:cs typeface="Calibri" pitchFamily="34" charset="-120"/>
              </a:rPr>
              <a:t>VENDORFLOW aims to transform vendor management into a centralized digital system, integrating vendor onboarding, procurement, and performance evaluation within a single platform. Built on the MERN stack, it delivers a scalable solution that improves procurement efficiency and vendor accountability.</a:t>
            </a:r>
            <a:endParaRPr lang="en-US" sz="1450" dirty="0"/>
          </a:p>
        </p:txBody>
      </p:sp>
      <p:sp>
        <p:nvSpPr>
          <p:cNvPr id="9" name="Shape 7"/>
          <p:cNvSpPr/>
          <p:nvPr/>
        </p:nvSpPr>
        <p:spPr>
          <a:xfrm>
            <a:off x="548640" y="5349240"/>
            <a:ext cx="11091672" cy="914400"/>
          </a:xfrm>
          <a:prstGeom prst="rect">
            <a:avLst/>
          </a:prstGeom>
          <a:solidFill>
            <a:srgbClr val="12173E"/>
          </a:solidFill>
          <a:ln/>
        </p:spPr>
      </p:sp>
      <p:sp>
        <p:nvSpPr>
          <p:cNvPr id="10" name="Text 8"/>
          <p:cNvSpPr/>
          <p:nvPr/>
        </p:nvSpPr>
        <p:spPr>
          <a:xfrm>
            <a:off x="548640" y="5468112"/>
            <a:ext cx="11091672"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VENDORFLOW</a:t>
            </a:r>
            <a:endParaRPr lang="en-US" sz="1800" dirty="0"/>
          </a:p>
        </p:txBody>
      </p:sp>
      <p:sp>
        <p:nvSpPr>
          <p:cNvPr id="11" name="Text 9"/>
          <p:cNvSpPr/>
          <p:nvPr/>
        </p:nvSpPr>
        <p:spPr>
          <a:xfrm>
            <a:off x="548640" y="5833872"/>
            <a:ext cx="11091672" cy="320040"/>
          </a:xfrm>
          <a:prstGeom prst="rect">
            <a:avLst/>
          </a:prstGeom>
          <a:noFill/>
          <a:ln/>
        </p:spPr>
        <p:txBody>
          <a:bodyPr wrap="square" lIns="0" tIns="0" rIns="0" bIns="0" rtlCol="0" anchor="ctr"/>
          <a:lstStyle/>
          <a:p>
            <a:pPr marL="0" indent="0" algn="ctr">
              <a:buNone/>
            </a:pPr>
            <a:r>
              <a:rPr lang="en-US" sz="1200" i="1" dirty="0">
                <a:solidFill>
                  <a:srgbClr val="E8C77A"/>
                </a:solidFill>
                <a:latin typeface="Calibri" pitchFamily="34" charset="0"/>
                <a:ea typeface="Calibri" pitchFamily="34" charset="-122"/>
                <a:cs typeface="Calibri" pitchFamily="34" charset="-120"/>
              </a:rPr>
              <a:t>"From Vendor Registration to Verified Performance."</a:t>
            </a:r>
            <a:endParaRPr lang="en-US" sz="1200" dirty="0"/>
          </a:p>
        </p:txBody>
      </p:sp>
      <p:sp>
        <p:nvSpPr>
          <p:cNvPr id="12" name="Text 10"/>
          <p:cNvSpPr/>
          <p:nvPr/>
        </p:nvSpPr>
        <p:spPr>
          <a:xfrm>
            <a:off x="457200" y="6547104"/>
            <a:ext cx="3657600" cy="274320"/>
          </a:xfrm>
          <a:prstGeom prst="rect">
            <a:avLst/>
          </a:prstGeom>
          <a:noFill/>
          <a:ln/>
        </p:spPr>
        <p:txBody>
          <a:bodyPr wrap="square" lIns="0" tIns="0" rIns="0" bIns="0" rtlCol="0" anchor="ctr"/>
          <a:lstStyle/>
          <a:p>
            <a:pPr marL="0" indent="0" algn="l">
              <a:buNone/>
            </a:pPr>
            <a:r>
              <a:rPr lang="en-US" sz="900" dirty="0">
                <a:solidFill>
                  <a:srgbClr val="8B93B0"/>
                </a:solidFill>
                <a:latin typeface="Calibri" pitchFamily="34" charset="0"/>
                <a:ea typeface="Calibri" pitchFamily="34" charset="-122"/>
                <a:cs typeface="Calibri" pitchFamily="34" charset="-120"/>
              </a:rPr>
              <a:t>VENDORFLOW</a:t>
            </a:r>
            <a:endParaRPr lang="en-US" sz="900" dirty="0"/>
          </a:p>
        </p:txBody>
      </p:sp>
      <p:sp>
        <p:nvSpPr>
          <p:cNvPr id="13" name="Text 11"/>
          <p:cNvSpPr/>
          <p:nvPr/>
        </p:nvSpPr>
        <p:spPr>
          <a:xfrm>
            <a:off x="11274552" y="6547104"/>
            <a:ext cx="457200" cy="274320"/>
          </a:xfrm>
          <a:prstGeom prst="rect">
            <a:avLst/>
          </a:prstGeom>
          <a:noFill/>
          <a:ln/>
        </p:spPr>
        <p:txBody>
          <a:bodyPr wrap="square" lIns="0" tIns="0" rIns="0" bIns="0" rtlCol="0" anchor="ctr"/>
          <a:lstStyle/>
          <a:p>
            <a:pPr marL="0" indent="0" algn="r">
              <a:buNone/>
            </a:pPr>
            <a:r>
              <a:rPr lang="en-US" sz="900" dirty="0">
                <a:solidFill>
                  <a:srgbClr val="8B93B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693</TotalTime>
  <Words>836</Words>
  <Application>Microsoft Office PowerPoint</Application>
  <PresentationFormat>Widescreen</PresentationFormat>
  <Paragraphs>169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THANESH S</cp:lastModifiedBy>
  <cp:revision>4</cp:revision>
  <dcterms:created xsi:type="dcterms:W3CDTF">2026-09-13T14:14:23Z</dcterms:created>
  <dcterms:modified xsi:type="dcterms:W3CDTF">2026-09-15T05:42:40Z</dcterms:modified>
</cp:coreProperties>
</file>