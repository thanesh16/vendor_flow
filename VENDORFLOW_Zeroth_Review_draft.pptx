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2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0.png"/><Relationship Id="rId5" Type="http://schemas.openxmlformats.org/officeDocument/2006/relationships/image" Target="../media/image12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3" name="Shape 1"/>
          <p:cNvSpPr/>
          <p:nvPr/>
        </p:nvSpPr>
        <p:spPr>
          <a:xfrm>
            <a:off x="4517136" y="0"/>
            <a:ext cx="54864" cy="685800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822960"/>
            <a:ext cx="1645920" cy="27432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822960"/>
            <a:ext cx="640080" cy="118872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097280"/>
            <a:ext cx="457200" cy="128016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1828800" cy="36576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7440"/>
            <a:ext cx="731520" cy="118872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377440"/>
            <a:ext cx="914400" cy="155448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931920"/>
            <a:ext cx="1188720" cy="54864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566160"/>
            <a:ext cx="548640" cy="155448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931920"/>
            <a:ext cx="548640" cy="173736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1024128"/>
            <a:ext cx="146304" cy="146304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777240"/>
            <a:ext cx="91440" cy="91440"/>
          </a:xfrm>
          <a:prstGeom prst="ellipse">
            <a:avLst/>
          </a:prstGeom>
          <a:solidFill>
            <a:srgbClr val="4A559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965960"/>
            <a:ext cx="91440" cy="91440"/>
          </a:xfrm>
          <a:prstGeom prst="ellipse">
            <a:avLst/>
          </a:prstGeom>
          <a:solidFill>
            <a:srgbClr val="4A559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304288"/>
            <a:ext cx="146304" cy="146304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520440"/>
            <a:ext cx="91440" cy="91440"/>
          </a:xfrm>
          <a:prstGeom prst="ellipse">
            <a:avLst/>
          </a:prstGeom>
          <a:solidFill>
            <a:srgbClr val="4A55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331720" y="3886200"/>
            <a:ext cx="91440" cy="91440"/>
          </a:xfrm>
          <a:prstGeom prst="ellipse">
            <a:avLst/>
          </a:prstGeom>
          <a:solidFill>
            <a:srgbClr val="4A5590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3008" y="4407408"/>
            <a:ext cx="146304" cy="146304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4440" y="5074920"/>
            <a:ext cx="91440" cy="91440"/>
          </a:xfrm>
          <a:prstGeom prst="ellipse">
            <a:avLst/>
          </a:prstGeom>
          <a:solidFill>
            <a:srgbClr val="4A55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880360" y="5623560"/>
            <a:ext cx="91440" cy="91440"/>
          </a:xfrm>
          <a:prstGeom prst="ellipse">
            <a:avLst/>
          </a:prstGeom>
          <a:solidFill>
            <a:srgbClr val="4A559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806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6236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E9B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 MANAGEMENT SYSTEM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96000" y="3698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FULL STACK DEVELOPMENT PROJECT  ·  MERN STACK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0" y="161645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Centralized Platform for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200904" y="212750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Management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5200904" y="2885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60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Onboarding</a:t>
            </a:r>
            <a:r>
              <a:rPr lang="en-US" sz="1400" dirty="0">
                <a:solidFill>
                  <a:srgbClr val="1D24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 ·  Procurement  ·  </a:t>
            </a:r>
            <a:r>
              <a:rPr lang="en-US" sz="1400" b="1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00904" y="337159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brings vendor onboarding, purchase orders, and performance evaluation into one connected digital platform — from first request to final delivery.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00904" y="448157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DEPARTMENT / COLLEGE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00904" y="4790440"/>
            <a:ext cx="6035040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 Science and Engineering ,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Easwari Engineering College  , Chennai - 89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12080" y="5301488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STUDENT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5543550"/>
            <a:ext cx="6035040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Thanesh</a:t>
            </a:r>
            <a:r>
              <a:rPr lang="en-US" sz="11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 No : 310624104353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00904" y="608482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GUIDE / TRAINER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63225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D2440"/>
                </a:solidFill>
                <a:latin typeface="Poppins" pitchFamily="34" charset="0"/>
                <a:cs typeface="Poppins" pitchFamily="34" charset="-120"/>
              </a:rPr>
              <a:t>Mrs</a:t>
            </a:r>
            <a:r>
              <a:rPr lang="en-US" sz="1150" dirty="0">
                <a:solidFill>
                  <a:srgbClr val="1D2440"/>
                </a:solidFill>
                <a:latin typeface="Poppins" pitchFamily="34" charset="0"/>
                <a:cs typeface="Poppins" pitchFamily="34" charset="-120"/>
              </a:rPr>
              <a:t> . Swapna </a:t>
            </a:r>
            <a:r>
              <a:rPr lang="en-US" sz="1150" dirty="0" err="1">
                <a:solidFill>
                  <a:srgbClr val="1D2440"/>
                </a:solidFill>
                <a:latin typeface="Poppins" pitchFamily="34" charset="0"/>
                <a:cs typeface="Poppins" pitchFamily="34" charset="-120"/>
              </a:rPr>
              <a:t>Duggi</a:t>
            </a:r>
            <a:endParaRPr lang="en-US" sz="1150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61527EFD-9E9C-273A-F54A-0EBA6E2E82F1}"/>
              </a:ext>
            </a:extLst>
          </p:cNvPr>
          <p:cNvSpPr/>
          <p:nvPr/>
        </p:nvSpPr>
        <p:spPr>
          <a:xfrm>
            <a:off x="7377176" y="949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60F0"/>
                </a:solidFill>
                <a:latin typeface="Poppins Medium" pitchFamily="34" charset="0"/>
                <a:cs typeface="Poppins Medium" pitchFamily="34" charset="-120"/>
              </a:rPr>
              <a:t>Zeroth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— Zero-th Project Review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8196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193A"/>
          </a:solidFill>
          <a:ln/>
        </p:spPr>
      </p:sp>
      <p:pic>
        <p:nvPicPr>
          <p:cNvPr id="6" name="Image 0" descr="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8836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002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18196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193A"/>
          </a:solidFill>
          <a:ln/>
        </p:spPr>
      </p:sp>
      <p:pic>
        <p:nvPicPr>
          <p:cNvPr id="11" name="Image 1" descr="icons/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8836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647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13232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" y="2551176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24128" y="26791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860F0"/>
          </a:solidFill>
          <a:ln/>
        </p:spPr>
      </p:sp>
      <p:pic>
        <p:nvPicPr>
          <p:cNvPr id="16" name="Image 2" descr="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27432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624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1600200" y="2843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55080" y="2551176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26791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860F0"/>
          </a:solidFill>
          <a:ln/>
        </p:spPr>
      </p:sp>
      <p:pic>
        <p:nvPicPr>
          <p:cNvPr id="21" name="Image 3" descr="icons/us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274320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2624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132320" y="2843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22960" y="3410712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128" y="35387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C5CFC"/>
          </a:solidFill>
          <a:ln/>
        </p:spPr>
      </p:sp>
      <p:pic>
        <p:nvPicPr>
          <p:cNvPr id="26" name="Image 4" descr="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360273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4838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60020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355080" y="3410712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56248" y="35387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7C5CFC"/>
          </a:solidFill>
          <a:ln/>
        </p:spPr>
      </p:sp>
      <p:pic>
        <p:nvPicPr>
          <p:cNvPr id="31" name="Image 5" descr="icons/arrowr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360273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34838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06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713232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Workflow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22960" y="4270248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4128" y="439826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E9BFA"/>
          </a:solidFill>
          <a:ln/>
        </p:spPr>
      </p:sp>
      <p:pic>
        <p:nvPicPr>
          <p:cNvPr id="36" name="Image 6" descr="icons/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" y="4462272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43434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07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1600200" y="4562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Matching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6355080" y="4270248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556248" y="439826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E9BFA"/>
          </a:solidFill>
          <a:ln/>
        </p:spPr>
      </p:sp>
      <p:pic>
        <p:nvPicPr>
          <p:cNvPr id="41" name="Image 7" descr="icons/st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0256" y="4462272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32320" y="43434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08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7132320" y="4562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Catalog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822960" y="5129784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1024128" y="5257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193A"/>
          </a:solidFill>
          <a:ln/>
        </p:spPr>
      </p:sp>
      <p:pic>
        <p:nvPicPr>
          <p:cNvPr id="46" name="Image 8" descr="icons/rea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136" y="5321808"/>
            <a:ext cx="329184" cy="3291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600200" y="5202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09</a:t>
            </a:r>
            <a:endParaRPr lang="en-US" sz="950" dirty="0"/>
          </a:p>
        </p:txBody>
      </p:sp>
      <p:sp>
        <p:nvSpPr>
          <p:cNvPr id="48" name="Text 37"/>
          <p:cNvSpPr/>
          <p:nvPr/>
        </p:nvSpPr>
        <p:spPr>
          <a:xfrm>
            <a:off x="1600200" y="5422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49" name="Shape 38"/>
          <p:cNvSpPr/>
          <p:nvPr/>
        </p:nvSpPr>
        <p:spPr>
          <a:xfrm>
            <a:off x="6355080" y="5129784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6556248" y="5257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193A"/>
          </a:solidFill>
          <a:ln/>
        </p:spPr>
      </p:sp>
      <p:pic>
        <p:nvPicPr>
          <p:cNvPr id="51" name="Image 9" descr="icons/chartli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0256" y="5321808"/>
            <a:ext cx="329184" cy="329184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132320" y="5202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</a:t>
            </a:r>
            <a:endParaRPr lang="en-US" sz="950" dirty="0"/>
          </a:p>
        </p:txBody>
      </p:sp>
      <p:sp>
        <p:nvSpPr>
          <p:cNvPr id="53" name="Text 41"/>
          <p:cNvSpPr/>
          <p:nvPr/>
        </p:nvSpPr>
        <p:spPr>
          <a:xfrm>
            <a:off x="7132320" y="5422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Outcome</a:t>
            </a:r>
            <a:endParaRPr lang="en-US" sz="1400" dirty="0"/>
          </a:p>
        </p:txBody>
      </p:sp>
      <p:sp>
        <p:nvSpPr>
          <p:cNvPr id="54" name="Text 42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55" name="Text 43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Organizations that work with multiple vendors typically manage onboarding paperwork, purchase orders, and performance records through emails, spreadsheets, and disconnected files — making it difficult to maintain consistent vendor data and track active orders.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is a web-based Vendor Management System that centralizes this workflow. Employees raise purchase requests, procurement staff match them to the best vendor offer, and administrators evaluate vendor performance using defined criteria — bringing the entire vendor lifecycle onto a single digital platform.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78040" y="1600200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52360" y="170992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732520" y="1801368"/>
            <a:ext cx="0" cy="804672"/>
          </a:xfrm>
          <a:prstGeom prst="line">
            <a:avLst/>
          </a:prstGeom>
          <a:noFill/>
          <a:ln w="12700">
            <a:solidFill>
              <a:srgbClr val="E4E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0" y="1600200"/>
            <a:ext cx="2286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roles unified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one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78040" y="3017520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52360" y="312724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86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732520" y="3218688"/>
            <a:ext cx="0" cy="804672"/>
          </a:xfrm>
          <a:prstGeom prst="line">
            <a:avLst/>
          </a:prstGeom>
          <a:noFill/>
          <a:ln w="12700">
            <a:solidFill>
              <a:srgbClr val="E4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3017520"/>
            <a:ext cx="2286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system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procurement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78040" y="4434840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454456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7C5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8732520" y="4636008"/>
            <a:ext cx="0" cy="804672"/>
          </a:xfrm>
          <a:prstGeom prst="line">
            <a:avLst/>
          </a:prstGeom>
          <a:noFill/>
          <a:ln w="12700">
            <a:solidFill>
              <a:srgbClr val="E4E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4434840"/>
            <a:ext cx="2286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vendor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lifecycle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9844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Businesses working with several vendors need to manage onboarding, purchase orders, and performance tracking — commonly done manually across emails, paper files, and spreadsheets, making it hard to maintain consistent records and identify reliable vendors over time.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C2410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WITHOUT VENDORFLOW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88720" y="3200400"/>
            <a:ext cx="384048" cy="384048"/>
          </a:xfrm>
          <a:prstGeom prst="ellipse">
            <a:avLst/>
          </a:prstGeom>
          <a:solidFill>
            <a:srgbClr val="F2643B"/>
          </a:solidFill>
          <a:ln/>
        </p:spPr>
      </p:sp>
      <p:pic>
        <p:nvPicPr>
          <p:cNvPr id="7" name="Image 0" descr="icons/minu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87" y="3254167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31272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records scattered across emails &amp; spreadsheets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88720" y="3950208"/>
            <a:ext cx="384048" cy="384048"/>
          </a:xfrm>
          <a:prstGeom prst="ellipse">
            <a:avLst/>
          </a:prstGeom>
          <a:solidFill>
            <a:srgbClr val="F2643B"/>
          </a:solidFill>
          <a:ln/>
        </p:spPr>
      </p:sp>
      <p:pic>
        <p:nvPicPr>
          <p:cNvPr id="10" name="Image 1" descr="icons/minu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87" y="4003975"/>
            <a:ext cx="276515" cy="2765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877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orders tracked manually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188720" y="4700016"/>
            <a:ext cx="384048" cy="384048"/>
          </a:xfrm>
          <a:prstGeom prst="ellipse">
            <a:avLst/>
          </a:prstGeom>
          <a:solidFill>
            <a:srgbClr val="F2643B"/>
          </a:solidFill>
          <a:ln/>
        </p:spPr>
      </p:sp>
      <p:pic>
        <p:nvPicPr>
          <p:cNvPr id="13" name="Image 2" descr="icons/minu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87" y="4753783"/>
            <a:ext cx="276515" cy="2765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46268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standard way to evaluate vendor performance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188720" y="5449824"/>
            <a:ext cx="384048" cy="384048"/>
          </a:xfrm>
          <a:prstGeom prst="ellipse">
            <a:avLst/>
          </a:prstGeom>
          <a:solidFill>
            <a:srgbClr val="F2643B"/>
          </a:solidFill>
          <a:ln/>
        </p:spPr>
      </p:sp>
      <p:pic>
        <p:nvPicPr>
          <p:cNvPr id="16" name="Image 3" descr="icons/minu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87" y="5503591"/>
            <a:ext cx="276515" cy="276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37360" y="53766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Slow, inconsistent procurement decisions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217920" y="2286000"/>
            <a:ext cx="5120640" cy="3977640"/>
          </a:xfrm>
          <a:prstGeom prst="roundRect">
            <a:avLst>
              <a:gd name="adj" fmla="val 3218"/>
            </a:avLst>
          </a:prstGeom>
          <a:solidFill>
            <a:srgbClr val="10193A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58368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6E9B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WITH VENDORFLOW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583680" y="3200400"/>
            <a:ext cx="384048" cy="384048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21" name="Image 4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447" y="3254167"/>
            <a:ext cx="276515" cy="2765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0" y="31272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B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Centralized, structured digital vendor records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583680" y="3950208"/>
            <a:ext cx="384048" cy="384048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24" name="Image 5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447" y="4003975"/>
            <a:ext cx="276515" cy="2765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32320" y="3877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B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orders created &amp; tracked in one place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583680" y="4700016"/>
            <a:ext cx="384048" cy="384048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27" name="Image 6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447" y="4753783"/>
            <a:ext cx="276515" cy="27651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32320" y="46268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B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Objective, criteria-based performance scoring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583680" y="5449824"/>
            <a:ext cx="384048" cy="384048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30" name="Image 7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447" y="5503591"/>
            <a:ext cx="276515" cy="276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32320" y="53766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B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Faster, more transparent procurement decisions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33" name="Text 23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connects employees, procurement staff, vendors, and admins on one structured, trackable platform.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24942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6E9BFA"/>
          </a:solidFill>
          <a:ln/>
        </p:spPr>
      </p:sp>
      <p:pic>
        <p:nvPicPr>
          <p:cNvPr id="6" name="Image 0" descr="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2339035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1965960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purchase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62856" y="1965960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4024" y="224942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3860F0"/>
          </a:solidFill>
          <a:ln/>
        </p:spPr>
      </p:sp>
      <p:pic>
        <p:nvPicPr>
          <p:cNvPr id="10" name="Image 1" descr="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635" y="2339035"/>
            <a:ext cx="460858" cy="460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50408" y="1965960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product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302752" y="1965960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03920" y="224942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93A"/>
          </a:solidFill>
          <a:ln/>
        </p:spPr>
      </p:sp>
      <p:pic>
        <p:nvPicPr>
          <p:cNvPr id="14" name="Image 2" descr="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531" y="2339035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90304" y="1965960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3374136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24128" y="36576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7C5CFC"/>
          </a:solidFill>
          <a:ln/>
        </p:spPr>
      </p:sp>
      <p:pic>
        <p:nvPicPr>
          <p:cNvPr id="18" name="Image 3" descr="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" y="3747211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10512" y="3374136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creation &amp; tracking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62856" y="3374136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64024" y="36576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3860F0"/>
          </a:solidFill>
          <a:ln/>
        </p:spPr>
      </p:sp>
      <p:pic>
        <p:nvPicPr>
          <p:cNvPr id="22" name="Image 4" descr="icons/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635" y="3747211"/>
            <a:ext cx="460858" cy="4608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50408" y="3374136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status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302752" y="3374136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503920" y="36576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7C5CFC"/>
          </a:solidFill>
          <a:ln/>
        </p:spPr>
      </p:sp>
      <p:pic>
        <p:nvPicPr>
          <p:cNvPr id="26" name="Image 5" descr="icons/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531" y="3747211"/>
            <a:ext cx="460858" cy="46085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90304" y="3374136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performance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scoring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822960" y="4782312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1024128" y="506577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93A"/>
          </a:solidFill>
          <a:ln/>
        </p:spPr>
      </p:sp>
      <p:pic>
        <p:nvPicPr>
          <p:cNvPr id="30" name="Image 6" descr="icons/sto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739" y="5155387"/>
            <a:ext cx="460858" cy="46085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810512" y="4782312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product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4562856" y="4782312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764024" y="506577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6E9BFA"/>
          </a:solidFill>
          <a:ln/>
        </p:spPr>
      </p:sp>
      <p:pic>
        <p:nvPicPr>
          <p:cNvPr id="34" name="Image 7" descr="icons/checkcirc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635" y="5155387"/>
            <a:ext cx="460858" cy="46085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550408" y="4782312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8302752" y="4782312"/>
            <a:ext cx="35204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503920" y="506577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3860F0"/>
          </a:solidFill>
          <a:ln/>
        </p:spPr>
      </p:sp>
      <p:pic>
        <p:nvPicPr>
          <p:cNvPr id="38" name="Image 8" descr="icons/chartli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3531" y="5155387"/>
            <a:ext cx="460858" cy="46085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290304" y="4782312"/>
            <a:ext cx="2350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roles, one connected platform.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03120"/>
            <a:ext cx="868680" cy="868680"/>
          </a:xfrm>
          <a:prstGeom prst="ellipse">
            <a:avLst/>
          </a:prstGeom>
          <a:solidFill>
            <a:srgbClr val="6E9BFA"/>
          </a:solidFill>
          <a:ln/>
        </p:spPr>
      </p:sp>
      <p:pic>
        <p:nvPicPr>
          <p:cNvPr id="6" name="Image 0" descr="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15" y="222473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029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19456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6E9B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Purchase Requests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300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Raises purchase requests for items or services needed to get work done.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12064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03120"/>
            <a:ext cx="868680" cy="868680"/>
          </a:xfrm>
          <a:prstGeom prst="ellipse">
            <a:avLst/>
          </a:prstGeom>
          <a:solidFill>
            <a:srgbClr val="3860F0"/>
          </a:solidFill>
          <a:ln/>
        </p:spPr>
      </p:sp>
      <p:pic>
        <p:nvPicPr>
          <p:cNvPr id="12" name="Image 1" descr="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575" y="2224735"/>
            <a:ext cx="625450" cy="625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029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 MANAGER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58952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3860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Procurement Operations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53796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Reviews requests, matches products, compares vendors, and issues purchase orders.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" y="3959352"/>
            <a:ext cx="512064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43000" y="4325112"/>
            <a:ext cx="868680" cy="86868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8" name="Image 2" descr="icons/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615" y="4446727"/>
            <a:ext cx="625450" cy="625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9456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2194560" y="4581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Products &amp; Fulfillment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3000" y="5193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Lists products, accepts or rejects orders, and fulfills approved deliveries.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17920" y="3959352"/>
            <a:ext cx="512064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37960" y="4325112"/>
            <a:ext cx="868680" cy="868680"/>
          </a:xfrm>
          <a:prstGeom prst="ellipse">
            <a:avLst/>
          </a:prstGeom>
          <a:solidFill>
            <a:srgbClr val="10193A"/>
          </a:solidFill>
          <a:ln/>
        </p:spPr>
      </p:sp>
      <p:pic>
        <p:nvPicPr>
          <p:cNvPr id="24" name="Image 3" descr="icons/usert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575" y="4446727"/>
            <a:ext cx="625450" cy="6254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8952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589520" y="4581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10193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System Supervision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537960" y="5193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Oversees users, approvals, and evaluates vendor performance platform-wide.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0193A"/>
          </a:solidFill>
          <a:ln/>
        </p:spPr>
      </p:sp>
      <p:pic>
        <p:nvPicPr>
          <p:cNvPr id="4" name="Image 0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6642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453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17320" y="17830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Digitalize vendor registration and onboarding.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16002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0193A"/>
          </a:solidFill>
          <a:ln/>
        </p:spPr>
      </p:sp>
      <p:pic>
        <p:nvPicPr>
          <p:cNvPr id="8" name="Image 1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642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5453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949440" y="17830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 employees raise purchase requests digitally.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26517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3860F0"/>
          </a:solidFill>
          <a:ln/>
        </p:spPr>
      </p:sp>
      <p:pic>
        <p:nvPicPr>
          <p:cNvPr id="12" name="Image 2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71576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5968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417320" y="28346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Automatically match requests to suitable vendor products.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55080" y="26517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3860F0"/>
          </a:solidFill>
          <a:ln/>
        </p:spPr>
      </p:sp>
      <p:pic>
        <p:nvPicPr>
          <p:cNvPr id="16" name="Image 3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71576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25968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949440" y="28346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role-based access for all four user roles.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22960" y="370332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7C5CFC"/>
          </a:solidFill>
          <a:ln/>
        </p:spPr>
      </p:sp>
      <p:pic>
        <p:nvPicPr>
          <p:cNvPr id="20" name="Image 4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76732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648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417320" y="3886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Enable digital creation and tracking of purchase orders.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355080" y="370332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7C5CFC"/>
          </a:solidFill>
          <a:ln/>
        </p:spPr>
      </p:sp>
      <p:pic>
        <p:nvPicPr>
          <p:cNvPr id="24" name="Image 5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767328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3648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6949440" y="3886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 vendor performance using defined scoring criteria.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822960" y="475488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6E9BFA"/>
          </a:solidFill>
          <a:ln/>
        </p:spPr>
      </p:sp>
      <p:pic>
        <p:nvPicPr>
          <p:cNvPr id="28" name="Image 6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81888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17320" y="47000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1417320" y="49377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 transparency in vendor selection and procurement.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355080" y="475488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6E9BFA"/>
          </a:solidFill>
          <a:ln/>
        </p:spPr>
      </p:sp>
      <p:pic>
        <p:nvPicPr>
          <p:cNvPr id="32" name="Image 7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818888"/>
            <a:ext cx="329184" cy="32918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49440" y="47000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6949440" y="49377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Reduce manual paperwork and procurement delays.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36" name="Text 26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an employee's need to a verified delivery — every stage is tracked digitally.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1560" y="1965960"/>
            <a:ext cx="777240" cy="777240"/>
          </a:xfrm>
          <a:prstGeom prst="ellipse">
            <a:avLst/>
          </a:prstGeom>
          <a:solidFill>
            <a:srgbClr val="6E9BFA"/>
          </a:solidFill>
          <a:ln/>
        </p:spPr>
      </p:sp>
      <p:pic>
        <p:nvPicPr>
          <p:cNvPr id="5" name="Image 0" descr="icons/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74" y="207477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057400" y="1920240"/>
            <a:ext cx="1085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7B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71850" y="1965960"/>
            <a:ext cx="777240" cy="777240"/>
          </a:xfrm>
          <a:prstGeom prst="ellipse">
            <a:avLst/>
          </a:prstGeom>
          <a:solidFill>
            <a:srgbClr val="6E9BFA"/>
          </a:solidFill>
          <a:ln/>
        </p:spPr>
      </p:sp>
      <p:pic>
        <p:nvPicPr>
          <p:cNvPr id="9" name="Image 1" descr="icons/file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664" y="2074774"/>
            <a:ext cx="559613" cy="559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6037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377690" y="1920240"/>
            <a:ext cx="1085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7B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692140" y="1965960"/>
            <a:ext cx="777240" cy="777240"/>
          </a:xfrm>
          <a:prstGeom prst="ellipse">
            <a:avLst/>
          </a:prstGeom>
          <a:solidFill>
            <a:srgbClr val="3860F0"/>
          </a:solidFill>
          <a:ln/>
        </p:spPr>
      </p:sp>
      <p:pic>
        <p:nvPicPr>
          <p:cNvPr id="13" name="Image 2" descr="icons/clipboard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0954" y="2074774"/>
            <a:ext cx="559613" cy="5596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066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697980" y="1920240"/>
            <a:ext cx="1085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7B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012430" y="1965960"/>
            <a:ext cx="777240" cy="777240"/>
          </a:xfrm>
          <a:prstGeom prst="ellipse">
            <a:avLst/>
          </a:prstGeom>
          <a:solidFill>
            <a:srgbClr val="3860F0"/>
          </a:solidFill>
          <a:ln/>
        </p:spPr>
      </p:sp>
      <p:pic>
        <p:nvPicPr>
          <p:cNvPr id="17" name="Image 3" descr="icons/puzz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244" y="2074774"/>
            <a:ext cx="559613" cy="5596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0095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018270" y="1920240"/>
            <a:ext cx="1085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7B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0332720" y="1965960"/>
            <a:ext cx="777240" cy="777240"/>
          </a:xfrm>
          <a:prstGeom prst="ellipse">
            <a:avLst/>
          </a:prstGeom>
          <a:solidFill>
            <a:srgbClr val="3860F0"/>
          </a:solidFill>
          <a:ln/>
        </p:spPr>
      </p:sp>
      <p:pic>
        <p:nvPicPr>
          <p:cNvPr id="21" name="Image 4" descr="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1534" y="2074774"/>
            <a:ext cx="559613" cy="5596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2124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10721340" y="3401568"/>
            <a:ext cx="0" cy="576072"/>
          </a:xfrm>
          <a:prstGeom prst="line">
            <a:avLst/>
          </a:prstGeom>
          <a:noFill/>
          <a:ln w="19050">
            <a:solidFill>
              <a:srgbClr val="B7BEE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053846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3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10332720" y="3977640"/>
            <a:ext cx="777240" cy="777240"/>
          </a:xfrm>
          <a:prstGeom prst="ellipse">
            <a:avLst/>
          </a:prstGeom>
          <a:solidFill>
            <a:srgbClr val="3860F0"/>
          </a:solidFill>
          <a:ln/>
        </p:spPr>
      </p:sp>
      <p:pic>
        <p:nvPicPr>
          <p:cNvPr id="26" name="Image 5" descr="icons/invo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1534" y="4086454"/>
            <a:ext cx="559613" cy="55961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921240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9018270" y="3931920"/>
            <a:ext cx="1085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7B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8012430" y="3977640"/>
            <a:ext cx="777240" cy="77724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30" name="Image 6" descr="icons/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1244" y="4086454"/>
            <a:ext cx="559613" cy="55961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600950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 /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697980" y="3931920"/>
            <a:ext cx="1085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7B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5692140" y="3977640"/>
            <a:ext cx="777240" cy="77724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34" name="Image 7" descr="icons/tru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0954" y="4086454"/>
            <a:ext cx="559613" cy="55961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80660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4377690" y="3931920"/>
            <a:ext cx="1085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7B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37" name="Shape 27"/>
          <p:cNvSpPr/>
          <p:nvPr/>
        </p:nvSpPr>
        <p:spPr>
          <a:xfrm>
            <a:off x="3371850" y="3977640"/>
            <a:ext cx="777240" cy="777240"/>
          </a:xfrm>
          <a:prstGeom prst="ellipse">
            <a:avLst/>
          </a:prstGeom>
          <a:solidFill>
            <a:srgbClr val="10193A"/>
          </a:solidFill>
          <a:ln/>
        </p:spPr>
      </p:sp>
      <p:pic>
        <p:nvPicPr>
          <p:cNvPr id="38" name="Image 8" descr="icons/st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0664" y="4086454"/>
            <a:ext cx="559613" cy="55961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2960370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822960" y="6172200"/>
            <a:ext cx="146304" cy="146304"/>
          </a:xfrm>
          <a:prstGeom prst="ellipse">
            <a:avLst/>
          </a:prstGeom>
          <a:solidFill>
            <a:srgbClr val="6E9BFA"/>
          </a:solidFill>
          <a:ln/>
        </p:spPr>
      </p:sp>
      <p:sp>
        <p:nvSpPr>
          <p:cNvPr id="41" name="Text 30"/>
          <p:cNvSpPr/>
          <p:nvPr/>
        </p:nvSpPr>
        <p:spPr>
          <a:xfrm>
            <a:off x="1042416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2560320" y="6172200"/>
            <a:ext cx="146304" cy="146304"/>
          </a:xfrm>
          <a:prstGeom prst="ellipse">
            <a:avLst/>
          </a:prstGeom>
          <a:solidFill>
            <a:srgbClr val="3860F0"/>
          </a:solidFill>
          <a:ln/>
        </p:spPr>
      </p:sp>
      <p:sp>
        <p:nvSpPr>
          <p:cNvPr id="43" name="Text 32"/>
          <p:cNvSpPr/>
          <p:nvPr/>
        </p:nvSpPr>
        <p:spPr>
          <a:xfrm>
            <a:off x="2779776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4297680" y="6172200"/>
            <a:ext cx="146304" cy="146304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45" name="Text 34"/>
          <p:cNvSpPr/>
          <p:nvPr/>
        </p:nvSpPr>
        <p:spPr>
          <a:xfrm>
            <a:off x="4517136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6035040" y="6172200"/>
            <a:ext cx="146304" cy="146304"/>
          </a:xfrm>
          <a:prstGeom prst="ellipse">
            <a:avLst/>
          </a:prstGeom>
          <a:solidFill>
            <a:srgbClr val="10193A"/>
          </a:solidFill>
          <a:ln/>
        </p:spPr>
      </p:sp>
      <p:sp>
        <p:nvSpPr>
          <p:cNvPr id="47" name="Text 36"/>
          <p:cNvSpPr/>
          <p:nvPr/>
        </p:nvSpPr>
        <p:spPr>
          <a:xfrm>
            <a:off x="6254496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1050" dirty="0"/>
          </a:p>
        </p:txBody>
      </p:sp>
      <p:sp>
        <p:nvSpPr>
          <p:cNvPr id="48" name="Text 37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49" name="Text 38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Matching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automatically matches an employee's requirement to the best available vendor offers.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834640" cy="1554480"/>
          </a:xfrm>
          <a:prstGeom prst="roundRect">
            <a:avLst>
              <a:gd name="adj" fmla="val 9412"/>
            </a:avLst>
          </a:prstGeom>
          <a:solidFill>
            <a:srgbClr val="10193A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E9B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EMPLOYEE REQUIREMENT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"5 Business Laptops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GB RAM · 512 GB SSD"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21945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5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1828800" cy="1554480"/>
          </a:xfrm>
          <a:prstGeom prst="roundRect">
            <a:avLst>
              <a:gd name="adj" fmla="val 9412"/>
            </a:avLst>
          </a:prstGeom>
          <a:solidFill>
            <a:srgbClr val="7C5CFC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6916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21945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5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AVAILABLE VENDOR PRODUCTS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66560" y="214884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31152" y="22494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 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31152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 Latitude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31152" y="2724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6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₹58,000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1152" y="29626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Available  ·  4 Days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31152" y="32186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8" name="Text 16"/>
          <p:cNvSpPr/>
          <p:nvPr/>
        </p:nvSpPr>
        <p:spPr>
          <a:xfrm>
            <a:off x="6931152" y="32186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96% Match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89720" y="214884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54312" y="22494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 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Lenovo ThinkPad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54312" y="2724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6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₹55,000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54312" y="29626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Available  ·  5 Days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54312" y="32186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25" name="Text 23"/>
          <p:cNvSpPr/>
          <p:nvPr/>
        </p:nvSpPr>
        <p:spPr>
          <a:xfrm>
            <a:off x="9354312" y="32186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92% Match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3977640"/>
            <a:ext cx="1051560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4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COMPARE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0" y="4526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₹58,000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4526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₹55,000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6080" y="4800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Available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4800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Available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728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Time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26080" y="5074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Days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52160" y="5074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Days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97280" y="5349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 Score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0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96% Match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52160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92% Match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44000" y="457200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0" y="4572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Vendor 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Product Catalog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 list and manage the products available for procurement on VENDORFLOW.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4023360" cy="42062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9659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ECEFFB"/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23774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pic>
        <p:nvPicPr>
          <p:cNvPr id="7" name="Image 0" descr="icons/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538" y="2518258"/>
            <a:ext cx="724205" cy="7242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31720" y="2377440"/>
            <a:ext cx="1005840" cy="1005840"/>
          </a:xfrm>
          <a:prstGeom prst="ellipse">
            <a:avLst/>
          </a:prstGeom>
          <a:ln w="19050">
            <a:solidFill>
              <a:srgbClr val="386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 Latitude 5440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14" · Intel i5 · 16GB RAM · 512GB SSD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97280" y="4507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6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₹58,000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017520" y="454456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3" name="Text 10"/>
          <p:cNvSpPr/>
          <p:nvPr/>
        </p:nvSpPr>
        <p:spPr>
          <a:xfrm>
            <a:off x="3017520" y="4544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In Stock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97280" y="5001768"/>
            <a:ext cx="3474720" cy="0"/>
          </a:xfrm>
          <a:prstGeom prst="line">
            <a:avLst/>
          </a:prstGeom>
          <a:noFill/>
          <a:ln w="12700">
            <a:solidFill>
              <a:srgbClr val="E4E7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5148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Time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9728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Business Days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94960" y="1719072"/>
            <a:ext cx="201168" cy="12801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8" name="Text 15"/>
          <p:cNvSpPr/>
          <p:nvPr/>
        </p:nvSpPr>
        <p:spPr>
          <a:xfrm>
            <a:off x="5687568" y="16367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VENDORS CAN 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94960" y="2194560"/>
            <a:ext cx="59436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50992" y="2423160"/>
            <a:ext cx="594360" cy="594360"/>
          </a:xfrm>
          <a:prstGeom prst="ellipse">
            <a:avLst/>
          </a:prstGeom>
          <a:solidFill>
            <a:srgbClr val="3860F0"/>
          </a:solidFill>
          <a:ln/>
        </p:spPr>
      </p:sp>
      <p:pic>
        <p:nvPicPr>
          <p:cNvPr id="21" name="Image 1" descr="icons/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202" y="2506370"/>
            <a:ext cx="427939" cy="42793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00800" y="23408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Products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40080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new products with specifications, pricing, and stock.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394960" y="3456432"/>
            <a:ext cx="59436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650992" y="3685032"/>
            <a:ext cx="594360" cy="59436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26" name="Image 2" descr="icons/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4202" y="3768242"/>
            <a:ext cx="427939" cy="42793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0800" y="36027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Listings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400800" y="39593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price, availability, and delivery time up to date.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394960" y="4718304"/>
            <a:ext cx="59436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650992" y="4946904"/>
            <a:ext cx="594360" cy="594360"/>
          </a:xfrm>
          <a:prstGeom prst="ellipse">
            <a:avLst/>
          </a:prstGeom>
          <a:solidFill>
            <a:srgbClr val="10193A"/>
          </a:solidFill>
          <a:ln/>
        </p:spPr>
      </p:sp>
      <p:pic>
        <p:nvPicPr>
          <p:cNvPr id="31" name="Image 3" descr="icons/tas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4202" y="5030114"/>
            <a:ext cx="427939" cy="42793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00800" y="4864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Orders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6400800" y="5221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 or reject purchase orders and track fulfillment.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 &amp;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352044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737360"/>
            <a:ext cx="685800" cy="685800"/>
          </a:xfrm>
          <a:prstGeom prst="ellipse">
            <a:avLst/>
          </a:prstGeom>
          <a:solidFill>
            <a:srgbClr val="10193A"/>
          </a:solidFill>
          <a:ln/>
        </p:spPr>
      </p:sp>
      <p:pic>
        <p:nvPicPr>
          <p:cNvPr id="5" name="Image 0" descr="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183337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React.js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97280" y="2862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10193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Employee, procurement, vendor &amp; admin dashboards.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62856" y="1463040"/>
            <a:ext cx="352044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37176" y="1737360"/>
            <a:ext cx="685800" cy="685800"/>
          </a:xfrm>
          <a:prstGeom prst="ellipse">
            <a:avLst/>
          </a:prstGeom>
          <a:solidFill>
            <a:srgbClr val="3860F0"/>
          </a:solidFill>
          <a:ln/>
        </p:spPr>
      </p:sp>
      <p:pic>
        <p:nvPicPr>
          <p:cNvPr id="11" name="Image 1" descr="icons/n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18333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37176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+ Express.js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37176" y="2862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3860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37176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APIs, auth, matching logic, scoring.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302752" y="1463040"/>
            <a:ext cx="352044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0193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77072" y="1737360"/>
            <a:ext cx="685800" cy="685800"/>
          </a:xfrm>
          <a:prstGeom prst="ellipse">
            <a:avLst/>
          </a:prstGeom>
          <a:solidFill>
            <a:srgbClr val="7C5CFC"/>
          </a:solidFill>
          <a:ln/>
        </p:spPr>
      </p:sp>
      <p:pic>
        <p:nvPicPr>
          <p:cNvPr id="17" name="Image 2" descr="icons/mon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183337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77072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24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77072" y="2862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77072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Vendors, orders, products &amp; evaluations.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22960" y="3913632"/>
            <a:ext cx="201168" cy="12801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2" name="Text 17"/>
          <p:cNvSpPr/>
          <p:nvPr/>
        </p:nvSpPr>
        <p:spPr>
          <a:xfrm>
            <a:off x="1115568" y="3831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LAYERED ARCHITECTURE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2960" y="4114800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10193A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React.js Frontend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22960" y="4562856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ECEFFB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45628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 Layer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22960" y="5010912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3860F0"/>
          </a:solidFill>
          <a:ln/>
        </p:spPr>
      </p:sp>
      <p:sp>
        <p:nvSpPr>
          <p:cNvPr id="28" name="Text 23"/>
          <p:cNvSpPr/>
          <p:nvPr/>
        </p:nvSpPr>
        <p:spPr>
          <a:xfrm>
            <a:off x="822960" y="50109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+ Express.js Backend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22960" y="5458968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ECEFFB"/>
          </a:solidFill>
          <a:ln/>
        </p:spPr>
      </p:sp>
      <p:sp>
        <p:nvSpPr>
          <p:cNvPr id="30" name="Text 25"/>
          <p:cNvSpPr/>
          <p:nvPr/>
        </p:nvSpPr>
        <p:spPr>
          <a:xfrm>
            <a:off x="822960" y="54589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Mongoose ODM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22960" y="5907024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7C5CFC"/>
          </a:solidFill>
          <a:ln/>
        </p:spPr>
      </p:sp>
      <p:sp>
        <p:nvSpPr>
          <p:cNvPr id="32" name="Text 27"/>
          <p:cNvSpPr/>
          <p:nvPr/>
        </p:nvSpPr>
        <p:spPr>
          <a:xfrm>
            <a:off x="822960" y="59070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 Database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18235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823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Outcome &amp; 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81912"/>
            <a:ext cx="201168" cy="128016"/>
          </a:xfrm>
          <a:prstGeom prst="rect">
            <a:avLst/>
          </a:prstGeom>
          <a:solidFill>
            <a:srgbClr val="6E9BF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6E9B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0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is expected to provide a structured digital platform for managing vendor onboarding, procurement, and performance evaluation — enabling faster vendor verification, streamlined purchase order tracking, and objective performance assessment.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554480"/>
            <a:ext cx="0" cy="2560320"/>
          </a:xfrm>
          <a:prstGeom prst="line">
            <a:avLst/>
          </a:prstGeom>
          <a:noFill/>
          <a:ln w="12700">
            <a:solidFill>
              <a:srgbClr val="2D37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581912"/>
            <a:ext cx="201168" cy="12801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0" name="Text 8"/>
          <p:cNvSpPr/>
          <p:nvPr/>
        </p:nvSpPr>
        <p:spPr>
          <a:xfrm>
            <a:off x="6556248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7C5CF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92024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0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aims to transform vendor management into a centralized digital system, integrating onboarding, procurement, and performance evaluation within a single platform — improving procurement efficiency and vendor accountability.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10515600" cy="0"/>
          </a:xfrm>
          <a:prstGeom prst="line">
            <a:avLst/>
          </a:prstGeom>
          <a:noFill/>
          <a:ln w="12700">
            <a:solidFill>
              <a:srgbClr val="2D3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7C5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"From Purchase Request to Verified Delivery."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8590C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8311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590C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909</Words>
  <Application>Microsoft Office PowerPoint</Application>
  <PresentationFormat>Widescreen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Poppins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THANESH S</cp:lastModifiedBy>
  <cp:revision>2</cp:revision>
  <dcterms:created xsi:type="dcterms:W3CDTF">2026-09-13T19:18:36Z</dcterms:created>
  <dcterms:modified xsi:type="dcterms:W3CDTF">2026-09-13T19:37:43Z</dcterms:modified>
</cp:coreProperties>
</file>